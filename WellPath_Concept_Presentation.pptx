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9b72bbc2464ba8" /><Relationship Type="http://schemas.openxmlformats.org/officeDocument/2006/relationships/extended-properties" Target="/docProps/app.xml" Id="Rdf311a1d72814b4b" /><Relationship Type="http://schemas.openxmlformats.org/officeDocument/2006/relationships/officeDocument" Target="/ppt/presentation.xml" Id="Rf141dbd4d40f4bb9" /></Relationships>
</file>

<file path=ppt/presentation.xml><?xml version="1.0" encoding="utf-8"?>
<p:presentation xmlns:p="http://schemas.openxmlformats.org/presentationml/2006/main">
  <p:sldMasterIdLst>
    <p:sldMasterId xmlns:r="http://schemas.openxmlformats.org/officeDocument/2006/relationships" id="2147483648" r:id="R042bd553fe6042ac"/>
  </p:sldMasterIdLst>
  <p:notesMasterIdLst>
    <p:notesMasterId xmlns:r="http://schemas.openxmlformats.org/officeDocument/2006/relationships" r:id="R3fcfb19ab9c74f40"/>
  </p:notesMasterIdLst>
  <p:sldIdLst>
    <p:sldId xmlns:r="http://schemas.openxmlformats.org/officeDocument/2006/relationships" id="256" r:id="R11c9c871d3c0418b"/>
    <p:sldId xmlns:r="http://schemas.openxmlformats.org/officeDocument/2006/relationships" id="257" r:id="R4d4e29b3176f46e8"/>
    <p:sldId xmlns:r="http://schemas.openxmlformats.org/officeDocument/2006/relationships" id="258" r:id="R9fdbada05a25435b"/>
    <p:sldId xmlns:r="http://schemas.openxmlformats.org/officeDocument/2006/relationships" id="259" r:id="Rc5f72d8df4534bfe"/>
    <p:sldId xmlns:r="http://schemas.openxmlformats.org/officeDocument/2006/relationships" id="260" r:id="Rf09637d392e141a6"/>
    <p:sldId xmlns:r="http://schemas.openxmlformats.org/officeDocument/2006/relationships" id="261" r:id="R6354260c2e0f4107"/>
    <p:sldId xmlns:r="http://schemas.openxmlformats.org/officeDocument/2006/relationships" id="262" r:id="R3bb7a2398163425a"/>
    <p:sldId xmlns:r="http://schemas.openxmlformats.org/officeDocument/2006/relationships" id="263" r:id="R3b0b5e9593634922"/>
    <p:sldId xmlns:r="http://schemas.openxmlformats.org/officeDocument/2006/relationships" id="264" r:id="R5a2a7c324d614bf1"/>
    <p:sldId xmlns:r="http://schemas.openxmlformats.org/officeDocument/2006/relationships" id="265" r:id="Rfd07374620ce4a43"/>
    <p:sldId xmlns:r="http://schemas.openxmlformats.org/officeDocument/2006/relationships" id="266" r:id="R58d959d643134e7b"/>
    <p:sldId xmlns:r="http://schemas.openxmlformats.org/officeDocument/2006/relationships" id="267" r:id="R566efdeb98644245"/>
    <p:sldId xmlns:r="http://schemas.openxmlformats.org/officeDocument/2006/relationships" id="268" r:id="Re796b657d4fa4bc9"/>
    <p:sldId xmlns:r="http://schemas.openxmlformats.org/officeDocument/2006/relationships" id="269" r:id="Ra61a8e2a27a949ac"/>
    <p:sldId xmlns:r="http://schemas.openxmlformats.org/officeDocument/2006/relationships" id="270" r:id="Rfb827730df4444b3"/>
    <p:sldId xmlns:r="http://schemas.openxmlformats.org/officeDocument/2006/relationships" id="271" r:id="Raf1155adfb734597"/>
    <p:sldId xmlns:r="http://schemas.openxmlformats.org/officeDocument/2006/relationships" id="272" r:id="R313efb80aa3b42ed"/>
    <p:sldId xmlns:r="http://schemas.openxmlformats.org/officeDocument/2006/relationships" id="273" r:id="R9cddf6d45b5149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2a2a1b3c37f47eb" /><Relationship Type="http://schemas.openxmlformats.org/officeDocument/2006/relationships/slideMaster" Target="/ppt/slideMasters/slideMaster1.xml" Id="R042bd553fe6042ac" /><Relationship Type="http://schemas.openxmlformats.org/officeDocument/2006/relationships/notesMaster" Target="/ppt/notesMasters/notesMaster1.xml" Id="R3fcfb19ab9c74f40" /><Relationship Type="http://schemas.openxmlformats.org/officeDocument/2006/relationships/presProps" Target="/ppt/presProps.xml" Id="R2f2a1e686cfc49c8" /><Relationship Type="http://schemas.openxmlformats.org/officeDocument/2006/relationships/viewProps" Target="/ppt/viewProps.xml" Id="Re6e6b91584964d5d" /><Relationship Type="http://schemas.openxmlformats.org/officeDocument/2006/relationships/tableStyles" Target="/ppt/tableStyles.xml" Id="Rafa6d8e498d64cb5" /><Relationship Type="http://schemas.openxmlformats.org/officeDocument/2006/relationships/slide" Target="/ppt/slides/slide1.xml" Id="R11c9c871d3c0418b" /><Relationship Type="http://schemas.openxmlformats.org/officeDocument/2006/relationships/slide" Target="/ppt/slides/slide2.xml" Id="R4d4e29b3176f46e8" /><Relationship Type="http://schemas.openxmlformats.org/officeDocument/2006/relationships/slide" Target="/ppt/slides/slide3.xml" Id="R9fdbada05a25435b" /><Relationship Type="http://schemas.openxmlformats.org/officeDocument/2006/relationships/slide" Target="/ppt/slides/slide4.xml" Id="Rc5f72d8df4534bfe" /><Relationship Type="http://schemas.openxmlformats.org/officeDocument/2006/relationships/slide" Target="/ppt/slides/slide5.xml" Id="Rf09637d392e141a6" /><Relationship Type="http://schemas.openxmlformats.org/officeDocument/2006/relationships/slide" Target="/ppt/slides/slide6.xml" Id="R6354260c2e0f4107" /><Relationship Type="http://schemas.openxmlformats.org/officeDocument/2006/relationships/slide" Target="/ppt/slides/slide7.xml" Id="R3bb7a2398163425a" /><Relationship Type="http://schemas.openxmlformats.org/officeDocument/2006/relationships/slide" Target="/ppt/slides/slide8.xml" Id="R3b0b5e9593634922" /><Relationship Type="http://schemas.openxmlformats.org/officeDocument/2006/relationships/slide" Target="/ppt/slides/slide9.xml" Id="R5a2a7c324d614bf1" /><Relationship Type="http://schemas.openxmlformats.org/officeDocument/2006/relationships/slide" Target="/ppt/slides/slide10.xml" Id="Rfd07374620ce4a43" /><Relationship Type="http://schemas.openxmlformats.org/officeDocument/2006/relationships/slide" Target="/ppt/slides/slide11.xml" Id="R58d959d643134e7b" /><Relationship Type="http://schemas.openxmlformats.org/officeDocument/2006/relationships/slide" Target="/ppt/slides/slide12.xml" Id="R566efdeb98644245" /><Relationship Type="http://schemas.openxmlformats.org/officeDocument/2006/relationships/slide" Target="/ppt/slides/slide13.xml" Id="Re796b657d4fa4bc9" /><Relationship Type="http://schemas.openxmlformats.org/officeDocument/2006/relationships/slide" Target="/ppt/slides/slide14.xml" Id="Ra61a8e2a27a949ac" /><Relationship Type="http://schemas.openxmlformats.org/officeDocument/2006/relationships/slide" Target="/ppt/slides/slide15.xml" Id="Rfb827730df4444b3" /><Relationship Type="http://schemas.openxmlformats.org/officeDocument/2006/relationships/slide" Target="/ppt/slides/slide16.xml" Id="Raf1155adfb734597" /><Relationship Type="http://schemas.openxmlformats.org/officeDocument/2006/relationships/slide" Target="/ppt/slides/slide17.xml" Id="R313efb80aa3b42ed" /><Relationship Type="http://schemas.openxmlformats.org/officeDocument/2006/relationships/slide" Target="/ppt/slides/slide18.xml" Id="R9cddf6d45b5149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499ccc17a54a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bfb77fdf89401f" /><Relationship Type="http://schemas.openxmlformats.org/officeDocument/2006/relationships/notesMaster" Target="/ppt/notesMasters/notesMaster1.xml" Id="R8435b815764e42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451a0d5e9140d7" /><Relationship Type="http://schemas.openxmlformats.org/officeDocument/2006/relationships/notesMaster" Target="/ppt/notesMasters/notesMaster1.xml" Id="Rd72841c1b88548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8144a33e884aa0" /><Relationship Type="http://schemas.openxmlformats.org/officeDocument/2006/relationships/notesMaster" Target="/ppt/notesMasters/notesMaster1.xml" Id="R037748a2fad54c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d00c062a0c41cb" /><Relationship Type="http://schemas.openxmlformats.org/officeDocument/2006/relationships/notesMaster" Target="/ppt/notesMasters/notesMaster1.xml" Id="Rd2d2110c658b47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e61b3c8f8e43d6" /><Relationship Type="http://schemas.openxmlformats.org/officeDocument/2006/relationships/notesMaster" Target="/ppt/notesMasters/notesMaster1.xml" Id="R796be15d17bf42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63401147d84536" /><Relationship Type="http://schemas.openxmlformats.org/officeDocument/2006/relationships/notesMaster" Target="/ppt/notesMasters/notesMaster1.xml" Id="R3f856649149242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ee542599bb4442" /><Relationship Type="http://schemas.openxmlformats.org/officeDocument/2006/relationships/notesMaster" Target="/ppt/notesMasters/notesMaster1.xml" Id="R5a8a989968b742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65039396d84021" /><Relationship Type="http://schemas.openxmlformats.org/officeDocument/2006/relationships/notesMaster" Target="/ppt/notesMasters/notesMaster1.xml" Id="R1b1c730e84c540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aea274b49c44e3" /><Relationship Type="http://schemas.openxmlformats.org/officeDocument/2006/relationships/notesMaster" Target="/ppt/notesMasters/notesMaster1.xml" Id="Rf2c10f28c51a4b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e7bfd4e70b49b8" /><Relationship Type="http://schemas.openxmlformats.org/officeDocument/2006/relationships/notesMaster" Target="/ppt/notesMasters/notesMaster1.xml" Id="R46698b82015a4d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c3058303384029" /><Relationship Type="http://schemas.openxmlformats.org/officeDocument/2006/relationships/notesMaster" Target="/ppt/notesMasters/notesMaster1.xml" Id="R851718cd954a4b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5ac81537634bff" /><Relationship Type="http://schemas.openxmlformats.org/officeDocument/2006/relationships/notesMaster" Target="/ppt/notesMasters/notesMaster1.xml" Id="R0b804914d6a34c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4222b9ecc64c69" /><Relationship Type="http://schemas.openxmlformats.org/officeDocument/2006/relationships/notesMaster" Target="/ppt/notesMasters/notesMaster1.xml" Id="R74bd5264701b4b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0c2ccaac894fc0" /><Relationship Type="http://schemas.openxmlformats.org/officeDocument/2006/relationships/notesMaster" Target="/ppt/notesMasters/notesMaster1.xml" Id="R9e6b4699e98249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4bfb544f474d98" /><Relationship Type="http://schemas.openxmlformats.org/officeDocument/2006/relationships/notesMaster" Target="/ppt/notesMasters/notesMaster1.xml" Id="Re29530350d544df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69940bf7534340" /><Relationship Type="http://schemas.openxmlformats.org/officeDocument/2006/relationships/notesMaster" Target="/ppt/notesMasters/notesMaster1.xml" Id="Ree4cf1cb50b142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635a70b93b488d" /><Relationship Type="http://schemas.openxmlformats.org/officeDocument/2006/relationships/notesMaster" Target="/ppt/notesMasters/notesMaster1.xml" Id="Rd026b24db97244e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da2ea917b3b468f" /><Relationship Type="http://schemas.openxmlformats.org/officeDocument/2006/relationships/notesMaster" Target="/ppt/notesMasters/notesMaster1.xml" Id="Refe55d0128d34e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WellPath as an academic exploration, not a finished medical product. The central question is how a future health application might connect different forms of health information while keeping explanations understandable.</a:t>
            </a:r>
          </a:p>
          <a:p xmlns:a="http://schemas.openxmlformats.org/drawingml/2006/main"/>
          <a:p xmlns:a="http://schemas.openxmlformats.org/drawingml/2006/main">
            <a:r>
              <a:t>[Sources]</a:t>
            </a:r>
          </a:p>
          <a:p xmlns:a="http://schemas.openxmlformats.org/drawingml/2006/main">
            <a:r>
              <a:t>- C:\Users\Mahir\Desktop\WellPath\poster_assets\patient-dashboard.png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interpretation rather than a lack of data. People may see activity, sleep, symptoms, cycle history, and clinical measures in separate places. The prototype asks how a single experience could help users explore connections without claiming to diagnose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purpose is to explore several concepts in one interface: daily tracking, experimental health models, cycle estimation, and AI explanations. Emphasize that the application screens use fictional sample profiles and are not evidence of clinical performance.</a:t>
            </a:r>
          </a:p>
          <a:p xmlns:a="http://schemas.openxmlformats.org/drawingml/2006/main"/>
          <a:p xmlns:a="http://schemas.openxmlformats.org/drawingml/2006/main">
            <a:r>
              <a:t>[Sources]</a:t>
            </a:r>
          </a:p>
          <a:p xmlns:a="http://schemas.openxmlformats.org/drawingml/2006/main">
            <a:r>
              <a:t>- C:\Users\Mahir\Desktop\WellPath\poster_assets\clinical-view.png</a:t>
            </a:r>
          </a:p>
          <a:p xmlns:a="http://schemas.openxmlformats.org/drawingml/2006/main">
            <a:r>
              <a:t>- C:\Users\Mahir\Desktop\WellPath\wellpath-condition-models\README.md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position this as a competitive product comparison. The slide recognizes common categories in health apps and uses them to define the design exploration. WellPath asks what happens when those categories share context and explanations.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brief map of the prototype before moving into the experiments. The dashboard explores daily context, the period tracker explores estimation and confidence, the insight page explores model transparency, and Groq AI explores short explanations.</a:t>
            </a:r>
          </a:p>
          <a:p xmlns:a="http://schemas.openxmlformats.org/drawingml/2006/main"/>
          <a:p xmlns:a="http://schemas.openxmlformats.org/drawingml/2006/main">
            <a:r>
              <a:t>[Sources]</a:t>
            </a:r>
          </a:p>
          <a:p xmlns:a="http://schemas.openxmlformats.org/drawingml/2006/main">
            <a:r>
              <a:t>- C:\Users\Mahir\Desktop\WellPath\poster_assets\patient-dashboard.png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stages clearly. Deidentified NHANES data and other CDC public health sources supported model development and testing. The standalone model project used participant level splits and held out evaluation. Once the team saw that the models could produce meaningful experimental results, fictional sample profiles were used to demonstrate how compatible fields and outputs might appear inside WellPath. The research project does not connect to the application or its database.</a:t>
            </a:r>
          </a:p>
          <a:p xmlns:a="http://schemas.openxmlformats.org/drawingml/2006/main"/>
          <a:p xmlns:a="http://schemas.openxmlformats.org/drawingml/2006/main">
            <a:r>
              <a:t>[Sources]</a:t>
            </a:r>
          </a:p>
          <a:p xmlns:a="http://schemas.openxmlformats.org/drawingml/2006/main">
            <a:r>
              <a:t>- https://www.cdc.gov/nchs/nhanes/</a:t>
            </a:r>
          </a:p>
          <a:p xmlns:a="http://schemas.openxmlformats.org/drawingml/2006/main">
            <a:r>
              <a:t>- https://wwwn.cdc.gov/nchs/nhanes/continuousnhanes/</a:t>
            </a:r>
          </a:p>
          <a:p xmlns:a="http://schemas.openxmlformats.org/drawingml/2006/main">
            <a:r>
              <a:t>- C:\Users\Mahir\Desktop\WellPath\wellpath-condition-models\README.md</a:t>
            </a:r>
          </a:p>
          <a:p xmlns:a="http://schemas.openxmlformats.org/drawingml/2006/main">
            <a:r>
              <a:t>- C:\Users\Mahir\Desktop\WellPath\wellpath-condition-models\data\README.md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simple period tracker may estimate the next start by adding a fixed 28 days. WellPath instead uses the person's recent logged cycle lengths and gives more importance to the newest history. The result includes an expected date and a range so the audience can see that the estimate is not exact. The detailed weighting and uncertainty calculations remain part of the implementation, but the presentation focuses on the user benefit: a more personal and transparent estimate.</a:t>
            </a:r>
          </a:p>
          <a:p xmlns:a="http://schemas.openxmlformats.org/drawingml/2006/main"/>
          <a:p xmlns:a="http://schemas.openxmlformats.org/drawingml/2006/main">
            <a:r>
              <a:t>[Sources]</a:t>
            </a:r>
          </a:p>
          <a:p xmlns:a="http://schemas.openxmlformats.org/drawingml/2006/main">
            <a:r>
              <a:t>- C:\Users\Mahir\Desktop\WellPath\wellpath-health-integrated\wellpath-integrated\src\components\patient\CyclePage.jsx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uses fictional measurements to make the prototype feel complete. The interface compares those values with configured goals, ranges, and recent trends, then displays score cards and guidance. These sample results demonstrate interaction and communication design, not real health conclusions.</a:t>
            </a:r>
          </a:p>
          <a:p xmlns:a="http://schemas.openxmlformats.org/drawingml/2006/main"/>
          <a:p xmlns:a="http://schemas.openxmlformats.org/drawingml/2006/main">
            <a:r>
              <a:t>[Sources]</a:t>
            </a:r>
          </a:p>
          <a:p xmlns:a="http://schemas.openxmlformats.org/drawingml/2006/main">
            <a:r>
              <a:t>- C:\Users\Mahir\Desktop\WellPath\poster_assets\kpi-insights.png</a:t>
            </a:r>
          </a:p>
          <a:p xmlns:a="http://schemas.openxmlformats.org/drawingml/2006/main">
            <a:r>
              <a:t>- C:\Users\Mahir\Desktop\WellPath\wellpath-condition-models\README.md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standalone research project compares multiple model types with participant level data splits. The methodology includes training, validation, and held out testing for the multi condition panel, with preprocessing contained inside the model pipeline. ROC curves summarize how well models separate predefined categories in the research dataset. Good separation in one dataset does not prove diagnosis, clinical safety, transportability, fairness, or benefit.</a:t>
            </a:r>
          </a:p>
          <a:p xmlns:a="http://schemas.openxmlformats.org/drawingml/2006/main"/>
          <a:p xmlns:a="http://schemas.openxmlformats.org/drawingml/2006/main">
            <a:r>
              <a:t>[Sources]</a:t>
            </a:r>
          </a:p>
          <a:p xmlns:a="http://schemas.openxmlformats.org/drawingml/2006/main">
            <a:r>
              <a:t>- C:\Users\Mahir\Desktop\WellPath\wellpath-condition-models\outputs\charts\roc_curves.png</a:t>
            </a:r>
          </a:p>
          <a:p xmlns:a="http://schemas.openxmlformats.org/drawingml/2006/main">
            <a:r>
              <a:t>- C:\Users\Mahir\Desktop\WellPath\wellpath-condition-models\README.md</a:t>
            </a:r>
          </a:p>
          <a:p xmlns:a="http://schemas.openxmlformats.org/drawingml/2006/main">
            <a:r>
              <a:t>- https://www.cdc.gov/nchs/nhanes/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experiments with two kinds of transparency. One view communicates model separation, while the other shows variables associated with the output. The factors should be described as model factors, contributing variables, or associations. They should not automatically be called independent risk factors or causes.</a:t>
            </a:r>
          </a:p>
          <a:p xmlns:a="http://schemas.openxmlformats.org/drawingml/2006/main"/>
          <a:p xmlns:a="http://schemas.openxmlformats.org/drawingml/2006/main">
            <a:r>
              <a:t>[Sources]</a:t>
            </a:r>
          </a:p>
          <a:p xmlns:a="http://schemas.openxmlformats.org/drawingml/2006/main">
            <a:r>
              <a:t>- C:\Users\Mahir\Desktop\WellPath\poster_assets\model-card-separation.png</a:t>
            </a:r>
          </a:p>
          <a:p xmlns:a="http://schemas.openxmlformats.org/drawingml/2006/main">
            <a:r>
              <a:t>- C:\Users\Mahir\Desktop\WellPath\poster_assets\model-risk-drivers.png</a:t>
            </a:r>
          </a:p>
          <a:p xmlns:a="http://schemas.openxmlformats.org/drawingml/2006/main">
            <a:r>
              <a:t>- C:\Users\Mahir\Desktop\WellPath\wellpath-condition-models\README.md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basic score can be difficult to interpret when the user cannot see why it changed. WellPath combines several available health and habit factors, then shows which ones had the strongest influence on the relative result. This makes the score easier to explore and compare while keeping the boundary clear: it is an experimental research comparison, not a diagnosis.</a:t>
            </a:r>
          </a:p>
          <a:p xmlns:a="http://schemas.openxmlformats.org/drawingml/2006/main"/>
          <a:p xmlns:a="http://schemas.openxmlformats.org/drawingml/2006/main">
            <a:r>
              <a:t>[Sources]</a:t>
            </a:r>
          </a:p>
          <a:p xmlns:a="http://schemas.openxmlformats.org/drawingml/2006/main">
            <a:r>
              <a:t>- C:\Users\Mahir\Desktop\WellPath\wellpath-health-integrated\wellpath-integrated\src\components\risksignal\riskModel.js</a:t>
            </a:r>
          </a:p>
          <a:p xmlns:a="http://schemas.openxmlformats.org/drawingml/2006/main">
            <a:r>
              <a:t>- C:\Users\Mahir\Desktop\WellPath\wellpath-health-integrated\wellpath-integrated\src\components\risksignal\RiskSignal.jsx</a:t>
            </a:r>
          </a:p>
          <a:p xmlns:a="http://schemas.openxmlformats.org/drawingml/2006/main">
            <a:r>
              <a:t>- C:\Users\Mahir\Desktop\WellPath\wellpath-health-integrated\wellpath-integrated\src\components\risksignal\multiModel.json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Groq AI receives calculated scores and relevant sample context, then generates a short explanation. The statistical result is produced before the AI step. The AI layer is being explored as a communication tool, and its explanations may simplify, omit, or misinterpret technical information.</a:t>
            </a:r>
          </a:p>
          <a:p xmlns:a="http://schemas.openxmlformats.org/drawingml/2006/main"/>
          <a:p xmlns:a="http://schemas.openxmlformats.org/drawingml/2006/main">
            <a:r>
              <a:t>[Sources]</a:t>
            </a:r>
          </a:p>
          <a:p xmlns:a="http://schemas.openxmlformats.org/drawingml/2006/main">
            <a:r>
              <a:t>- C:\Users\Mahir\Desktop\WellPath\poster_assets\kpi-ai-insight.png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lets users select a suggested insight topic or ask a custom question. Logged sleep, activity, mood, and recent patterns provide context, so the explanation can change as the user's habits change. This remains an exploratory explanation feature and does not replace the underlying calculations or provide a diagnosis.</a:t>
            </a:r>
          </a:p>
          <a:p xmlns:a="http://schemas.openxmlformats.org/drawingml/2006/main"/>
          <a:p xmlns:a="http://schemas.openxmlformats.org/drawingml/2006/main">
            <a:r>
              <a:t>[Sources]</a:t>
            </a:r>
          </a:p>
          <a:p xmlns:a="http://schemas.openxmlformats.org/drawingml/2006/main">
            <a:r>
              <a:t>- C:\Users\Mahir\AppData\Local\Temp\codex-clipboard-8ed7e78c-91ee-4446-95ec-e8fc638e18d5.png</a:t>
            </a:r>
          </a:p>
          <a:p xmlns:a="http://schemas.openxmlformats.org/drawingml/2006/main">
            <a:r>
              <a:t>- User supplied concept description in the presentation revision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boundaries directly. Sample profiles are fictional. The models are exploratory research models and are not clinically validated. Associations do not establish causes, and classification does not establish a diagnosis. A real product would require external and prospective validation, clinical utility studies, privacy and security safeguards, subgroup fairness evaluation, deployment monitoring, and relevant regulatory review.</a:t>
            </a:r>
          </a:p>
          <a:p xmlns:a="http://schemas.openxmlformats.org/drawingml/2006/main"/>
          <a:p xmlns:a="http://schemas.openxmlformats.org/drawingml/2006/main">
            <a:r>
              <a:t>[Sources]</a:t>
            </a:r>
          </a:p>
          <a:p xmlns:a="http://schemas.openxmlformats.org/drawingml/2006/main">
            <a:r>
              <a:t>- C:\Users\Mahir\Desktop\WellPath\wellpath-condition-models\README.md</a:t>
            </a:r>
          </a:p>
          <a:p xmlns:a="http://schemas.openxmlformats.org/drawingml/2006/main">
            <a:r>
              <a:t>- C:\Users\Mahir\Desktop\WellPath\wellpath-data-research\README.md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is a fictional sample profile. The seeded profile lists age 24, height 70 inches, and weight 164 pounds. His current health baseline averages 4.8 hours of sleep, which supports the demo focus on sleep and recovery.</a:t>
            </a:r>
          </a:p>
          <a:p xmlns:a="http://schemas.openxmlformats.org/drawingml/2006/main">
            <a:r>
              <a:t/>
            </a:r>
          </a:p>
          <a:p xmlns:a="http://schemas.openxmlformats.org/drawingml/2006/main">
            <a:r>
              <a:t>[Sources]</a:t>
            </a:r>
          </a:p>
          <a:p xmlns:a="http://schemas.openxmlformats.org/drawingml/2006/main">
            <a:r>
              <a:t>- C:\Users\Mahir\Desktop\WellPath\wellpath-health-integrated\wellpath-integrated\backend\src\seed\data\users.js</a:t>
            </a:r>
          </a:p>
          <a:p xmlns:a="http://schemas.openxmlformats.org/drawingml/2006/main">
            <a:r>
              <a:t>- C:\Users\Mahir\Desktop\WellPath\wellpath-health-integrated\wellpath-integrated\backend\src\seed\data\healthData.js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Maria is a fictional sample profile. The seeded profile lists age 27, height 64 inches, and weight 184 pounds. Her current health baseline averages about 3,800 steps per day, which supports the demo focus on gradual movement and habit improvement.</a:t>
            </a:r>
          </a:p>
          <a:p xmlns:a="http://schemas.openxmlformats.org/drawingml/2006/main">
            <a:r>
              <a:t/>
            </a:r>
          </a:p>
          <a:p xmlns:a="http://schemas.openxmlformats.org/drawingml/2006/main">
            <a:r>
              <a:t>[Sources]</a:t>
            </a:r>
          </a:p>
          <a:p xmlns:a="http://schemas.openxmlformats.org/drawingml/2006/main">
            <a:r>
              <a:t>- C:\Users\Mahir\Desktop\WellPath\wellpath-health-integrated\wellpath-integrated\backend\src\seed\data\users.js</a:t>
            </a:r>
          </a:p>
          <a:p xmlns:a="http://schemas.openxmlformats.org/drawingml/2006/main">
            <a:r>
              <a:t>- C:\Users\Mahir\Desktop\WellPath\wellpath-health-integrated\wellpath-integrated\backend\src\seed\data\healthData.js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begin the live demonstration. Start with Alex to show the dashboard and daily guidance. Then switch to Maria to show cycle estimation, model statistics, associated factors, and the short AI insight. Remind the audience that both profiles are fictional and the experience is conceptual.</a:t>
            </a:r>
          </a:p>
          <a:p xmlns:a="http://schemas.openxmlformats.org/drawingml/2006/main"/>
          <a:p xmlns:a="http://schemas.openxmlformats.org/drawingml/2006/main">
            <a:r>
              <a:t>[Sources]</a:t>
            </a:r>
          </a:p>
          <a:p xmlns:a="http://schemas.openxmlformats.org/drawingml/2006/main">
            <a:r>
              <a:t>- C:\Users\Mahir\Desktop\WellPath\poster_assets\insights-overview.png</a:t>
            </a:r>
          </a:p>
          <a:p xmlns:a="http://schemas.openxmlformats.org/drawingml/2006/main">
            <a:r>
              <a:t>- C:\Users\Mahir\Desktop\WellPath\wellpath-health-integrated\wellpath-integrated\backend\src\seed\data\users.js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central question. WellPath is valuable as a concept because it keeps three ideas connected but distinct: public health data for model experimentation, fictional profiles for interface demonstration, and AI for explanation. Invite questions about the design choices, model experiment, or limitations.</a:t>
            </a:r>
          </a:p>
          <a:p xmlns:a="http://schemas.openxmlformats.org/drawingml/2006/main"/>
          <a:p xmlns:a="http://schemas.openxmlformats.org/drawingml/2006/main">
            <a:r>
              <a:t>[Sources]</a:t>
            </a:r>
          </a:p>
          <a:p xmlns:a="http://schemas.openxmlformats.org/drawingml/2006/main">
            <a:r>
              <a:t>- C:\Users\Mahir\Desktop\WellPath\wellpath-condition-models\README.md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eceea095cf4a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e20cc7611840dc" /><Relationship Type="http://schemas.openxmlformats.org/officeDocument/2006/relationships/slideLayout" Target="/ppt/slideLayouts/slideLayout1.xml" Id="R9c7ecf8eedae47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7ecf8eedae47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a209d055bf477f" /><Relationship Type="http://schemas.openxmlformats.org/officeDocument/2006/relationships/image" Target="/ppt/media/image.jpeg" Id="Rd82158c97fdd474a" /><Relationship Type="http://schemas.openxmlformats.org/officeDocument/2006/relationships/notesSlide" Target="/ppt/notesSlides/notesSlide1.xml" Id="Rd972f04330d64e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4e87c0280e4b42" /><Relationship Type="http://schemas.openxmlformats.org/officeDocument/2006/relationships/notesSlide" Target="/ppt/notesSlides/notesSlide2.xml" Id="Rc522d13358964a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80ec51d5b84426" /><Relationship Type="http://schemas.openxmlformats.org/officeDocument/2006/relationships/image" Target="/ppt/media/image2.jpeg" Id="R0f5de1746b1e486b" /><Relationship Type="http://schemas.openxmlformats.org/officeDocument/2006/relationships/notesSlide" Target="/ppt/notesSlides/notesSlide3.xml" Id="R1af3e4da3b2c45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71d4c6cd6a4e87" /><Relationship Type="http://schemas.openxmlformats.org/officeDocument/2006/relationships/notesSlide" Target="/ppt/notesSlides/notesSlide4.xml" Id="R88a82cac36a44b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5ce698c67e4b99" /><Relationship Type="http://schemas.openxmlformats.org/officeDocument/2006/relationships/image" Target="/ppt/media/image.jpeg" Id="Rb64ab52dcf784f1b" /><Relationship Type="http://schemas.openxmlformats.org/officeDocument/2006/relationships/notesSlide" Target="/ppt/notesSlides/notesSlide5.xml" Id="R224ad18e358141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47d27f785a4177" /><Relationship Type="http://schemas.openxmlformats.org/officeDocument/2006/relationships/notesSlide" Target="/ppt/notesSlides/notesSlide6.xml" Id="R7796658efb794d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fec45799a7412c" /><Relationship Type="http://schemas.openxmlformats.org/officeDocument/2006/relationships/image" Target="/ppt/media/image3.jpeg" Id="Rb4f1ebc81d9144e0" /><Relationship Type="http://schemas.openxmlformats.org/officeDocument/2006/relationships/notesSlide" Target="/ppt/notesSlides/notesSlide7.xml" Id="R77559dfce0854b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9a9e215bdf44ee" /><Relationship Type="http://schemas.openxmlformats.org/officeDocument/2006/relationships/image" Target="/ppt/media/image4.jpeg" Id="R34c9f674d36540f9" /><Relationship Type="http://schemas.openxmlformats.org/officeDocument/2006/relationships/notesSlide" Target="/ppt/notesSlides/notesSlide8.xml" Id="R43411fd8a23546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2eae70098b4827" /><Relationship Type="http://schemas.openxmlformats.org/officeDocument/2006/relationships/image" Target="/ppt/media/image.png" Id="R472ff421dab94376" /><Relationship Type="http://schemas.openxmlformats.org/officeDocument/2006/relationships/notesSlide" Target="/ppt/notesSlides/notesSlide9.xml" Id="R5ffd0f4749ad40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53602418564f0c" /><Relationship Type="http://schemas.openxmlformats.org/officeDocument/2006/relationships/image" Target="/ppt/media/image2.png" Id="R4b4627e2e8f547c2" /><Relationship Type="http://schemas.openxmlformats.org/officeDocument/2006/relationships/image" Target="/ppt/media/image3.png" Id="R690e632eca404265" /><Relationship Type="http://schemas.openxmlformats.org/officeDocument/2006/relationships/notesSlide" Target="/ppt/notesSlides/notesSlide10.xml" Id="Re6012e5a33694a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f32c790bd54897" /><Relationship Type="http://schemas.openxmlformats.org/officeDocument/2006/relationships/notesSlide" Target="/ppt/notesSlides/notesSlide11.xml" Id="R49ad9612771841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419bfd0c8d46ac" /><Relationship Type="http://schemas.openxmlformats.org/officeDocument/2006/relationships/image" Target="/ppt/media/image4.png" Id="R7d81fb3499d7468f" /><Relationship Type="http://schemas.openxmlformats.org/officeDocument/2006/relationships/notesSlide" Target="/ppt/notesSlides/notesSlide12.xml" Id="R66347b38224c4e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46bc0c02ff437e" /><Relationship Type="http://schemas.openxmlformats.org/officeDocument/2006/relationships/image" Target="/ppt/media/image5.png" Id="R7e9bc22f849144c9" /><Relationship Type="http://schemas.openxmlformats.org/officeDocument/2006/relationships/notesSlide" Target="/ppt/notesSlides/notesSlide13.xml" Id="R742ba271e12b40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8940a801d4c411b" /><Relationship Type="http://schemas.openxmlformats.org/officeDocument/2006/relationships/notesSlide" Target="/ppt/notesSlides/notesSlide14.xml" Id="R62a49041a1c544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0ca5f2ae1094139" /><Relationship Type="http://schemas.openxmlformats.org/officeDocument/2006/relationships/notesSlide" Target="/ppt/notesSlides/notesSlide15.xml" Id="R5617be1240424e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1080dcb8d9c4869" /><Relationship Type="http://schemas.openxmlformats.org/officeDocument/2006/relationships/notesSlide" Target="/ppt/notesSlides/notesSlide16.xml" Id="Rcc5287f38b0d4a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a5f0a451ded43e9" /><Relationship Type="http://schemas.openxmlformats.org/officeDocument/2006/relationships/image" Target="/ppt/media/image5.jpeg" Id="R6230873e0a9a4133" /><Relationship Type="http://schemas.openxmlformats.org/officeDocument/2006/relationships/notesSlide" Target="/ppt/notesSlides/notesSlide17.xml" Id="R5048de26b5b54e9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26231ea3754489c" /><Relationship Type="http://schemas.openxmlformats.org/officeDocument/2006/relationships/notesSlide" Target="/ppt/notesSlides/notesSlide18.xml" Id="Ra42921b4cfeb4325" /></Relationships>
</file>

<file path=ppt/slides/slide1.xml><?xml version="1.0" encoding="utf-8"?>
<p:sld xmlns:p="http://schemas.openxmlformats.org/presentationml/2006/main">
  <p:cSld>
    <p:bg>
      <p:bgPr>
        <a:solidFill xmlns:a="http://schemas.openxmlformats.org/drawingml/2006/main">
          <a:srgbClr val="10283D"/>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A4CF4E0-A290-4B69-A411-45B92BCAB25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57D7D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Rectangle 1">
            <a:extLst xmlns:a="http://schemas.openxmlformats.org/drawingml/2006/main">
              <a:ext uri="{FF2B5EF4-FFF2-40B4-BE49-F238E27FC236}">
                <a16:creationId xmlns:a16="http://schemas.microsoft.com/office/drawing/2014/main" id="{F4E11272-23AA-4C93-B470-81F87166110B}"/>
              </a:ext>
            </a:extLst>
          </p:cNvPr>
          <p:cNvSpPr>
            <a:spLocks xmlns:a="http://schemas.openxmlformats.org/drawingml/2006/main" noGrp="1"/>
          </p:cNvSpPr>
          <p:nvPr/>
        </p:nvSpPr>
        <p:spPr>
          <a:xfrm xmlns:a="http://schemas.openxmlformats.org/drawingml/2006/main">
            <a:off x="685800" y="628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200" b="1">
                <a:solidFill>
                  <a:srgbClr val="57D7D2"/>
                </a:solidFill>
                <a:latin typeface="Aptos"/>
                <a:ea typeface="Aptos"/>
                <a:cs typeface="Aptos"/>
              </a:defRPr>
            </a:pPr>
            <a:r>
              <a:rPr sz="1200" b="1">
                <a:solidFill>
                  <a:srgbClr val="57D7D2"/>
                </a:solidFill>
                <a:latin typeface="Aptos"/>
                <a:ea typeface="Aptos"/>
                <a:cs typeface="Aptos"/>
              </a:rPr>
              <a:t>WELLPATH</a:t>
            </a:r>
          </a:p>
        </p:txBody>
      </p:sp>
      <p:sp>
        <p:nvSpPr>
          <p:cNvPr id="3" name="Rectangle 2">
            <a:extLst xmlns:a="http://schemas.openxmlformats.org/drawingml/2006/main">
              <a:ext uri="{FF2B5EF4-FFF2-40B4-BE49-F238E27FC236}">
                <a16:creationId xmlns:a16="http://schemas.microsoft.com/office/drawing/2014/main" id="{2E8512F4-7CBB-4C58-8FF4-2B62014E3D6B}"/>
              </a:ext>
            </a:extLst>
          </p:cNvPr>
          <p:cNvSpPr>
            <a:spLocks xmlns:a="http://schemas.openxmlformats.org/drawingml/2006/main" noGrp="1"/>
          </p:cNvSpPr>
          <p:nvPr/>
        </p:nvSpPr>
        <p:spPr>
          <a:xfrm xmlns:a="http://schemas.openxmlformats.org/drawingml/2006/main">
            <a:off x="685800" y="1238250"/>
            <a:ext cx="53340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95000"/>
              </a:lnSpc>
              <a:buNone/>
              <a:defRPr sz="4050" b="1">
                <a:solidFill>
                  <a:srgbClr val="FFFFFF"/>
                </a:solidFill>
                <a:latin typeface="Aptos"/>
                <a:ea typeface="Aptos"/>
                <a:cs typeface="Aptos"/>
              </a:defRPr>
            </a:pPr>
            <a:r>
              <a:rPr sz="4050" b="1">
                <a:solidFill>
                  <a:srgbClr val="FFFFFF"/>
                </a:solidFill>
                <a:latin typeface="Aptos"/>
                <a:ea typeface="Aptos"/>
                <a:cs typeface="Aptos"/>
              </a:rPr>
              <a:t>Exploring what connected health data could become</a:t>
            </a:r>
          </a:p>
        </p:txBody>
      </p:sp>
      <p:sp>
        <p:nvSpPr>
          <p:cNvPr id="4" name="Rectangle 3">
            <a:extLst xmlns:a="http://schemas.openxmlformats.org/drawingml/2006/main">
              <a:ext uri="{FF2B5EF4-FFF2-40B4-BE49-F238E27FC236}">
                <a16:creationId xmlns:a16="http://schemas.microsoft.com/office/drawing/2014/main" id="{CC301AE8-494E-4E43-87EF-F00E4B63C15A}"/>
              </a:ext>
            </a:extLst>
          </p:cNvPr>
          <p:cNvSpPr>
            <a:spLocks xmlns:a="http://schemas.openxmlformats.org/drawingml/2006/main" noGrp="1"/>
          </p:cNvSpPr>
          <p:nvPr/>
        </p:nvSpPr>
        <p:spPr>
          <a:xfrm xmlns:a="http://schemas.openxmlformats.org/drawingml/2006/main">
            <a:off x="685800" y="3600450"/>
            <a:ext cx="504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800" b="0">
                <a:solidFill>
                  <a:srgbClr val="D4E4EC"/>
                </a:solidFill>
                <a:latin typeface="Aptos"/>
                <a:ea typeface="Aptos"/>
                <a:cs typeface="Aptos"/>
              </a:defRPr>
            </a:pPr>
            <a:r>
              <a:rPr sz="1800" b="0">
                <a:solidFill>
                  <a:srgbClr val="D4E4EC"/>
                </a:solidFill>
                <a:latin typeface="Aptos"/>
                <a:ea typeface="Aptos"/>
                <a:cs typeface="Aptos"/>
              </a:rPr>
              <a:t>A concept prototype combining health tracking, model experiments, cycle estimation, and AI explanations.</a:t>
            </a:r>
          </a:p>
        </p:txBody>
      </p:sp>
      <p:sp>
        <p:nvSpPr>
          <p:cNvPr id="5" name="Rectangle 4">
            <a:extLst xmlns:a="http://schemas.openxmlformats.org/drawingml/2006/main">
              <a:ext uri="{FF2B5EF4-FFF2-40B4-BE49-F238E27FC236}">
                <a16:creationId xmlns:a16="http://schemas.microsoft.com/office/drawing/2014/main" id="{A1C48BF4-0784-4E7B-A6E3-B97FEBA7744D}"/>
              </a:ext>
            </a:extLst>
          </p:cNvPr>
          <p:cNvSpPr>
            <a:spLocks xmlns:a="http://schemas.openxmlformats.org/drawingml/2006/main" noGrp="1"/>
          </p:cNvSpPr>
          <p:nvPr/>
        </p:nvSpPr>
        <p:spPr>
          <a:xfrm xmlns:a="http://schemas.openxmlformats.org/drawingml/2006/main">
            <a:off x="685800" y="56197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57D7D2"/>
                </a:solidFill>
                <a:latin typeface="Aptos"/>
                <a:ea typeface="Aptos"/>
                <a:cs typeface="Aptos"/>
              </a:defRPr>
            </a:pPr>
            <a:r>
              <a:rPr sz="1125" b="1">
                <a:solidFill>
                  <a:srgbClr val="57D7D2"/>
                </a:solidFill>
                <a:latin typeface="Aptos"/>
                <a:ea typeface="Aptos"/>
                <a:cs typeface="Aptos"/>
              </a:rPr>
              <a:t>CONCEPT PRESENTATION</a:t>
            </a:r>
          </a:p>
        </p:txBody>
      </p:sp>
      <p:sp>
        <p:nvSpPr>
          <p:cNvPr id="6" name="Rectangle: Rounded Corners 5">
            <a:extLst xmlns:a="http://schemas.openxmlformats.org/drawingml/2006/main">
              <a:ext uri="{FF2B5EF4-FFF2-40B4-BE49-F238E27FC236}">
                <a16:creationId xmlns:a16="http://schemas.microsoft.com/office/drawing/2014/main" id="{908D0541-559B-43FE-87BE-926E00494F38}"/>
              </a:ext>
            </a:extLst>
          </p:cNvPr>
          <p:cNvSpPr>
            <a:spLocks xmlns:a="http://schemas.openxmlformats.org/drawingml/2006/main" noGrp="1"/>
          </p:cNvSpPr>
          <p:nvPr/>
        </p:nvSpPr>
        <p:spPr>
          <a:xfrm xmlns:a="http://schemas.openxmlformats.org/drawingml/2006/main">
            <a:off x="6858000" y="514350"/>
            <a:ext cx="4572000" cy="5619750"/>
          </a:xfrm>
          <a:prstGeom xmlns:a="http://schemas.openxmlformats.org/drawingml/2006/main" prst="roundRect">
            <a:avLst>
              <a:gd name="adj" fmla="val 7083"/>
            </a:avLst>
          </a:prstGeom>
          <a:solidFill xmlns:a="http://schemas.openxmlformats.org/drawingml/2006/main">
            <a:srgbClr val="EAF2F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d82158c97fdd474a"/>
          <a:srcRect xmlns:a="http://schemas.openxmlformats.org/drawingml/2006/main" l="28000" t="1000" r="28000" b="1000"/>
          <a:stretch xmlns:a="http://schemas.openxmlformats.org/drawingml/2006/main"/>
        </p:blipFill>
        <p:spPr>
          <a:xfrm xmlns:a="http://schemas.openxmlformats.org/drawingml/2006/main">
            <a:off x="7162800" y="781050"/>
            <a:ext cx="3962400" cy="5086350"/>
          </a:xfrm>
          <a:prstGeom xmlns:a="http://schemas.openxmlformats.org/drawingml/2006/main" prst="roundRect">
            <a:avLst>
              <a:gd name="adj" fmla="val 4808"/>
            </a:avLst>
          </a:prstGeom>
        </p:spPr>
      </p:pic>
      <p:sp>
        <p:nvSpPr>
          <p:cNvPr id="8" name="Rectangle 7">
            <a:extLst xmlns:a="http://schemas.openxmlformats.org/drawingml/2006/main">
              <a:ext uri="{FF2B5EF4-FFF2-40B4-BE49-F238E27FC236}">
                <a16:creationId xmlns:a16="http://schemas.microsoft.com/office/drawing/2014/main" id="{497663C0-A967-47A0-A4E8-066AA1CD77B6}"/>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BFD5E2"/>
                </a:solidFill>
                <a:latin typeface="Aptos"/>
                <a:ea typeface="Aptos"/>
                <a:cs typeface="Aptos"/>
              </a:defRPr>
            </a:pPr>
            <a:r>
              <a:rPr sz="825" b="1">
                <a:solidFill>
                  <a:srgbClr val="BFD5E2"/>
                </a:solidFill>
                <a:latin typeface="Aptos"/>
                <a:ea typeface="Aptos"/>
                <a:cs typeface="Aptos"/>
              </a:rPr>
              <a:t>WELLPATH  •  CONCEPT PROTOTYPE</a:t>
            </a:r>
          </a:p>
        </p:txBody>
      </p:sp>
      <p:sp>
        <p:nvSpPr>
          <p:cNvPr id="9" name="Rectangle 8">
            <a:extLst xmlns:a="http://schemas.openxmlformats.org/drawingml/2006/main">
              <a:ext uri="{FF2B5EF4-FFF2-40B4-BE49-F238E27FC236}">
                <a16:creationId xmlns:a16="http://schemas.microsoft.com/office/drawing/2014/main" id="{EA59E9C9-FE8D-4080-880B-E90CA915E50A}"/>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BFD5E2"/>
                </a:solidFill>
                <a:latin typeface="Aptos"/>
                <a:ea typeface="Aptos"/>
                <a:cs typeface="Aptos"/>
              </a:defRPr>
            </a:pPr>
            <a:r>
              <a:rPr sz="900" b="1">
                <a:solidFill>
                  <a:srgbClr val="BFD5E2"/>
                </a:solidFill>
                <a:latin typeface="Aptos"/>
                <a:ea typeface="Aptos"/>
                <a:cs typeface="Aptos"/>
              </a:rPr>
              <a:t>01</a:t>
            </a:r>
          </a:p>
        </p:txBody>
      </p:sp>
    </p:spTree>
    <p:extLst>
      <p:ext uri="{BB962C8B-B14F-4D97-AF65-F5344CB8AC3E}">
        <p14:creationId xmlns:p14="http://schemas.microsoft.com/office/powerpoint/2010/main" val="393990316"/>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1C01CD71-F55C-4C80-92B0-8B253727AB8E}"/>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The harder problem is connecting health data</a:t>
            </a:r>
          </a:p>
        </p:txBody>
      </p:sp>
      <p:sp>
        <p:nvSpPr>
          <p:cNvPr id="2" name="Rectangle: Rounded Corners 1">
            <a:extLst xmlns:a="http://schemas.openxmlformats.org/drawingml/2006/main">
              <a:ext uri="{FF2B5EF4-FFF2-40B4-BE49-F238E27FC236}">
                <a16:creationId xmlns:a16="http://schemas.microsoft.com/office/drawing/2014/main" id="{D3CBA415-AE4B-4095-8E87-D2FBA2911B34}"/>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EDF62406-8EBA-4270-B945-921554EC1DE5}"/>
              </a:ext>
            </a:extLst>
          </p:cNvPr>
          <p:cNvSpPr>
            <a:spLocks xmlns:a="http://schemas.openxmlformats.org/drawingml/2006/main" noGrp="1"/>
          </p:cNvSpPr>
          <p:nvPr/>
        </p:nvSpPr>
        <p:spPr>
          <a:xfrm xmlns:a="http://schemas.openxmlformats.org/drawingml/2006/main">
            <a:off x="1428750" y="11811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Collecting measurements is only the first step. Understanding how they relate is what gives them context.</a:t>
            </a:r>
          </a:p>
        </p:txBody>
      </p:sp>
      <p:sp>
        <p:nvSpPr>
          <p:cNvPr id="4" name="Rectangle 3">
            <a:extLst xmlns:a="http://schemas.openxmlformats.org/drawingml/2006/main">
              <a:ext uri="{FF2B5EF4-FFF2-40B4-BE49-F238E27FC236}">
                <a16:creationId xmlns:a16="http://schemas.microsoft.com/office/drawing/2014/main" id="{0AA77F17-35C7-4D65-8A55-B3D5F9205C7C}"/>
              </a:ext>
            </a:extLst>
          </p:cNvPr>
          <p:cNvSpPr>
            <a:spLocks xmlns:a="http://schemas.openxmlformats.org/drawingml/2006/main" noGrp="1"/>
          </p:cNvSpPr>
          <p:nvPr/>
        </p:nvSpPr>
        <p:spPr>
          <a:xfrm xmlns:a="http://schemas.openxmlformats.org/drawingml/2006/main">
            <a:off x="685800" y="20478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3A6A2"/>
                </a:solidFill>
                <a:latin typeface="Aptos"/>
                <a:ea typeface="Aptos"/>
                <a:cs typeface="Aptos"/>
              </a:defRPr>
            </a:pPr>
            <a:r>
              <a:rPr sz="1350" b="1">
                <a:solidFill>
                  <a:srgbClr val="13A6A2"/>
                </a:solidFill>
                <a:latin typeface="Aptos"/>
                <a:ea typeface="Aptos"/>
                <a:cs typeface="Aptos"/>
              </a:rPr>
              <a:t>01  COLLECT</a:t>
            </a:r>
          </a:p>
        </p:txBody>
      </p:sp>
      <p:sp>
        <p:nvSpPr>
          <p:cNvPr id="5" name="Rectangle 4">
            <a:extLst xmlns:a="http://schemas.openxmlformats.org/drawingml/2006/main">
              <a:ext uri="{FF2B5EF4-FFF2-40B4-BE49-F238E27FC236}">
                <a16:creationId xmlns:a16="http://schemas.microsoft.com/office/drawing/2014/main" id="{7AE65DF3-EC64-4135-B008-F7D260A57620}"/>
              </a:ext>
            </a:extLst>
          </p:cNvPr>
          <p:cNvSpPr>
            <a:spLocks xmlns:a="http://schemas.openxmlformats.org/drawingml/2006/main" noGrp="1"/>
          </p:cNvSpPr>
          <p:nvPr/>
        </p:nvSpPr>
        <p:spPr>
          <a:xfrm xmlns:a="http://schemas.openxmlformats.org/drawingml/2006/main">
            <a:off x="4238625" y="20478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3A6A2"/>
                </a:solidFill>
                <a:latin typeface="Aptos"/>
                <a:ea typeface="Aptos"/>
                <a:cs typeface="Aptos"/>
              </a:defRPr>
            </a:pPr>
            <a:r>
              <a:rPr sz="1350" b="1">
                <a:solidFill>
                  <a:srgbClr val="13A6A2"/>
                </a:solidFill>
                <a:latin typeface="Aptos"/>
                <a:ea typeface="Aptos"/>
                <a:cs typeface="Aptos"/>
              </a:rPr>
              <a:t>02  CONNECT</a:t>
            </a:r>
          </a:p>
        </p:txBody>
      </p:sp>
      <p:sp>
        <p:nvSpPr>
          <p:cNvPr id="6" name="Rectangle 5">
            <a:extLst xmlns:a="http://schemas.openxmlformats.org/drawingml/2006/main">
              <a:ext uri="{FF2B5EF4-FFF2-40B4-BE49-F238E27FC236}">
                <a16:creationId xmlns:a16="http://schemas.microsoft.com/office/drawing/2014/main" id="{BECEA387-F805-4E12-B051-0EB0BBC94652}"/>
              </a:ext>
            </a:extLst>
          </p:cNvPr>
          <p:cNvSpPr>
            <a:spLocks xmlns:a="http://schemas.openxmlformats.org/drawingml/2006/main" noGrp="1"/>
          </p:cNvSpPr>
          <p:nvPr/>
        </p:nvSpPr>
        <p:spPr>
          <a:xfrm xmlns:a="http://schemas.openxmlformats.org/drawingml/2006/main">
            <a:off x="685800" y="2571750"/>
            <a:ext cx="304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800" b="1">
                <a:solidFill>
                  <a:srgbClr val="10283D"/>
                </a:solidFill>
                <a:latin typeface="Aptos"/>
                <a:ea typeface="Aptos"/>
                <a:cs typeface="Aptos"/>
              </a:defRPr>
            </a:pPr>
            <a:r>
              <a:rPr sz="1800" b="1">
                <a:solidFill>
                  <a:srgbClr val="10283D"/>
                </a:solidFill>
                <a:latin typeface="Aptos"/>
                <a:ea typeface="Aptos"/>
                <a:cs typeface="Aptos"/>
              </a:rPr>
              <a:t>Bring together daily habits, symptoms, cycle history, and clinical measurements.</a:t>
            </a:r>
          </a:p>
        </p:txBody>
      </p:sp>
      <p:sp>
        <p:nvSpPr>
          <p:cNvPr id="7" name="Rectangle 6">
            <a:extLst xmlns:a="http://schemas.openxmlformats.org/drawingml/2006/main">
              <a:ext uri="{FF2B5EF4-FFF2-40B4-BE49-F238E27FC236}">
                <a16:creationId xmlns:a16="http://schemas.microsoft.com/office/drawing/2014/main" id="{B9E29DD3-7FA8-4EE8-BE7C-80F095489F29}"/>
              </a:ext>
            </a:extLst>
          </p:cNvPr>
          <p:cNvSpPr>
            <a:spLocks xmlns:a="http://schemas.openxmlformats.org/drawingml/2006/main" noGrp="1"/>
          </p:cNvSpPr>
          <p:nvPr/>
        </p:nvSpPr>
        <p:spPr>
          <a:xfrm xmlns:a="http://schemas.openxmlformats.org/drawingml/2006/main">
            <a:off x="4238625" y="2571750"/>
            <a:ext cx="304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800" b="1">
                <a:solidFill>
                  <a:srgbClr val="10283D"/>
                </a:solidFill>
                <a:latin typeface="Aptos"/>
                <a:ea typeface="Aptos"/>
                <a:cs typeface="Aptos"/>
              </a:defRPr>
            </a:pPr>
            <a:r>
              <a:rPr sz="1800" b="1">
                <a:solidFill>
                  <a:srgbClr val="10283D"/>
                </a:solidFill>
                <a:latin typeface="Aptos"/>
                <a:ea typeface="Aptos"/>
                <a:cs typeface="Aptos"/>
              </a:rPr>
              <a:t>Compare those signals on one timeline and against personal trends.</a:t>
            </a:r>
          </a:p>
        </p:txBody>
      </p:sp>
      <p:sp>
        <p:nvSpPr>
          <p:cNvPr id="8" name="Rectangle 7">
            <a:extLst xmlns:a="http://schemas.openxmlformats.org/drawingml/2006/main">
              <a:ext uri="{FF2B5EF4-FFF2-40B4-BE49-F238E27FC236}">
                <a16:creationId xmlns:a16="http://schemas.microsoft.com/office/drawing/2014/main" id="{94A3B2DF-222A-4CB0-B53E-2895597ABFB2}"/>
              </a:ext>
            </a:extLst>
          </p:cNvPr>
          <p:cNvSpPr>
            <a:spLocks xmlns:a="http://schemas.openxmlformats.org/drawingml/2006/main" noGrp="1"/>
          </p:cNvSpPr>
          <p:nvPr/>
        </p:nvSpPr>
        <p:spPr>
          <a:xfrm xmlns:a="http://schemas.openxmlformats.org/drawingml/2006/main">
            <a:off x="7791450" y="20478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3A6A2"/>
                </a:solidFill>
                <a:latin typeface="Aptos"/>
                <a:ea typeface="Aptos"/>
                <a:cs typeface="Aptos"/>
              </a:defRPr>
            </a:pPr>
            <a:r>
              <a:rPr sz="1350" b="1">
                <a:solidFill>
                  <a:srgbClr val="13A6A2"/>
                </a:solidFill>
                <a:latin typeface="Aptos"/>
                <a:ea typeface="Aptos"/>
                <a:cs typeface="Aptos"/>
              </a:rPr>
              <a:t>03  EXPLAIN</a:t>
            </a:r>
          </a:p>
        </p:txBody>
      </p:sp>
      <p:sp>
        <p:nvSpPr>
          <p:cNvPr id="9" name="Rectangle 8">
            <a:extLst xmlns:a="http://schemas.openxmlformats.org/drawingml/2006/main">
              <a:ext uri="{FF2B5EF4-FFF2-40B4-BE49-F238E27FC236}">
                <a16:creationId xmlns:a16="http://schemas.microsoft.com/office/drawing/2014/main" id="{5E1E61F8-C609-4CF9-95E0-B52782B00416}"/>
              </a:ext>
            </a:extLst>
          </p:cNvPr>
          <p:cNvSpPr>
            <a:spLocks xmlns:a="http://schemas.openxmlformats.org/drawingml/2006/main" noGrp="1"/>
          </p:cNvSpPr>
          <p:nvPr/>
        </p:nvSpPr>
        <p:spPr>
          <a:xfrm xmlns:a="http://schemas.openxmlformats.org/drawingml/2006/main">
            <a:off x="7791450" y="2571750"/>
            <a:ext cx="3238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800" b="1">
                <a:solidFill>
                  <a:srgbClr val="10283D"/>
                </a:solidFill>
                <a:latin typeface="Aptos"/>
                <a:ea typeface="Aptos"/>
                <a:cs typeface="Aptos"/>
              </a:defRPr>
            </a:pPr>
            <a:r>
              <a:rPr sz="1800" b="1">
                <a:solidFill>
                  <a:srgbClr val="10283D"/>
                </a:solidFill>
                <a:latin typeface="Aptos"/>
                <a:ea typeface="Aptos"/>
                <a:cs typeface="Aptos"/>
              </a:rPr>
              <a:t>Show what changed, which factors mattered, and where uncertainty remains.</a:t>
            </a:r>
          </a:p>
        </p:txBody>
      </p:sp>
      <p:sp>
        <p:nvSpPr>
          <p:cNvPr id="10" name="Rectangle: Rounded Corners 9">
            <a:extLst xmlns:a="http://schemas.openxmlformats.org/drawingml/2006/main">
              <a:ext uri="{FF2B5EF4-FFF2-40B4-BE49-F238E27FC236}">
                <a16:creationId xmlns:a16="http://schemas.microsoft.com/office/drawing/2014/main" id="{4A41FD68-FE6D-4CE9-90A8-BD669915C143}"/>
              </a:ext>
            </a:extLst>
          </p:cNvPr>
          <p:cNvSpPr>
            <a:spLocks xmlns:a="http://schemas.openxmlformats.org/drawingml/2006/main" noGrp="1"/>
          </p:cNvSpPr>
          <p:nvPr/>
        </p:nvSpPr>
        <p:spPr>
          <a:xfrm xmlns:a="http://schemas.openxmlformats.org/drawingml/2006/main">
            <a:off x="685800" y="4476750"/>
            <a:ext cx="10134600" cy="28575"/>
          </a:xfrm>
          <a:prstGeom xmlns:a="http://schemas.openxmlformats.org/drawingml/2006/main" prst="roundRect">
            <a:avLst>
              <a:gd name="adj" fmla="val 50000"/>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692D5D8D-93DC-4339-B68A-33DEDEA82A07}"/>
              </a:ext>
            </a:extLst>
          </p:cNvPr>
          <p:cNvSpPr>
            <a:spLocks xmlns:a="http://schemas.openxmlformats.org/drawingml/2006/main" noGrp="1"/>
          </p:cNvSpPr>
          <p:nvPr/>
        </p:nvSpPr>
        <p:spPr>
          <a:xfrm xmlns:a="http://schemas.openxmlformats.org/drawingml/2006/main">
            <a:off x="685800" y="4857750"/>
            <a:ext cx="1013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950" b="1">
                <a:solidFill>
                  <a:srgbClr val="10283D"/>
                </a:solidFill>
                <a:latin typeface="Aptos"/>
                <a:ea typeface="Aptos"/>
                <a:cs typeface="Aptos"/>
              </a:defRPr>
            </a:pPr>
            <a:r>
              <a:rPr sz="1950" b="1">
                <a:solidFill>
                  <a:srgbClr val="10283D"/>
                </a:solidFill>
                <a:latin typeface="Aptos"/>
                <a:ea typeface="Aptos"/>
                <a:cs typeface="Aptos"/>
              </a:rPr>
              <a:t>WellPath explores interpretation, not diagnosis.</a:t>
            </a:r>
          </a:p>
        </p:txBody>
      </p:sp>
      <p:sp>
        <p:nvSpPr>
          <p:cNvPr id="12" name="Rectangle 11">
            <a:extLst xmlns:a="http://schemas.openxmlformats.org/drawingml/2006/main">
              <a:ext uri="{FF2B5EF4-FFF2-40B4-BE49-F238E27FC236}">
                <a16:creationId xmlns:a16="http://schemas.microsoft.com/office/drawing/2014/main" id="{137A01C0-7796-481E-91CF-3D5D0B6E224E}"/>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3" name="Rectangle 12">
            <a:extLst xmlns:a="http://schemas.openxmlformats.org/drawingml/2006/main">
              <a:ext uri="{FF2B5EF4-FFF2-40B4-BE49-F238E27FC236}">
                <a16:creationId xmlns:a16="http://schemas.microsoft.com/office/drawing/2014/main" id="{8D53E420-0B05-4AD6-B60B-3B250333AE5B}"/>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02</a:t>
            </a:r>
          </a:p>
        </p:txBody>
      </p:sp>
    </p:spTree>
    <p:extLst>
      <p:ext uri="{BB962C8B-B14F-4D97-AF65-F5344CB8AC3E}">
        <p14:creationId xmlns:p14="http://schemas.microsoft.com/office/powerpoint/2010/main" val="471378643"/>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C80A39A1-4DF9-40E9-92F8-1D74B1FB8EE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WellPath is a question, not a finished product</a:t>
            </a:r>
          </a:p>
        </p:txBody>
      </p:sp>
      <p:sp>
        <p:nvSpPr>
          <p:cNvPr id="2" name="Rectangle: Rounded Corners 1">
            <a:extLst xmlns:a="http://schemas.openxmlformats.org/drawingml/2006/main">
              <a:ext uri="{FF2B5EF4-FFF2-40B4-BE49-F238E27FC236}">
                <a16:creationId xmlns:a16="http://schemas.microsoft.com/office/drawing/2014/main" id="{8F6F6534-52D9-490E-8A2A-DF56A589E471}"/>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0177EA11-D70E-42CB-AA2C-45F57BE03B2C}"/>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What could a more connected and explainable health experience look like?</a:t>
            </a:r>
          </a:p>
        </p:txBody>
      </p:sp>
      <p:sp>
        <p:nvSpPr>
          <p:cNvPr id="4" name="Rectangle: Rounded Corners 3">
            <a:extLst xmlns:a="http://schemas.openxmlformats.org/drawingml/2006/main">
              <a:ext uri="{FF2B5EF4-FFF2-40B4-BE49-F238E27FC236}">
                <a16:creationId xmlns:a16="http://schemas.microsoft.com/office/drawing/2014/main" id="{01009FE5-935F-417F-B528-1EE707EBA5B7}"/>
              </a:ext>
            </a:extLst>
          </p:cNvPr>
          <p:cNvSpPr>
            <a:spLocks xmlns:a="http://schemas.openxmlformats.org/drawingml/2006/main" noGrp="1"/>
          </p:cNvSpPr>
          <p:nvPr/>
        </p:nvSpPr>
        <p:spPr>
          <a:xfrm xmlns:a="http://schemas.openxmlformats.org/drawingml/2006/main">
            <a:off x="609600" y="1485900"/>
            <a:ext cx="6105525" cy="4343400"/>
          </a:xfrm>
          <a:prstGeom xmlns:a="http://schemas.openxmlformats.org/drawingml/2006/main" prst="roundRect">
            <a:avLst>
              <a:gd name="adj" fmla="val 4825"/>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0f5de1746b1e486b"/>
          <a:srcRect xmlns:a="http://schemas.openxmlformats.org/drawingml/2006/main" l="29000" t="11000" r="18000" b="28000"/>
          <a:stretch xmlns:a="http://schemas.openxmlformats.org/drawingml/2006/main"/>
        </p:blipFill>
        <p:spPr>
          <a:xfrm xmlns:a="http://schemas.openxmlformats.org/drawingml/2006/main">
            <a:off x="685800" y="1562100"/>
            <a:ext cx="5953125" cy="4191000"/>
          </a:xfrm>
          <a:prstGeom xmlns:a="http://schemas.openxmlformats.org/drawingml/2006/main" prst="roundRect">
            <a:avLst>
              <a:gd name="adj" fmla="val 3636"/>
            </a:avLst>
          </a:prstGeom>
        </p:spPr>
      </p:pic>
      <p:sp>
        <p:nvSpPr>
          <p:cNvPr id="6" name="Rectangle 5">
            <a:extLst xmlns:a="http://schemas.openxmlformats.org/drawingml/2006/main">
              <a:ext uri="{FF2B5EF4-FFF2-40B4-BE49-F238E27FC236}">
                <a16:creationId xmlns:a16="http://schemas.microsoft.com/office/drawing/2014/main" id="{55B515EA-3024-488D-92DD-615D6C4FC142}"/>
              </a:ext>
            </a:extLst>
          </p:cNvPr>
          <p:cNvSpPr>
            <a:spLocks xmlns:a="http://schemas.openxmlformats.org/drawingml/2006/main" noGrp="1"/>
          </p:cNvSpPr>
          <p:nvPr/>
        </p:nvSpPr>
        <p:spPr>
          <a:xfrm xmlns:a="http://schemas.openxmlformats.org/drawingml/2006/main">
            <a:off x="7181850" y="165735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650" b="1">
                <a:solidFill>
                  <a:srgbClr val="13A6A2"/>
                </a:solidFill>
                <a:latin typeface="Aptos"/>
                <a:ea typeface="Aptos"/>
                <a:cs typeface="Aptos"/>
              </a:defRPr>
            </a:pPr>
            <a:r>
              <a:rPr sz="1650" b="1">
                <a:solidFill>
                  <a:srgbClr val="13A6A2"/>
                </a:solidFill>
                <a:latin typeface="Aptos"/>
                <a:ea typeface="Aptos"/>
                <a:cs typeface="Aptos"/>
              </a:rPr>
              <a:t>The concept brings together</a:t>
            </a:r>
          </a:p>
        </p:txBody>
      </p:sp>
      <p:sp>
        <p:nvSpPr>
          <p:cNvPr id="7" name="Rectangle 6">
            <a:extLst xmlns:a="http://schemas.openxmlformats.org/drawingml/2006/main">
              <a:ext uri="{FF2B5EF4-FFF2-40B4-BE49-F238E27FC236}">
                <a16:creationId xmlns:a16="http://schemas.microsoft.com/office/drawing/2014/main" id="{75578389-5F95-4114-8457-7F327A4E2439}"/>
              </a:ext>
            </a:extLst>
          </p:cNvPr>
          <p:cNvSpPr>
            <a:spLocks xmlns:a="http://schemas.openxmlformats.org/drawingml/2006/main" noGrp="1"/>
          </p:cNvSpPr>
          <p:nvPr/>
        </p:nvSpPr>
        <p:spPr>
          <a:xfrm xmlns:a="http://schemas.openxmlformats.org/drawingml/2006/main">
            <a:off x="7181850" y="2209800"/>
            <a:ext cx="4095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nSpc>
                <a:spcPct val="118000"/>
              </a:lnSpc>
              <a:buNone/>
              <a:defRPr sz="1725">
                <a:solidFill>
                  <a:srgbClr val="173042"/>
                </a:solidFill>
                <a:latin typeface="Aptos"/>
                <a:ea typeface="Aptos"/>
                <a:cs typeface="Aptos"/>
              </a:defRPr>
            </a:pPr>
            <a:r>
              <a:rPr sz="1725" b="1">
                <a:solidFill>
                  <a:srgbClr val="173042"/>
                </a:solidFill>
                <a:latin typeface="Aptos"/>
                <a:ea typeface="Aptos"/>
                <a:cs typeface="Aptos"/>
              </a:rPr>
              <a:t>Daily tracking</a:t>
            </a:r>
            <a:r>
              <a:rPr sz="1725">
                <a:solidFill>
                  <a:srgbClr val="173042"/>
                </a:solidFill>
                <a:latin typeface="Aptos"/>
                <a:ea typeface="Aptos"/>
                <a:cs typeface="Aptos"/>
              </a:rPr>
              <a:t> and personal trends</a:t>
            </a:r>
          </a:p>
          <a:p xmlns:a="http://schemas.openxmlformats.org/drawingml/2006/main">
            <a:pPr>
              <a:lnSpc>
                <a:spcPct val="118000"/>
              </a:lnSpc>
              <a:buNone/>
              <a:defRPr sz="1725">
                <a:solidFill>
                  <a:srgbClr val="173042"/>
                </a:solidFill>
                <a:latin typeface="Aptos"/>
                <a:ea typeface="Aptos"/>
                <a:cs typeface="Aptos"/>
              </a:defRPr>
            </a:pPr>
            <a:r>
              <a:rPr sz="1725" b="1">
                <a:solidFill>
                  <a:srgbClr val="173042"/>
                </a:solidFill>
                <a:latin typeface="Aptos"/>
                <a:ea typeface="Aptos"/>
                <a:cs typeface="Aptos"/>
              </a:rPr>
              <a:t>Exploratory models</a:t>
            </a:r>
            <a:r>
              <a:rPr sz="1725">
                <a:solidFill>
                  <a:srgbClr val="173042"/>
                </a:solidFill>
                <a:latin typeface="Aptos"/>
                <a:ea typeface="Aptos"/>
                <a:cs typeface="Aptos"/>
              </a:rPr>
              <a:t> and transparent factors</a:t>
            </a:r>
          </a:p>
          <a:p xmlns:a="http://schemas.openxmlformats.org/drawingml/2006/main">
            <a:pPr>
              <a:lnSpc>
                <a:spcPct val="118000"/>
              </a:lnSpc>
              <a:buNone/>
              <a:defRPr sz="1725">
                <a:solidFill>
                  <a:srgbClr val="173042"/>
                </a:solidFill>
                <a:latin typeface="Aptos"/>
                <a:ea typeface="Aptos"/>
                <a:cs typeface="Aptos"/>
              </a:defRPr>
            </a:pPr>
            <a:r>
              <a:rPr sz="1725" b="1">
                <a:solidFill>
                  <a:srgbClr val="173042"/>
                </a:solidFill>
                <a:latin typeface="Aptos"/>
                <a:ea typeface="Aptos"/>
                <a:cs typeface="Aptos"/>
              </a:rPr>
              <a:t>Cycle estimates</a:t>
            </a:r>
            <a:r>
              <a:rPr sz="1725">
                <a:solidFill>
                  <a:srgbClr val="173042"/>
                </a:solidFill>
                <a:latin typeface="Aptos"/>
                <a:ea typeface="Aptos"/>
                <a:cs typeface="Aptos"/>
              </a:rPr>
              <a:t> based on logged history</a:t>
            </a:r>
          </a:p>
          <a:p xmlns:a="http://schemas.openxmlformats.org/drawingml/2006/main">
            <a:pPr>
              <a:lnSpc>
                <a:spcPct val="118000"/>
              </a:lnSpc>
              <a:buNone/>
              <a:defRPr sz="1725">
                <a:solidFill>
                  <a:srgbClr val="173042"/>
                </a:solidFill>
                <a:latin typeface="Aptos"/>
                <a:ea typeface="Aptos"/>
                <a:cs typeface="Aptos"/>
              </a:defRPr>
            </a:pPr>
            <a:r>
              <a:rPr sz="1725" b="1">
                <a:solidFill>
                  <a:srgbClr val="173042"/>
                </a:solidFill>
                <a:latin typeface="Aptos"/>
                <a:ea typeface="Aptos"/>
                <a:cs typeface="Aptos"/>
              </a:rPr>
              <a:t>AI explanations</a:t>
            </a:r>
            <a:r>
              <a:rPr sz="1725">
                <a:solidFill>
                  <a:srgbClr val="173042"/>
                </a:solidFill>
                <a:latin typeface="Aptos"/>
                <a:ea typeface="Aptos"/>
                <a:cs typeface="Aptos"/>
              </a:rPr>
              <a:t> in plain language</a:t>
            </a:r>
          </a:p>
        </p:txBody>
      </p:sp>
      <p:sp>
        <p:nvSpPr>
          <p:cNvPr id="8" name="Rectangle 7">
            <a:extLst xmlns:a="http://schemas.openxmlformats.org/drawingml/2006/main">
              <a:ext uri="{FF2B5EF4-FFF2-40B4-BE49-F238E27FC236}">
                <a16:creationId xmlns:a16="http://schemas.microsoft.com/office/drawing/2014/main" id="{6B819464-D0DF-45F4-91B1-62A1B2738A95}"/>
              </a:ext>
            </a:extLst>
          </p:cNvPr>
          <p:cNvSpPr>
            <a:spLocks xmlns:a="http://schemas.openxmlformats.org/drawingml/2006/main" noGrp="1"/>
          </p:cNvSpPr>
          <p:nvPr/>
        </p:nvSpPr>
        <p:spPr>
          <a:xfrm xmlns:a="http://schemas.openxmlformats.org/drawingml/2006/main">
            <a:off x="7181850" y="4857750"/>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0000"/>
              </a:lnSpc>
              <a:buNone/>
              <a:defRPr sz="1500" b="0">
                <a:solidFill>
                  <a:srgbClr val="5D7180"/>
                </a:solidFill>
                <a:latin typeface="Aptos"/>
                <a:ea typeface="Aptos"/>
                <a:cs typeface="Aptos"/>
              </a:defRPr>
            </a:pPr>
            <a:r>
              <a:rPr sz="1500" b="0">
                <a:solidFill>
                  <a:srgbClr val="5D7180"/>
                </a:solidFill>
                <a:latin typeface="Aptos"/>
                <a:ea typeface="Aptos"/>
                <a:cs typeface="Aptos"/>
              </a:rPr>
              <a:t>The app demonstrates the experience using fictional sample profiles.</a:t>
            </a:r>
          </a:p>
        </p:txBody>
      </p:sp>
      <p:sp>
        <p:nvSpPr>
          <p:cNvPr id="9" name="Rectangle 8">
            <a:extLst xmlns:a="http://schemas.openxmlformats.org/drawingml/2006/main">
              <a:ext uri="{FF2B5EF4-FFF2-40B4-BE49-F238E27FC236}">
                <a16:creationId xmlns:a16="http://schemas.microsoft.com/office/drawing/2014/main" id="{981812D5-1E22-43EA-BA06-5814CC06AF55}"/>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0" name="Rectangle 9">
            <a:extLst xmlns:a="http://schemas.openxmlformats.org/drawingml/2006/main">
              <a:ext uri="{FF2B5EF4-FFF2-40B4-BE49-F238E27FC236}">
                <a16:creationId xmlns:a16="http://schemas.microsoft.com/office/drawing/2014/main" id="{54CF1BD9-30BA-4B6B-8272-9531E63ABFE1}"/>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03</a:t>
            </a:r>
          </a:p>
        </p:txBody>
      </p:sp>
    </p:spTree>
    <p:extLst>
      <p:ext uri="{BB962C8B-B14F-4D97-AF65-F5344CB8AC3E}">
        <p14:creationId xmlns:p14="http://schemas.microsoft.com/office/powerpoint/2010/main" val="1188509082"/>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D6FA2187-C646-4E9A-B2C4-F6D3C7324AFA}"/>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The concept moves beyond single purpose tracking</a:t>
            </a:r>
          </a:p>
        </p:txBody>
      </p:sp>
      <p:sp>
        <p:nvSpPr>
          <p:cNvPr id="2" name="Rectangle: Rounded Corners 1">
            <a:extLst xmlns:a="http://schemas.openxmlformats.org/drawingml/2006/main">
              <a:ext uri="{FF2B5EF4-FFF2-40B4-BE49-F238E27FC236}">
                <a16:creationId xmlns:a16="http://schemas.microsoft.com/office/drawing/2014/main" id="{68AEC0AE-02E8-487F-B0A5-31793C365C63}"/>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8E2F0B1F-1225-477A-93DB-27303BE8D92A}"/>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Existing categories become a design starting point, not a market claim.</a:t>
            </a:r>
          </a:p>
        </p:txBody>
      </p:sp>
      <p:sp>
        <p:nvSpPr>
          <p:cNvPr id="4" name="Rectangle: Rounded Corners 3">
            <a:extLst xmlns:a="http://schemas.openxmlformats.org/drawingml/2006/main">
              <a:ext uri="{FF2B5EF4-FFF2-40B4-BE49-F238E27FC236}">
                <a16:creationId xmlns:a16="http://schemas.microsoft.com/office/drawing/2014/main" id="{5B5B0819-6740-4602-89CA-1D55C7E54B70}"/>
              </a:ext>
            </a:extLst>
          </p:cNvPr>
          <p:cNvSpPr>
            <a:spLocks xmlns:a="http://schemas.openxmlformats.org/drawingml/2006/main" noGrp="1"/>
          </p:cNvSpPr>
          <p:nvPr/>
        </p:nvSpPr>
        <p:spPr>
          <a:xfrm xmlns:a="http://schemas.openxmlformats.org/drawingml/2006/main">
            <a:off x="685800" y="1562100"/>
            <a:ext cx="4953000" cy="4095750"/>
          </a:xfrm>
          <a:prstGeom xmlns:a="http://schemas.openxmlformats.org/drawingml/2006/main" prst="roundRect">
            <a:avLst>
              <a:gd name="adj" fmla="val 5581"/>
            </a:avLst>
          </a:prstGeom>
          <a:solidFill xmlns:a="http://schemas.openxmlformats.org/drawingml/2006/main">
            <a:srgbClr val="EEF2F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92485E3E-5EB0-4765-AA99-DC933F0058AA}"/>
              </a:ext>
            </a:extLst>
          </p:cNvPr>
          <p:cNvSpPr>
            <a:spLocks xmlns:a="http://schemas.openxmlformats.org/drawingml/2006/main" noGrp="1"/>
          </p:cNvSpPr>
          <p:nvPr/>
        </p:nvSpPr>
        <p:spPr>
          <a:xfrm xmlns:a="http://schemas.openxmlformats.org/drawingml/2006/main">
            <a:off x="1047750" y="19431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5D7180"/>
                </a:solidFill>
                <a:latin typeface="Aptos"/>
                <a:ea typeface="Aptos"/>
                <a:cs typeface="Aptos"/>
              </a:defRPr>
            </a:pPr>
            <a:r>
              <a:rPr sz="1050" b="1">
                <a:solidFill>
                  <a:srgbClr val="5D7180"/>
                </a:solidFill>
                <a:latin typeface="Aptos"/>
                <a:ea typeface="Aptos"/>
                <a:cs typeface="Aptos"/>
              </a:rPr>
              <a:t>COMMON APP FOCUS</a:t>
            </a:r>
          </a:p>
        </p:txBody>
      </p:sp>
      <p:sp>
        <p:nvSpPr>
          <p:cNvPr id="6" name="Rectangle 5">
            <a:extLst xmlns:a="http://schemas.openxmlformats.org/drawingml/2006/main">
              <a:ext uri="{FF2B5EF4-FFF2-40B4-BE49-F238E27FC236}">
                <a16:creationId xmlns:a16="http://schemas.microsoft.com/office/drawing/2014/main" id="{F9DEF634-2D94-474B-AF57-E3F8AC6B7F10}"/>
              </a:ext>
            </a:extLst>
          </p:cNvPr>
          <p:cNvSpPr>
            <a:spLocks xmlns:a="http://schemas.openxmlformats.org/drawingml/2006/main" noGrp="1"/>
          </p:cNvSpPr>
          <p:nvPr/>
        </p:nvSpPr>
        <p:spPr>
          <a:xfrm xmlns:a="http://schemas.openxmlformats.org/drawingml/2006/main">
            <a:off x="1047750" y="24574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10283D"/>
                </a:solidFill>
                <a:latin typeface="Aptos"/>
                <a:ea typeface="Aptos"/>
                <a:cs typeface="Aptos"/>
              </a:defRPr>
            </a:pPr>
            <a:r>
              <a:rPr sz="2250" b="1">
                <a:solidFill>
                  <a:srgbClr val="10283D"/>
                </a:solidFill>
                <a:latin typeface="Aptos"/>
                <a:ea typeface="Aptos"/>
                <a:cs typeface="Aptos"/>
              </a:rPr>
              <a:t>Track one category</a:t>
            </a:r>
          </a:p>
        </p:txBody>
      </p:sp>
      <p:sp>
        <p:nvSpPr>
          <p:cNvPr id="7" name="Rectangle 6">
            <a:extLst xmlns:a="http://schemas.openxmlformats.org/drawingml/2006/main">
              <a:ext uri="{FF2B5EF4-FFF2-40B4-BE49-F238E27FC236}">
                <a16:creationId xmlns:a16="http://schemas.microsoft.com/office/drawing/2014/main" id="{84FB8D82-036E-455E-84E1-3E0B8DB49FAE}"/>
              </a:ext>
            </a:extLst>
          </p:cNvPr>
          <p:cNvSpPr>
            <a:spLocks xmlns:a="http://schemas.openxmlformats.org/drawingml/2006/main" noGrp="1"/>
          </p:cNvSpPr>
          <p:nvPr/>
        </p:nvSpPr>
        <p:spPr>
          <a:xfrm xmlns:a="http://schemas.openxmlformats.org/drawingml/2006/main">
            <a:off x="1047750" y="3190875"/>
            <a:ext cx="3619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5000"/>
              </a:lnSpc>
              <a:buNone/>
              <a:defRPr sz="1725" b="0">
                <a:solidFill>
                  <a:srgbClr val="5D7180"/>
                </a:solidFill>
                <a:latin typeface="Aptos"/>
                <a:ea typeface="Aptos"/>
                <a:cs typeface="Aptos"/>
              </a:defRPr>
            </a:pPr>
            <a:r>
              <a:rPr sz="1725" b="0">
                <a:solidFill>
                  <a:srgbClr val="5D7180"/>
                </a:solidFill>
                <a:latin typeface="Aptos"/>
                <a:ea typeface="Aptos"/>
                <a:cs typeface="Aptos"/>
              </a:rPr>
              <a:t>Fitness</a:t>
            </a:r>
          </a:p>
          <a:p xmlns:a="http://schemas.openxmlformats.org/drawingml/2006/main">
            <a:pPr algn="l">
              <a:lnSpc>
                <a:spcPct val="115000"/>
              </a:lnSpc>
              <a:buNone/>
              <a:defRPr sz="1725" b="0">
                <a:solidFill>
                  <a:srgbClr val="5D7180"/>
                </a:solidFill>
                <a:latin typeface="Aptos"/>
                <a:ea typeface="Aptos"/>
                <a:cs typeface="Aptos"/>
              </a:defRPr>
            </a:pPr>
            <a:r>
              <a:rPr sz="1725" b="0">
                <a:solidFill>
                  <a:srgbClr val="5D7180"/>
                </a:solidFill>
                <a:latin typeface="Aptos"/>
                <a:ea typeface="Aptos"/>
                <a:cs typeface="Aptos"/>
              </a:rPr>
              <a:t>Cycles</a:t>
            </a:r>
          </a:p>
          <a:p xmlns:a="http://schemas.openxmlformats.org/drawingml/2006/main">
            <a:pPr algn="l">
              <a:lnSpc>
                <a:spcPct val="115000"/>
              </a:lnSpc>
              <a:buNone/>
              <a:defRPr sz="1725" b="0">
                <a:solidFill>
                  <a:srgbClr val="5D7180"/>
                </a:solidFill>
                <a:latin typeface="Aptos"/>
                <a:ea typeface="Aptos"/>
                <a:cs typeface="Aptos"/>
              </a:defRPr>
            </a:pPr>
            <a:r>
              <a:rPr sz="1725" b="0">
                <a:solidFill>
                  <a:srgbClr val="5D7180"/>
                </a:solidFill>
                <a:latin typeface="Aptos"/>
                <a:ea typeface="Aptos"/>
                <a:cs typeface="Aptos"/>
              </a:rPr>
              <a:t>Sleep</a:t>
            </a:r>
          </a:p>
          <a:p xmlns:a="http://schemas.openxmlformats.org/drawingml/2006/main">
            <a:pPr algn="l">
              <a:lnSpc>
                <a:spcPct val="115000"/>
              </a:lnSpc>
              <a:buNone/>
              <a:defRPr sz="1725" b="0">
                <a:solidFill>
                  <a:srgbClr val="5D7180"/>
                </a:solidFill>
                <a:latin typeface="Aptos"/>
                <a:ea typeface="Aptos"/>
                <a:cs typeface="Aptos"/>
              </a:defRPr>
            </a:pPr>
            <a:r>
              <a:rPr sz="1725" b="0">
                <a:solidFill>
                  <a:srgbClr val="5D7180"/>
                </a:solidFill>
                <a:latin typeface="Aptos"/>
                <a:ea typeface="Aptos"/>
                <a:cs typeface="Aptos"/>
              </a:rPr>
              <a:t>Symptoms</a:t>
            </a:r>
          </a:p>
          <a:p xmlns:a="http://schemas.openxmlformats.org/drawingml/2006/main">
            <a:pPr algn="l">
              <a:lnSpc>
                <a:spcPct val="115000"/>
              </a:lnSpc>
              <a:buNone/>
              <a:defRPr sz="1725" b="0">
                <a:solidFill>
                  <a:srgbClr val="5D7180"/>
                </a:solidFill>
                <a:latin typeface="Aptos"/>
                <a:ea typeface="Aptos"/>
                <a:cs typeface="Aptos"/>
              </a:defRPr>
            </a:pPr>
            <a:r>
              <a:rPr sz="1725" b="0">
                <a:solidFill>
                  <a:srgbClr val="5D7180"/>
                </a:solidFill>
                <a:latin typeface="Aptos"/>
                <a:ea typeface="Aptos"/>
                <a:cs typeface="Aptos"/>
              </a:rPr>
              <a:t>Records</a:t>
            </a:r>
          </a:p>
        </p:txBody>
      </p:sp>
      <p:sp>
        <p:nvSpPr>
          <p:cNvPr id="8" name="Rectangle: Rounded Corners 7">
            <a:extLst xmlns:a="http://schemas.openxmlformats.org/drawingml/2006/main">
              <a:ext uri="{FF2B5EF4-FFF2-40B4-BE49-F238E27FC236}">
                <a16:creationId xmlns:a16="http://schemas.microsoft.com/office/drawing/2014/main" id="{69E25A1C-AC10-4BAA-8AD1-BA61CF4C120F}"/>
              </a:ext>
            </a:extLst>
          </p:cNvPr>
          <p:cNvSpPr>
            <a:spLocks xmlns:a="http://schemas.openxmlformats.org/drawingml/2006/main" noGrp="1"/>
          </p:cNvSpPr>
          <p:nvPr/>
        </p:nvSpPr>
        <p:spPr>
          <a:xfrm xmlns:a="http://schemas.openxmlformats.org/drawingml/2006/main">
            <a:off x="5924550" y="1562100"/>
            <a:ext cx="5581650" cy="4095750"/>
          </a:xfrm>
          <a:prstGeom xmlns:a="http://schemas.openxmlformats.org/drawingml/2006/main" prst="roundRect">
            <a:avLst>
              <a:gd name="adj" fmla="val 5581"/>
            </a:avLst>
          </a:prstGeom>
          <a:solidFill xmlns:a="http://schemas.openxmlformats.org/drawingml/2006/main">
            <a:srgbClr val="DDF6F2"/>
          </a:solidFill>
          <a:ln xmlns:a="http://schemas.openxmlformats.org/drawingml/2006/main" w="9525">
            <a:solidFill>
              <a:srgbClr val="57D7D2"/>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A39B3E23-4825-40C5-9451-BA193AC070E8}"/>
              </a:ext>
            </a:extLst>
          </p:cNvPr>
          <p:cNvSpPr>
            <a:spLocks xmlns:a="http://schemas.openxmlformats.org/drawingml/2006/main" noGrp="1"/>
          </p:cNvSpPr>
          <p:nvPr/>
        </p:nvSpPr>
        <p:spPr>
          <a:xfrm xmlns:a="http://schemas.openxmlformats.org/drawingml/2006/main">
            <a:off x="6286500" y="1943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WELLPATH EXPLORES</a:t>
            </a:r>
          </a:p>
        </p:txBody>
      </p:sp>
      <p:sp>
        <p:nvSpPr>
          <p:cNvPr id="10" name="Rectangle 9">
            <a:extLst xmlns:a="http://schemas.openxmlformats.org/drawingml/2006/main">
              <a:ext uri="{FF2B5EF4-FFF2-40B4-BE49-F238E27FC236}">
                <a16:creationId xmlns:a16="http://schemas.microsoft.com/office/drawing/2014/main" id="{AC156525-1F2B-4E9F-A11A-F9A53F24F62E}"/>
              </a:ext>
            </a:extLst>
          </p:cNvPr>
          <p:cNvSpPr>
            <a:spLocks xmlns:a="http://schemas.openxmlformats.org/drawingml/2006/main" noGrp="1"/>
          </p:cNvSpPr>
          <p:nvPr/>
        </p:nvSpPr>
        <p:spPr>
          <a:xfrm xmlns:a="http://schemas.openxmlformats.org/drawingml/2006/main">
            <a:off x="6286500" y="245745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10283D"/>
                </a:solidFill>
                <a:latin typeface="Aptos"/>
                <a:ea typeface="Aptos"/>
                <a:cs typeface="Aptos"/>
              </a:defRPr>
            </a:pPr>
            <a:r>
              <a:rPr sz="2250" b="1">
                <a:solidFill>
                  <a:srgbClr val="10283D"/>
                </a:solidFill>
                <a:latin typeface="Aptos"/>
                <a:ea typeface="Aptos"/>
                <a:cs typeface="Aptos"/>
              </a:rPr>
              <a:t>Connect the context</a:t>
            </a:r>
          </a:p>
        </p:txBody>
      </p:sp>
      <p:sp>
        <p:nvSpPr>
          <p:cNvPr id="11" name="Rectangle 10">
            <a:extLst xmlns:a="http://schemas.openxmlformats.org/drawingml/2006/main">
              <a:ext uri="{FF2B5EF4-FFF2-40B4-BE49-F238E27FC236}">
                <a16:creationId xmlns:a16="http://schemas.microsoft.com/office/drawing/2014/main" id="{87D5F3E4-17F7-456B-908F-42DAE7E4C5FC}"/>
              </a:ext>
            </a:extLst>
          </p:cNvPr>
          <p:cNvSpPr>
            <a:spLocks xmlns:a="http://schemas.openxmlformats.org/drawingml/2006/main" noGrp="1"/>
          </p:cNvSpPr>
          <p:nvPr/>
        </p:nvSpPr>
        <p:spPr>
          <a:xfrm xmlns:a="http://schemas.openxmlformats.org/drawingml/2006/main">
            <a:off x="6286500" y="3190875"/>
            <a:ext cx="4476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5000"/>
              </a:lnSpc>
              <a:buNone/>
              <a:defRPr sz="1725" b="0">
                <a:solidFill>
                  <a:srgbClr val="173042"/>
                </a:solidFill>
                <a:latin typeface="Aptos"/>
                <a:ea typeface="Aptos"/>
                <a:cs typeface="Aptos"/>
              </a:defRPr>
            </a:pPr>
            <a:r>
              <a:rPr sz="1725" b="0">
                <a:solidFill>
                  <a:srgbClr val="173042"/>
                </a:solidFill>
                <a:latin typeface="Aptos"/>
                <a:ea typeface="Aptos"/>
                <a:cs typeface="Aptos"/>
              </a:rPr>
              <a:t>How factors relate</a:t>
            </a:r>
          </a:p>
          <a:p xmlns:a="http://schemas.openxmlformats.org/drawingml/2006/main">
            <a:pPr algn="l">
              <a:lnSpc>
                <a:spcPct val="115000"/>
              </a:lnSpc>
              <a:buNone/>
              <a:defRPr sz="1725" b="0">
                <a:solidFill>
                  <a:srgbClr val="173042"/>
                </a:solidFill>
                <a:latin typeface="Aptos"/>
                <a:ea typeface="Aptos"/>
                <a:cs typeface="Aptos"/>
              </a:defRPr>
            </a:pPr>
            <a:r>
              <a:rPr sz="1725" b="0">
                <a:solidFill>
                  <a:srgbClr val="173042"/>
                </a:solidFill>
                <a:latin typeface="Aptos"/>
                <a:ea typeface="Aptos"/>
                <a:cs typeface="Aptos"/>
              </a:rPr>
              <a:t>Why a result changed</a:t>
            </a:r>
          </a:p>
          <a:p xmlns:a="http://schemas.openxmlformats.org/drawingml/2006/main">
            <a:pPr algn="l">
              <a:lnSpc>
                <a:spcPct val="115000"/>
              </a:lnSpc>
              <a:buNone/>
              <a:defRPr sz="1725" b="0">
                <a:solidFill>
                  <a:srgbClr val="173042"/>
                </a:solidFill>
                <a:latin typeface="Aptos"/>
                <a:ea typeface="Aptos"/>
                <a:cs typeface="Aptos"/>
              </a:defRPr>
            </a:pPr>
            <a:r>
              <a:rPr sz="1725" b="0">
                <a:solidFill>
                  <a:srgbClr val="173042"/>
                </a:solidFill>
                <a:latin typeface="Aptos"/>
                <a:ea typeface="Aptos"/>
                <a:cs typeface="Aptos"/>
              </a:rPr>
              <a:t>Where uncertainty remains</a:t>
            </a:r>
          </a:p>
          <a:p xmlns:a="http://schemas.openxmlformats.org/drawingml/2006/main">
            <a:pPr algn="l">
              <a:lnSpc>
                <a:spcPct val="115000"/>
              </a:lnSpc>
              <a:buNone/>
              <a:defRPr sz="1725" b="0">
                <a:solidFill>
                  <a:srgbClr val="173042"/>
                </a:solidFill>
                <a:latin typeface="Aptos"/>
                <a:ea typeface="Aptos"/>
                <a:cs typeface="Aptos"/>
              </a:defRPr>
            </a:pPr>
            <a:r>
              <a:rPr sz="1725" b="0">
                <a:solidFill>
                  <a:srgbClr val="173042"/>
                </a:solidFill>
                <a:latin typeface="Aptos"/>
                <a:ea typeface="Aptos"/>
                <a:cs typeface="Aptos"/>
              </a:rPr>
              <a:t>How results can be explained</a:t>
            </a:r>
          </a:p>
        </p:txBody>
      </p:sp>
      <p:sp>
        <p:nvSpPr>
          <p:cNvPr id="12" name="Rectangle 11">
            <a:extLst xmlns:a="http://schemas.openxmlformats.org/drawingml/2006/main">
              <a:ext uri="{FF2B5EF4-FFF2-40B4-BE49-F238E27FC236}">
                <a16:creationId xmlns:a16="http://schemas.microsoft.com/office/drawing/2014/main" id="{4824804D-C9A9-411E-B169-AED46AC87D1C}"/>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3" name="Rectangle 12">
            <a:extLst xmlns:a="http://schemas.openxmlformats.org/drawingml/2006/main">
              <a:ext uri="{FF2B5EF4-FFF2-40B4-BE49-F238E27FC236}">
                <a16:creationId xmlns:a16="http://schemas.microsoft.com/office/drawing/2014/main" id="{C0498801-5070-437B-A506-CDB1776F95DB}"/>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04</a:t>
            </a:r>
          </a:p>
        </p:txBody>
      </p:sp>
    </p:spTree>
    <p:extLst>
      <p:ext uri="{BB962C8B-B14F-4D97-AF65-F5344CB8AC3E}">
        <p14:creationId xmlns:p14="http://schemas.microsoft.com/office/powerpoint/2010/main" val="319373971"/>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19469556-EB3C-423B-9869-A4AEA78B3A00}"/>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Four experiences anchor the prototype</a:t>
            </a:r>
          </a:p>
        </p:txBody>
      </p:sp>
      <p:sp>
        <p:nvSpPr>
          <p:cNvPr id="2" name="Rectangle: Rounded Corners 1">
            <a:extLst xmlns:a="http://schemas.openxmlformats.org/drawingml/2006/main">
              <a:ext uri="{FF2B5EF4-FFF2-40B4-BE49-F238E27FC236}">
                <a16:creationId xmlns:a16="http://schemas.microsoft.com/office/drawing/2014/main" id="{DADB6A16-BDD8-4E08-B423-FDC04081C517}"/>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42CFA8F3-22DA-404B-9FDB-A5141C988C84}"/>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Each one tests a different way of making health information easier to explore.</a:t>
            </a:r>
          </a:p>
        </p:txBody>
      </p:sp>
      <p:sp>
        <p:nvSpPr>
          <p:cNvPr id="4" name="Rectangle: Rounded Corners 3">
            <a:extLst xmlns:a="http://schemas.openxmlformats.org/drawingml/2006/main">
              <a:ext uri="{FF2B5EF4-FFF2-40B4-BE49-F238E27FC236}">
                <a16:creationId xmlns:a16="http://schemas.microsoft.com/office/drawing/2014/main" id="{47ADDD63-DB03-424D-8E18-04B708B4E3C2}"/>
              </a:ext>
            </a:extLst>
          </p:cNvPr>
          <p:cNvSpPr>
            <a:spLocks xmlns:a="http://schemas.openxmlformats.org/drawingml/2006/main" noGrp="1"/>
          </p:cNvSpPr>
          <p:nvPr/>
        </p:nvSpPr>
        <p:spPr>
          <a:xfrm xmlns:a="http://schemas.openxmlformats.org/drawingml/2006/main">
            <a:off x="609600" y="1428750"/>
            <a:ext cx="5581650" cy="4486275"/>
          </a:xfrm>
          <a:prstGeom xmlns:a="http://schemas.openxmlformats.org/drawingml/2006/main" prst="roundRect">
            <a:avLst>
              <a:gd name="adj" fmla="val 4671"/>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pic>
        <p:nvPicPr>
          <p:cNvPr id="30" name="Picture 29"/>
          <p:cNvPicPr>
            <a:picLocks xmlns:a="http://schemas.openxmlformats.org/drawingml/2006/main" noChangeAspect="1"/>
          </p:cNvPicPr>
          <p:nvPr/>
        </p:nvPicPr>
        <p:blipFill>
          <a:blip xmlns:r="http://schemas.openxmlformats.org/officeDocument/2006/relationships" xmlns:a="http://schemas.openxmlformats.org/drawingml/2006/main" r:embed="Rb64ab52dcf784f1b"/>
          <a:srcRect xmlns:a="http://schemas.openxmlformats.org/drawingml/2006/main" l="30000" t="1000" r="30000" b="40000"/>
          <a:stretch xmlns:a="http://schemas.openxmlformats.org/drawingml/2006/main"/>
        </p:blipFill>
        <p:spPr>
          <a:xfrm xmlns:a="http://schemas.openxmlformats.org/drawingml/2006/main">
            <a:off x="685800" y="1504950"/>
            <a:ext cx="5429250" cy="4333875"/>
          </a:xfrm>
          <a:prstGeom xmlns:a="http://schemas.openxmlformats.org/drawingml/2006/main" prst="roundRect">
            <a:avLst>
              <a:gd name="adj" fmla="val 3516"/>
            </a:avLst>
          </a:prstGeom>
        </p:spPr>
      </p:pic>
      <p:sp>
        <p:nvSpPr>
          <p:cNvPr id="6" name="Rectangle 5">
            <a:extLst xmlns:a="http://schemas.openxmlformats.org/drawingml/2006/main">
              <a:ext uri="{FF2B5EF4-FFF2-40B4-BE49-F238E27FC236}">
                <a16:creationId xmlns:a16="http://schemas.microsoft.com/office/drawing/2014/main" id="{9C26F336-1B20-4F2A-9BCF-E8B6B8DBD0BE}"/>
              </a:ext>
            </a:extLst>
          </p:cNvPr>
          <p:cNvSpPr>
            <a:spLocks xmlns:a="http://schemas.openxmlformats.org/drawingml/2006/main" noGrp="1"/>
          </p:cNvSpPr>
          <p:nvPr/>
        </p:nvSpPr>
        <p:spPr>
          <a:xfrm xmlns:a="http://schemas.openxmlformats.org/drawingml/2006/main">
            <a:off x="6715125" y="15430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200" b="1">
                <a:solidFill>
                  <a:srgbClr val="13A6A2"/>
                </a:solidFill>
                <a:latin typeface="Aptos"/>
                <a:ea typeface="Aptos"/>
                <a:cs typeface="Aptos"/>
              </a:defRPr>
            </a:pPr>
            <a:r>
              <a:rPr sz="1200" b="1">
                <a:solidFill>
                  <a:srgbClr val="13A6A2"/>
                </a:solidFill>
                <a:latin typeface="Aptos"/>
                <a:ea typeface="Aptos"/>
                <a:cs typeface="Aptos"/>
              </a:rPr>
              <a:t>01</a:t>
            </a:r>
          </a:p>
        </p:txBody>
      </p:sp>
      <p:sp>
        <p:nvSpPr>
          <p:cNvPr id="7" name="Rectangle 6">
            <a:extLst xmlns:a="http://schemas.openxmlformats.org/drawingml/2006/main">
              <a:ext uri="{FF2B5EF4-FFF2-40B4-BE49-F238E27FC236}">
                <a16:creationId xmlns:a16="http://schemas.microsoft.com/office/drawing/2014/main" id="{FADBB62C-51BF-4EF2-850C-8498C9667D6A}"/>
              </a:ext>
            </a:extLst>
          </p:cNvPr>
          <p:cNvSpPr>
            <a:spLocks xmlns:a="http://schemas.openxmlformats.org/drawingml/2006/main" noGrp="1"/>
          </p:cNvSpPr>
          <p:nvPr/>
        </p:nvSpPr>
        <p:spPr>
          <a:xfrm xmlns:a="http://schemas.openxmlformats.org/drawingml/2006/main">
            <a:off x="7334250" y="15240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10283D"/>
                </a:solidFill>
                <a:latin typeface="Aptos"/>
                <a:ea typeface="Aptos"/>
                <a:cs typeface="Aptos"/>
              </a:defRPr>
            </a:pPr>
            <a:r>
              <a:rPr sz="1800" b="1">
                <a:solidFill>
                  <a:srgbClr val="10283D"/>
                </a:solidFill>
                <a:latin typeface="Aptos"/>
                <a:ea typeface="Aptos"/>
                <a:cs typeface="Aptos"/>
              </a:rPr>
              <a:t>Daily context</a:t>
            </a:r>
          </a:p>
        </p:txBody>
      </p:sp>
      <p:sp>
        <p:nvSpPr>
          <p:cNvPr id="8" name="Rectangle 7">
            <a:extLst xmlns:a="http://schemas.openxmlformats.org/drawingml/2006/main">
              <a:ext uri="{FF2B5EF4-FFF2-40B4-BE49-F238E27FC236}">
                <a16:creationId xmlns:a16="http://schemas.microsoft.com/office/drawing/2014/main" id="{D1DA3A5F-E931-4053-BB5C-9E52687E5396}"/>
              </a:ext>
            </a:extLst>
          </p:cNvPr>
          <p:cNvSpPr>
            <a:spLocks xmlns:a="http://schemas.openxmlformats.org/drawingml/2006/main" noGrp="1"/>
          </p:cNvSpPr>
          <p:nvPr/>
        </p:nvSpPr>
        <p:spPr>
          <a:xfrm xmlns:a="http://schemas.openxmlformats.org/drawingml/2006/main">
            <a:off x="7334250" y="18669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Metrics, goals, and recent changes</a:t>
            </a:r>
          </a:p>
        </p:txBody>
      </p:sp>
      <p:sp>
        <p:nvSpPr>
          <p:cNvPr id="9" name="Rectangle 8">
            <a:extLst xmlns:a="http://schemas.openxmlformats.org/drawingml/2006/main">
              <a:ext uri="{FF2B5EF4-FFF2-40B4-BE49-F238E27FC236}">
                <a16:creationId xmlns:a16="http://schemas.microsoft.com/office/drawing/2014/main" id="{04A1807D-D7E7-48E2-A869-94861E79F02E}"/>
              </a:ext>
            </a:extLst>
          </p:cNvPr>
          <p:cNvSpPr>
            <a:spLocks xmlns:a="http://schemas.openxmlformats.org/drawingml/2006/main" noGrp="1"/>
          </p:cNvSpPr>
          <p:nvPr/>
        </p:nvSpPr>
        <p:spPr>
          <a:xfrm xmlns:a="http://schemas.openxmlformats.org/drawingml/2006/main">
            <a:off x="6715125" y="2324100"/>
            <a:ext cx="4333875" cy="9525"/>
          </a:xfrm>
          <a:prstGeom xmlns:a="http://schemas.openxmlformats.org/drawingml/2006/main" prst="rect">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FACB8E20-5E79-458C-9381-88B0219F98E0}"/>
              </a:ext>
            </a:extLst>
          </p:cNvPr>
          <p:cNvSpPr>
            <a:spLocks xmlns:a="http://schemas.openxmlformats.org/drawingml/2006/main" noGrp="1"/>
          </p:cNvSpPr>
          <p:nvPr/>
        </p:nvSpPr>
        <p:spPr>
          <a:xfrm xmlns:a="http://schemas.openxmlformats.org/drawingml/2006/main">
            <a:off x="6715125" y="25717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200" b="1">
                <a:solidFill>
                  <a:srgbClr val="13A6A2"/>
                </a:solidFill>
                <a:latin typeface="Aptos"/>
                <a:ea typeface="Aptos"/>
                <a:cs typeface="Aptos"/>
              </a:defRPr>
            </a:pPr>
            <a:r>
              <a:rPr sz="1200" b="1">
                <a:solidFill>
                  <a:srgbClr val="13A6A2"/>
                </a:solidFill>
                <a:latin typeface="Aptos"/>
                <a:ea typeface="Aptos"/>
                <a:cs typeface="Aptos"/>
              </a:rPr>
              <a:t>02</a:t>
            </a:r>
          </a:p>
        </p:txBody>
      </p:sp>
      <p:sp>
        <p:nvSpPr>
          <p:cNvPr id="11" name="Rectangle 10">
            <a:extLst xmlns:a="http://schemas.openxmlformats.org/drawingml/2006/main">
              <a:ext uri="{FF2B5EF4-FFF2-40B4-BE49-F238E27FC236}">
                <a16:creationId xmlns:a16="http://schemas.microsoft.com/office/drawing/2014/main" id="{8018AF06-FF36-4187-A4CD-E0231880B685}"/>
              </a:ext>
            </a:extLst>
          </p:cNvPr>
          <p:cNvSpPr>
            <a:spLocks xmlns:a="http://schemas.openxmlformats.org/drawingml/2006/main" noGrp="1"/>
          </p:cNvSpPr>
          <p:nvPr/>
        </p:nvSpPr>
        <p:spPr>
          <a:xfrm xmlns:a="http://schemas.openxmlformats.org/drawingml/2006/main">
            <a:off x="7334250" y="25527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10283D"/>
                </a:solidFill>
                <a:latin typeface="Aptos"/>
                <a:ea typeface="Aptos"/>
                <a:cs typeface="Aptos"/>
              </a:defRPr>
            </a:pPr>
            <a:r>
              <a:rPr sz="1800" b="1">
                <a:solidFill>
                  <a:srgbClr val="10283D"/>
                </a:solidFill>
                <a:latin typeface="Aptos"/>
                <a:ea typeface="Aptos"/>
                <a:cs typeface="Aptos"/>
              </a:rPr>
              <a:t>Cycle estimation</a:t>
            </a:r>
          </a:p>
        </p:txBody>
      </p:sp>
      <p:sp>
        <p:nvSpPr>
          <p:cNvPr id="12" name="Rectangle 11">
            <a:extLst xmlns:a="http://schemas.openxmlformats.org/drawingml/2006/main">
              <a:ext uri="{FF2B5EF4-FFF2-40B4-BE49-F238E27FC236}">
                <a16:creationId xmlns:a16="http://schemas.microsoft.com/office/drawing/2014/main" id="{16F16FE5-0380-470A-BD8C-053D376C4C8A}"/>
              </a:ext>
            </a:extLst>
          </p:cNvPr>
          <p:cNvSpPr>
            <a:spLocks xmlns:a="http://schemas.openxmlformats.org/drawingml/2006/main" noGrp="1"/>
          </p:cNvSpPr>
          <p:nvPr/>
        </p:nvSpPr>
        <p:spPr>
          <a:xfrm xmlns:a="http://schemas.openxmlformats.org/drawingml/2006/main">
            <a:off x="7334250" y="28956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History, range, and confidence</a:t>
            </a:r>
          </a:p>
        </p:txBody>
      </p:sp>
      <p:sp>
        <p:nvSpPr>
          <p:cNvPr id="13" name="Rectangle 12">
            <a:extLst xmlns:a="http://schemas.openxmlformats.org/drawingml/2006/main">
              <a:ext uri="{FF2B5EF4-FFF2-40B4-BE49-F238E27FC236}">
                <a16:creationId xmlns:a16="http://schemas.microsoft.com/office/drawing/2014/main" id="{E08672E4-6623-4987-B927-58FFA5746195}"/>
              </a:ext>
            </a:extLst>
          </p:cNvPr>
          <p:cNvSpPr>
            <a:spLocks xmlns:a="http://schemas.openxmlformats.org/drawingml/2006/main" noGrp="1"/>
          </p:cNvSpPr>
          <p:nvPr/>
        </p:nvSpPr>
        <p:spPr>
          <a:xfrm xmlns:a="http://schemas.openxmlformats.org/drawingml/2006/main">
            <a:off x="6715125" y="3352800"/>
            <a:ext cx="4333875" cy="9525"/>
          </a:xfrm>
          <a:prstGeom xmlns:a="http://schemas.openxmlformats.org/drawingml/2006/main" prst="rect">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4" name="Rectangle 13">
            <a:extLst xmlns:a="http://schemas.openxmlformats.org/drawingml/2006/main">
              <a:ext uri="{FF2B5EF4-FFF2-40B4-BE49-F238E27FC236}">
                <a16:creationId xmlns:a16="http://schemas.microsoft.com/office/drawing/2014/main" id="{A8331AD9-EF19-4817-847F-0EEAAAD890F7}"/>
              </a:ext>
            </a:extLst>
          </p:cNvPr>
          <p:cNvSpPr>
            <a:spLocks xmlns:a="http://schemas.openxmlformats.org/drawingml/2006/main" noGrp="1"/>
          </p:cNvSpPr>
          <p:nvPr/>
        </p:nvSpPr>
        <p:spPr>
          <a:xfrm xmlns:a="http://schemas.openxmlformats.org/drawingml/2006/main">
            <a:off x="6715125" y="3600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200" b="1">
                <a:solidFill>
                  <a:srgbClr val="13A6A2"/>
                </a:solidFill>
                <a:latin typeface="Aptos"/>
                <a:ea typeface="Aptos"/>
                <a:cs typeface="Aptos"/>
              </a:defRPr>
            </a:pPr>
            <a:r>
              <a:rPr sz="1200" b="1">
                <a:solidFill>
                  <a:srgbClr val="13A6A2"/>
                </a:solidFill>
                <a:latin typeface="Aptos"/>
                <a:ea typeface="Aptos"/>
                <a:cs typeface="Aptos"/>
              </a:rPr>
              <a:t>03</a:t>
            </a:r>
          </a:p>
        </p:txBody>
      </p:sp>
      <p:sp>
        <p:nvSpPr>
          <p:cNvPr id="15" name="Rectangle 14">
            <a:extLst xmlns:a="http://schemas.openxmlformats.org/drawingml/2006/main">
              <a:ext uri="{FF2B5EF4-FFF2-40B4-BE49-F238E27FC236}">
                <a16:creationId xmlns:a16="http://schemas.microsoft.com/office/drawing/2014/main" id="{AAE623CB-94D4-485E-B375-0C807E75956A}"/>
              </a:ext>
            </a:extLst>
          </p:cNvPr>
          <p:cNvSpPr>
            <a:spLocks xmlns:a="http://schemas.openxmlformats.org/drawingml/2006/main" noGrp="1"/>
          </p:cNvSpPr>
          <p:nvPr/>
        </p:nvSpPr>
        <p:spPr>
          <a:xfrm xmlns:a="http://schemas.openxmlformats.org/drawingml/2006/main">
            <a:off x="7334250" y="35814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10283D"/>
                </a:solidFill>
                <a:latin typeface="Aptos"/>
                <a:ea typeface="Aptos"/>
                <a:cs typeface="Aptos"/>
              </a:defRPr>
            </a:pPr>
            <a:r>
              <a:rPr sz="1800" b="1">
                <a:solidFill>
                  <a:srgbClr val="10283D"/>
                </a:solidFill>
                <a:latin typeface="Aptos"/>
                <a:ea typeface="Aptos"/>
                <a:cs typeface="Aptos"/>
              </a:rPr>
              <a:t>Model transparency</a:t>
            </a:r>
          </a:p>
        </p:txBody>
      </p:sp>
      <p:sp>
        <p:nvSpPr>
          <p:cNvPr id="16" name="Rectangle 15">
            <a:extLst xmlns:a="http://schemas.openxmlformats.org/drawingml/2006/main">
              <a:ext uri="{FF2B5EF4-FFF2-40B4-BE49-F238E27FC236}">
                <a16:creationId xmlns:a16="http://schemas.microsoft.com/office/drawing/2014/main" id="{23958588-BE97-46F6-A3ED-13C4B2D7E4D1}"/>
              </a:ext>
            </a:extLst>
          </p:cNvPr>
          <p:cNvSpPr>
            <a:spLocks xmlns:a="http://schemas.openxmlformats.org/drawingml/2006/main" noGrp="1"/>
          </p:cNvSpPr>
          <p:nvPr/>
        </p:nvSpPr>
        <p:spPr>
          <a:xfrm xmlns:a="http://schemas.openxmlformats.org/drawingml/2006/main">
            <a:off x="7334250" y="39243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Scores, factors, and performance</a:t>
            </a:r>
          </a:p>
        </p:txBody>
      </p:sp>
      <p:sp>
        <p:nvSpPr>
          <p:cNvPr id="17" name="Rectangle 16">
            <a:extLst xmlns:a="http://schemas.openxmlformats.org/drawingml/2006/main">
              <a:ext uri="{FF2B5EF4-FFF2-40B4-BE49-F238E27FC236}">
                <a16:creationId xmlns:a16="http://schemas.microsoft.com/office/drawing/2014/main" id="{63A78A60-CFB0-4A55-B4B4-9B01971648FB}"/>
              </a:ext>
            </a:extLst>
          </p:cNvPr>
          <p:cNvSpPr>
            <a:spLocks xmlns:a="http://schemas.openxmlformats.org/drawingml/2006/main" noGrp="1"/>
          </p:cNvSpPr>
          <p:nvPr/>
        </p:nvSpPr>
        <p:spPr>
          <a:xfrm xmlns:a="http://schemas.openxmlformats.org/drawingml/2006/main">
            <a:off x="6715125" y="4381500"/>
            <a:ext cx="4333875" cy="9525"/>
          </a:xfrm>
          <a:prstGeom xmlns:a="http://schemas.openxmlformats.org/drawingml/2006/main" prst="rect">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Rectangle 17">
            <a:extLst xmlns:a="http://schemas.openxmlformats.org/drawingml/2006/main">
              <a:ext uri="{FF2B5EF4-FFF2-40B4-BE49-F238E27FC236}">
                <a16:creationId xmlns:a16="http://schemas.microsoft.com/office/drawing/2014/main" id="{BE14302B-8898-492E-BDFD-BBA9E84B5F46}"/>
              </a:ext>
            </a:extLst>
          </p:cNvPr>
          <p:cNvSpPr>
            <a:spLocks xmlns:a="http://schemas.openxmlformats.org/drawingml/2006/main" noGrp="1"/>
          </p:cNvSpPr>
          <p:nvPr/>
        </p:nvSpPr>
        <p:spPr>
          <a:xfrm xmlns:a="http://schemas.openxmlformats.org/drawingml/2006/main">
            <a:off x="6715125" y="4629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200" b="1">
                <a:solidFill>
                  <a:srgbClr val="13A6A2"/>
                </a:solidFill>
                <a:latin typeface="Aptos"/>
                <a:ea typeface="Aptos"/>
                <a:cs typeface="Aptos"/>
              </a:defRPr>
            </a:pPr>
            <a:r>
              <a:rPr sz="1200" b="1">
                <a:solidFill>
                  <a:srgbClr val="13A6A2"/>
                </a:solidFill>
                <a:latin typeface="Aptos"/>
                <a:ea typeface="Aptos"/>
                <a:cs typeface="Aptos"/>
              </a:rPr>
              <a:t>04</a:t>
            </a:r>
          </a:p>
        </p:txBody>
      </p:sp>
      <p:sp>
        <p:nvSpPr>
          <p:cNvPr id="19" name="Rectangle 18">
            <a:extLst xmlns:a="http://schemas.openxmlformats.org/drawingml/2006/main">
              <a:ext uri="{FF2B5EF4-FFF2-40B4-BE49-F238E27FC236}">
                <a16:creationId xmlns:a16="http://schemas.microsoft.com/office/drawing/2014/main" id="{A6E82802-BDA6-4B8B-810B-9BF5A7568DD2}"/>
              </a:ext>
            </a:extLst>
          </p:cNvPr>
          <p:cNvSpPr>
            <a:spLocks xmlns:a="http://schemas.openxmlformats.org/drawingml/2006/main" noGrp="1"/>
          </p:cNvSpPr>
          <p:nvPr/>
        </p:nvSpPr>
        <p:spPr>
          <a:xfrm xmlns:a="http://schemas.openxmlformats.org/drawingml/2006/main">
            <a:off x="7334250" y="46101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10283D"/>
                </a:solidFill>
                <a:latin typeface="Aptos"/>
                <a:ea typeface="Aptos"/>
                <a:cs typeface="Aptos"/>
              </a:defRPr>
            </a:pPr>
            <a:r>
              <a:rPr sz="1800" b="1">
                <a:solidFill>
                  <a:srgbClr val="10283D"/>
                </a:solidFill>
                <a:latin typeface="Aptos"/>
                <a:ea typeface="Aptos"/>
                <a:cs typeface="Aptos"/>
              </a:rPr>
              <a:t>AI explanation</a:t>
            </a:r>
          </a:p>
        </p:txBody>
      </p:sp>
      <p:sp>
        <p:nvSpPr>
          <p:cNvPr id="20" name="Rectangle 19">
            <a:extLst xmlns:a="http://schemas.openxmlformats.org/drawingml/2006/main">
              <a:ext uri="{FF2B5EF4-FFF2-40B4-BE49-F238E27FC236}">
                <a16:creationId xmlns:a16="http://schemas.microsoft.com/office/drawing/2014/main" id="{9407C8D0-FED0-4140-AF9F-9EB13A8CEC3E}"/>
              </a:ext>
            </a:extLst>
          </p:cNvPr>
          <p:cNvSpPr>
            <a:spLocks xmlns:a="http://schemas.openxmlformats.org/drawingml/2006/main" noGrp="1"/>
          </p:cNvSpPr>
          <p:nvPr/>
        </p:nvSpPr>
        <p:spPr>
          <a:xfrm xmlns:a="http://schemas.openxmlformats.org/drawingml/2006/main">
            <a:off x="7334250" y="49530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Short guidance tied to a result</a:t>
            </a:r>
          </a:p>
        </p:txBody>
      </p:sp>
      <p:sp>
        <p:nvSpPr>
          <p:cNvPr id="21" name="Rectangle 20">
            <a:extLst xmlns:a="http://schemas.openxmlformats.org/drawingml/2006/main">
              <a:ext uri="{FF2B5EF4-FFF2-40B4-BE49-F238E27FC236}">
                <a16:creationId xmlns:a16="http://schemas.microsoft.com/office/drawing/2014/main" id="{CFF0AB47-2F23-47F0-B1E4-F712BD9507CC}"/>
              </a:ext>
            </a:extLst>
          </p:cNvPr>
          <p:cNvSpPr>
            <a:spLocks xmlns:a="http://schemas.openxmlformats.org/drawingml/2006/main" noGrp="1"/>
          </p:cNvSpPr>
          <p:nvPr/>
        </p:nvSpPr>
        <p:spPr>
          <a:xfrm xmlns:a="http://schemas.openxmlformats.org/drawingml/2006/main">
            <a:off x="6715125" y="5410200"/>
            <a:ext cx="4333875" cy="9525"/>
          </a:xfrm>
          <a:prstGeom xmlns:a="http://schemas.openxmlformats.org/drawingml/2006/main" prst="rect">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2" name="Rectangle 21">
            <a:extLst xmlns:a="http://schemas.openxmlformats.org/drawingml/2006/main">
              <a:ext uri="{FF2B5EF4-FFF2-40B4-BE49-F238E27FC236}">
                <a16:creationId xmlns:a16="http://schemas.microsoft.com/office/drawing/2014/main" id="{BE5DAB9D-01FE-4E08-88FE-A19DE90F021D}"/>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23" name="Rectangle 22">
            <a:extLst xmlns:a="http://schemas.openxmlformats.org/drawingml/2006/main">
              <a:ext uri="{FF2B5EF4-FFF2-40B4-BE49-F238E27FC236}">
                <a16:creationId xmlns:a16="http://schemas.microsoft.com/office/drawing/2014/main" id="{83E68612-A364-440D-A08E-0EAE4DA097D4}"/>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05</a:t>
            </a:r>
          </a:p>
        </p:txBody>
      </p:sp>
    </p:spTree>
    <p:extLst>
      <p:ext uri="{BB962C8B-B14F-4D97-AF65-F5344CB8AC3E}">
        <p14:creationId xmlns:p14="http://schemas.microsoft.com/office/powerpoint/2010/main" val="327710604"/>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32" name="slide-title">
            <a:extLst xmlns:a="http://schemas.openxmlformats.org/drawingml/2006/main">
              <a:ext uri="{FF2B5EF4-FFF2-40B4-BE49-F238E27FC236}">
                <a16:creationId xmlns:a16="http://schemas.microsoft.com/office/drawing/2014/main" id="{322B254C-6727-4F0C-9513-CC964961B925}"/>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Public research data stays separate from the app</a:t>
            </a:r>
          </a:p>
        </p:txBody>
      </p:sp>
      <p:sp>
        <p:nvSpPr>
          <p:cNvPr id="2" name="Rectangle: Rounded Corners 1">
            <a:extLst xmlns:a="http://schemas.openxmlformats.org/drawingml/2006/main">
              <a:ext uri="{FF2B5EF4-FFF2-40B4-BE49-F238E27FC236}">
                <a16:creationId xmlns:a16="http://schemas.microsoft.com/office/drawing/2014/main" id="{F58ED0AC-964D-46F3-BBDC-4FB15920FDAC}"/>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926233B9-7505-42D6-A706-AD35CC9ED78C}"/>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CDC and NHANES datasets support model testing. Fictional profiles demonstrate the interface.</a:t>
            </a:r>
          </a:p>
        </p:txBody>
      </p:sp>
      <p:sp>
        <p:nvSpPr>
          <p:cNvPr id="4" name="Straight Connector 3">
            <a:extLst xmlns:a="http://schemas.openxmlformats.org/drawingml/2006/main">
              <a:ext uri="{FF2B5EF4-FFF2-40B4-BE49-F238E27FC236}">
                <a16:creationId xmlns:a16="http://schemas.microsoft.com/office/drawing/2014/main" id="{D24E4426-E16F-4F72-90C3-0F85939C371C}"/>
              </a:ext>
            </a:extLst>
          </p:cNvPr>
          <p:cNvSpPr>
            <a:spLocks xmlns:a="http://schemas.openxmlformats.org/drawingml/2006/main" noGrp="1"/>
          </p:cNvSpPr>
          <p:nvPr/>
        </p:nvSpPr>
        <p:spPr>
          <a:xfrm xmlns:a="http://schemas.openxmlformats.org/drawingml/2006/main">
            <a:off x="2257425" y="2952750"/>
            <a:ext cx="600075" cy="0"/>
          </a:xfrm>
          <a:prstGeom xmlns:a="http://schemas.openxmlformats.org/drawingml/2006/main" prst="line">
            <a:avLst/>
          </a:prstGeom>
          <a:noFill xmlns:a="http://schemas.openxmlformats.org/drawingml/2006/main"/>
          <a:ln xmlns:a="http://schemas.openxmlformats.org/drawingml/2006/main" w="38100">
            <a:solidFill>
              <a:srgbClr val="13A6A2"/>
            </a:solidFill>
            <a:prstDash val="solid"/>
          </a:ln>
        </p:spPr>
        <p:txBody>
          <a:bodyPr xmlns:a="http://schemas.openxmlformats.org/drawingml/2006/main"/>
          <a:lstStyle xmlns:a="http://schemas.openxmlformats.org/drawingml/2006/main"/>
          <a:p xmlns:a="http://schemas.openxmlformats.org/drawingml/2006/main"/>
        </p:txBody>
      </p:sp>
      <p:sp>
        <p:nvSpPr>
          <p:cNvPr id="5" name="Straight Connector 4">
            <a:extLst xmlns:a="http://schemas.openxmlformats.org/drawingml/2006/main">
              <a:ext uri="{FF2B5EF4-FFF2-40B4-BE49-F238E27FC236}">
                <a16:creationId xmlns:a16="http://schemas.microsoft.com/office/drawing/2014/main" id="{9589B06E-BDC3-4937-9141-45C772ABA808}"/>
              </a:ext>
            </a:extLst>
          </p:cNvPr>
          <p:cNvSpPr>
            <a:spLocks xmlns:a="http://schemas.openxmlformats.org/drawingml/2006/main" noGrp="1"/>
          </p:cNvSpPr>
          <p:nvPr/>
        </p:nvSpPr>
        <p:spPr>
          <a:xfrm xmlns:a="http://schemas.openxmlformats.org/drawingml/2006/main">
            <a:off x="4429125" y="2952750"/>
            <a:ext cx="600075" cy="0"/>
          </a:xfrm>
          <a:prstGeom xmlns:a="http://schemas.openxmlformats.org/drawingml/2006/main" prst="line">
            <a:avLst/>
          </a:prstGeom>
          <a:noFill xmlns:a="http://schemas.openxmlformats.org/drawingml/2006/main"/>
          <a:ln xmlns:a="http://schemas.openxmlformats.org/drawingml/2006/main" w="38100">
            <a:solidFill>
              <a:srgbClr val="13A6A2"/>
            </a:solidFill>
            <a:prstDash val="solid"/>
          </a:ln>
        </p:spPr>
        <p:txBody>
          <a:bodyPr xmlns:a="http://schemas.openxmlformats.org/drawingml/2006/main"/>
          <a:lstStyle xmlns:a="http://schemas.openxmlformats.org/drawingml/2006/main"/>
          <a:p xmlns:a="http://schemas.openxmlformats.org/drawingml/2006/main"/>
        </p:txBody>
      </p:sp>
      <p:sp>
        <p:nvSpPr>
          <p:cNvPr id="6" name="Straight Connector 5">
            <a:extLst xmlns:a="http://schemas.openxmlformats.org/drawingml/2006/main">
              <a:ext uri="{FF2B5EF4-FFF2-40B4-BE49-F238E27FC236}">
                <a16:creationId xmlns:a16="http://schemas.microsoft.com/office/drawing/2014/main" id="{12117302-6342-4BAF-BA0B-C06C8F59383C}"/>
              </a:ext>
            </a:extLst>
          </p:cNvPr>
          <p:cNvSpPr>
            <a:spLocks xmlns:a="http://schemas.openxmlformats.org/drawingml/2006/main" noGrp="1"/>
          </p:cNvSpPr>
          <p:nvPr/>
        </p:nvSpPr>
        <p:spPr>
          <a:xfrm xmlns:a="http://schemas.openxmlformats.org/drawingml/2006/main">
            <a:off x="6600825" y="2952750"/>
            <a:ext cx="600075" cy="0"/>
          </a:xfrm>
          <a:prstGeom xmlns:a="http://schemas.openxmlformats.org/drawingml/2006/main" prst="line">
            <a:avLst/>
          </a:prstGeom>
          <a:noFill xmlns:a="http://schemas.openxmlformats.org/drawingml/2006/main"/>
          <a:ln xmlns:a="http://schemas.openxmlformats.org/drawingml/2006/main" w="38100">
            <a:solidFill>
              <a:srgbClr val="13A6A2"/>
            </a:solidFill>
            <a:prstDash val="solid"/>
          </a:ln>
        </p:spPr>
        <p:txBody>
          <a:bodyPr xmlns:a="http://schemas.openxmlformats.org/drawingml/2006/main"/>
          <a:lstStyle xmlns:a="http://schemas.openxmlformats.org/drawingml/2006/main"/>
          <a:p xmlns:a="http://schemas.openxmlformats.org/drawingml/2006/main"/>
        </p:txBody>
      </p:sp>
      <p:sp>
        <p:nvSpPr>
          <p:cNvPr id="7" name="Straight Connector 6">
            <a:extLst xmlns:a="http://schemas.openxmlformats.org/drawingml/2006/main">
              <a:ext uri="{FF2B5EF4-FFF2-40B4-BE49-F238E27FC236}">
                <a16:creationId xmlns:a16="http://schemas.microsoft.com/office/drawing/2014/main" id="{A7059CBF-28E0-4753-B6F7-D7C075EAE85B}"/>
              </a:ext>
            </a:extLst>
          </p:cNvPr>
          <p:cNvSpPr>
            <a:spLocks xmlns:a="http://schemas.openxmlformats.org/drawingml/2006/main" noGrp="1"/>
          </p:cNvSpPr>
          <p:nvPr/>
        </p:nvSpPr>
        <p:spPr>
          <a:xfrm xmlns:a="http://schemas.openxmlformats.org/drawingml/2006/main">
            <a:off x="8772525" y="2952750"/>
            <a:ext cx="600075" cy="0"/>
          </a:xfrm>
          <a:prstGeom xmlns:a="http://schemas.openxmlformats.org/drawingml/2006/main" prst="line">
            <a:avLst/>
          </a:prstGeom>
          <a:noFill xmlns:a="http://schemas.openxmlformats.org/drawingml/2006/main"/>
          <a:ln xmlns:a="http://schemas.openxmlformats.org/drawingml/2006/main" w="38100">
            <a:solidFill>
              <a:srgbClr val="13A6A2"/>
            </a:solidFill>
            <a:prstDash val="solid"/>
          </a:ln>
        </p:spPr>
        <p:txBody>
          <a:bodyPr xmlns:a="http://schemas.openxmlformats.org/drawingml/2006/main"/>
          <a:lstStyle xmlns:a="http://schemas.openxmlformats.org/drawingml/2006/main"/>
          <a:p xmlns:a="http://schemas.openxmlformats.org/drawingml/2006/main"/>
        </p:txBody>
      </p:sp>
      <p:sp>
        <p:nvSpPr>
          <p:cNvPr id="8" name="Rectangle: Rounded Corners 7">
            <a:extLst xmlns:a="http://schemas.openxmlformats.org/drawingml/2006/main">
              <a:ext uri="{FF2B5EF4-FFF2-40B4-BE49-F238E27FC236}">
                <a16:creationId xmlns:a16="http://schemas.microsoft.com/office/drawing/2014/main" id="{1E77D87E-E510-4FA7-B5AF-111802337AD1}"/>
              </a:ext>
            </a:extLst>
          </p:cNvPr>
          <p:cNvSpPr>
            <a:spLocks xmlns:a="http://schemas.openxmlformats.org/drawingml/2006/main" noGrp="1"/>
          </p:cNvSpPr>
          <p:nvPr/>
        </p:nvSpPr>
        <p:spPr>
          <a:xfrm xmlns:a="http://schemas.openxmlformats.org/drawingml/2006/main">
            <a:off x="685800" y="2381250"/>
            <a:ext cx="1571625" cy="1428750"/>
          </a:xfrm>
          <a:prstGeom xmlns:a="http://schemas.openxmlformats.org/drawingml/2006/main" prst="roundRect">
            <a:avLst>
              <a:gd name="adj" fmla="val 13333"/>
            </a:avLst>
          </a:prstGeom>
          <a:solidFill xmlns:a="http://schemas.openxmlformats.org/drawingml/2006/main">
            <a:srgbClr val="EAF3FA"/>
          </a:solidFill>
          <a:ln xmlns:a="http://schemas.openxmlformats.org/drawingml/2006/main" w="9525">
            <a:solidFill>
              <a:srgbClr val="BED5E5"/>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48506763-0112-4176-8C60-4B5682A1B4E7}"/>
              </a:ext>
            </a:extLst>
          </p:cNvPr>
          <p:cNvSpPr>
            <a:spLocks xmlns:a="http://schemas.openxmlformats.org/drawingml/2006/main" noGrp="1"/>
          </p:cNvSpPr>
          <p:nvPr/>
        </p:nvSpPr>
        <p:spPr>
          <a:xfrm xmlns:a="http://schemas.openxmlformats.org/drawingml/2006/main">
            <a:off x="857250" y="25336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01</a:t>
            </a:r>
          </a:p>
        </p:txBody>
      </p:sp>
      <p:sp>
        <p:nvSpPr>
          <p:cNvPr id="10" name="Rectangle 9">
            <a:extLst xmlns:a="http://schemas.openxmlformats.org/drawingml/2006/main">
              <a:ext uri="{FF2B5EF4-FFF2-40B4-BE49-F238E27FC236}">
                <a16:creationId xmlns:a16="http://schemas.microsoft.com/office/drawing/2014/main" id="{2BA9C746-3E69-417D-8E8E-EA6BFA3FAFB3}"/>
              </a:ext>
            </a:extLst>
          </p:cNvPr>
          <p:cNvSpPr>
            <a:spLocks xmlns:a="http://schemas.openxmlformats.org/drawingml/2006/main" noGrp="1"/>
          </p:cNvSpPr>
          <p:nvPr/>
        </p:nvSpPr>
        <p:spPr>
          <a:xfrm xmlns:a="http://schemas.openxmlformats.org/drawingml/2006/main">
            <a:off x="857250" y="2838450"/>
            <a:ext cx="123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70"/>
          </a:bodyPr>
          <a:lstStyle xmlns:a="http://schemas.openxmlformats.org/drawingml/2006/main"/>
          <a:p xmlns:a="http://schemas.openxmlformats.org/drawingml/2006/main">
            <a:pPr algn="l">
              <a:lnSpc>
                <a:spcPct val="100000"/>
              </a:lnSpc>
              <a:buNone/>
              <a:defRPr sz="1575" b="1">
                <a:solidFill>
                  <a:srgbClr val="10283D"/>
                </a:solidFill>
                <a:latin typeface="Aptos"/>
                <a:ea typeface="Aptos"/>
                <a:cs typeface="Aptos"/>
              </a:defRPr>
            </a:pPr>
            <a:r>
              <a:rPr sz="1575" b="1">
                <a:solidFill>
                  <a:srgbClr val="10283D"/>
                </a:solidFill>
                <a:latin typeface="Aptos"/>
                <a:ea typeface="Aptos"/>
                <a:cs typeface="Aptos"/>
              </a:rPr>
              <a:t>CDC and NHANES</a:t>
            </a:r>
          </a:p>
        </p:txBody>
      </p:sp>
      <p:sp>
        <p:nvSpPr>
          <p:cNvPr id="11" name="Rectangle 10">
            <a:extLst xmlns:a="http://schemas.openxmlformats.org/drawingml/2006/main">
              <a:ext uri="{FF2B5EF4-FFF2-40B4-BE49-F238E27FC236}">
                <a16:creationId xmlns:a16="http://schemas.microsoft.com/office/drawing/2014/main" id="{416A5DAF-6427-4AF5-8C71-CFBFE361991E}"/>
              </a:ext>
            </a:extLst>
          </p:cNvPr>
          <p:cNvSpPr>
            <a:spLocks xmlns:a="http://schemas.openxmlformats.org/drawingml/2006/main" noGrp="1"/>
          </p:cNvSpPr>
          <p:nvPr/>
        </p:nvSpPr>
        <p:spPr>
          <a:xfrm xmlns:a="http://schemas.openxmlformats.org/drawingml/2006/main">
            <a:off x="857250" y="3371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23"/>
          </a:bodyPr>
          <a:lstStyle xmlns:a="http://schemas.openxmlformats.org/drawingml/2006/main"/>
          <a:p xmlns:a="http://schemas.openxmlformats.org/drawingml/2006/main">
            <a:pPr algn="l">
              <a:lnSpc>
                <a:spcPct val="100000"/>
              </a:lnSpc>
              <a:buNone/>
              <a:defRPr sz="1125" b="0">
                <a:solidFill>
                  <a:srgbClr val="5D7180"/>
                </a:solidFill>
                <a:latin typeface="Aptos"/>
                <a:ea typeface="Aptos"/>
                <a:cs typeface="Aptos"/>
              </a:defRPr>
            </a:pPr>
            <a:r>
              <a:rPr sz="1125" b="0">
                <a:solidFill>
                  <a:srgbClr val="5D7180"/>
                </a:solidFill>
                <a:latin typeface="Aptos"/>
                <a:ea typeface="Aptos"/>
                <a:cs typeface="Aptos"/>
              </a:rPr>
              <a:t>Public research data</a:t>
            </a:r>
          </a:p>
        </p:txBody>
      </p:sp>
      <p:sp>
        <p:nvSpPr>
          <p:cNvPr id="12" name="Rectangle: Rounded Corners 11">
            <a:extLst xmlns:a="http://schemas.openxmlformats.org/drawingml/2006/main">
              <a:ext uri="{FF2B5EF4-FFF2-40B4-BE49-F238E27FC236}">
                <a16:creationId xmlns:a16="http://schemas.microsoft.com/office/drawing/2014/main" id="{AEC43C5E-675D-4B38-A28D-81AEDA5839F0}"/>
              </a:ext>
            </a:extLst>
          </p:cNvPr>
          <p:cNvSpPr>
            <a:spLocks xmlns:a="http://schemas.openxmlformats.org/drawingml/2006/main" noGrp="1"/>
          </p:cNvSpPr>
          <p:nvPr/>
        </p:nvSpPr>
        <p:spPr>
          <a:xfrm xmlns:a="http://schemas.openxmlformats.org/drawingml/2006/main">
            <a:off x="2857500" y="2381250"/>
            <a:ext cx="1571625" cy="1428750"/>
          </a:xfrm>
          <a:prstGeom xmlns:a="http://schemas.openxmlformats.org/drawingml/2006/main" prst="roundRect">
            <a:avLst>
              <a:gd name="adj" fmla="val 13333"/>
            </a:avLst>
          </a:prstGeom>
          <a:solidFill xmlns:a="http://schemas.openxmlformats.org/drawingml/2006/main">
            <a:srgbClr val="EAF3FA"/>
          </a:solidFill>
          <a:ln xmlns:a="http://schemas.openxmlformats.org/drawingml/2006/main" w="9525">
            <a:solidFill>
              <a:srgbClr val="BED5E5"/>
            </a:solidFill>
            <a:prstDash val="solid"/>
          </a:ln>
        </p:spPr>
        <p:txBody>
          <a:bodyPr xmlns:a="http://schemas.openxmlformats.org/drawingml/2006/main"/>
          <a:lstStyle xmlns:a="http://schemas.openxmlformats.org/drawingml/2006/main"/>
          <a:p xmlns:a="http://schemas.openxmlformats.org/drawingml/2006/main"/>
        </p:txBody>
      </p:sp>
      <p:sp>
        <p:nvSpPr>
          <p:cNvPr id="13" name="Rectangle 12">
            <a:extLst xmlns:a="http://schemas.openxmlformats.org/drawingml/2006/main">
              <a:ext uri="{FF2B5EF4-FFF2-40B4-BE49-F238E27FC236}">
                <a16:creationId xmlns:a16="http://schemas.microsoft.com/office/drawing/2014/main" id="{4377535B-F0F7-4C88-AF0C-48B54B5A0EE6}"/>
              </a:ext>
            </a:extLst>
          </p:cNvPr>
          <p:cNvSpPr>
            <a:spLocks xmlns:a="http://schemas.openxmlformats.org/drawingml/2006/main" noGrp="1"/>
          </p:cNvSpPr>
          <p:nvPr/>
        </p:nvSpPr>
        <p:spPr>
          <a:xfrm xmlns:a="http://schemas.openxmlformats.org/drawingml/2006/main">
            <a:off x="3028950" y="25336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02</a:t>
            </a:r>
          </a:p>
        </p:txBody>
      </p:sp>
      <p:sp>
        <p:nvSpPr>
          <p:cNvPr id="14" name="Rectangle 13">
            <a:extLst xmlns:a="http://schemas.openxmlformats.org/drawingml/2006/main">
              <a:ext uri="{FF2B5EF4-FFF2-40B4-BE49-F238E27FC236}">
                <a16:creationId xmlns:a16="http://schemas.microsoft.com/office/drawing/2014/main" id="{9412FB6C-AAD5-47ED-A8DB-E94641442646}"/>
              </a:ext>
            </a:extLst>
          </p:cNvPr>
          <p:cNvSpPr>
            <a:spLocks xmlns:a="http://schemas.openxmlformats.org/drawingml/2006/main" noGrp="1"/>
          </p:cNvSpPr>
          <p:nvPr/>
        </p:nvSpPr>
        <p:spPr>
          <a:xfrm xmlns:a="http://schemas.openxmlformats.org/drawingml/2006/main">
            <a:off x="3028950" y="2838450"/>
            <a:ext cx="123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70"/>
          </a:bodyPr>
          <a:lstStyle xmlns:a="http://schemas.openxmlformats.org/drawingml/2006/main"/>
          <a:p xmlns:a="http://schemas.openxmlformats.org/drawingml/2006/main">
            <a:pPr algn="l">
              <a:lnSpc>
                <a:spcPct val="100000"/>
              </a:lnSpc>
              <a:buNone/>
              <a:defRPr sz="1575" b="1">
                <a:solidFill>
                  <a:srgbClr val="10283D"/>
                </a:solidFill>
                <a:latin typeface="Aptos"/>
                <a:ea typeface="Aptos"/>
                <a:cs typeface="Aptos"/>
              </a:defRPr>
            </a:pPr>
            <a:r>
              <a:rPr sz="1575" b="1">
                <a:solidFill>
                  <a:srgbClr val="10283D"/>
                </a:solidFill>
                <a:latin typeface="Aptos"/>
                <a:ea typeface="Aptos"/>
                <a:cs typeface="Aptos"/>
              </a:rPr>
              <a:t>Model experiments</a:t>
            </a:r>
          </a:p>
        </p:txBody>
      </p:sp>
      <p:sp>
        <p:nvSpPr>
          <p:cNvPr id="15" name="Rectangle 14">
            <a:extLst xmlns:a="http://schemas.openxmlformats.org/drawingml/2006/main">
              <a:ext uri="{FF2B5EF4-FFF2-40B4-BE49-F238E27FC236}">
                <a16:creationId xmlns:a16="http://schemas.microsoft.com/office/drawing/2014/main" id="{F19F4AC0-8F74-433B-8A28-6F988D322383}"/>
              </a:ext>
            </a:extLst>
          </p:cNvPr>
          <p:cNvSpPr>
            <a:spLocks xmlns:a="http://schemas.openxmlformats.org/drawingml/2006/main" noGrp="1"/>
          </p:cNvSpPr>
          <p:nvPr/>
        </p:nvSpPr>
        <p:spPr>
          <a:xfrm xmlns:a="http://schemas.openxmlformats.org/drawingml/2006/main">
            <a:off x="3028950" y="3371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0">
                <a:solidFill>
                  <a:srgbClr val="5D7180"/>
                </a:solidFill>
                <a:latin typeface="Aptos"/>
                <a:ea typeface="Aptos"/>
                <a:cs typeface="Aptos"/>
              </a:defRPr>
            </a:pPr>
            <a:r>
              <a:rPr sz="1125" b="0">
                <a:solidFill>
                  <a:srgbClr val="5D7180"/>
                </a:solidFill>
                <a:latin typeface="Aptos"/>
                <a:ea typeface="Aptos"/>
                <a:cs typeface="Aptos"/>
              </a:rPr>
              <a:t>Train and compare</a:t>
            </a:r>
          </a:p>
        </p:txBody>
      </p:sp>
      <p:sp>
        <p:nvSpPr>
          <p:cNvPr id="16" name="Rectangle: Rounded Corners 15">
            <a:extLst xmlns:a="http://schemas.openxmlformats.org/drawingml/2006/main">
              <a:ext uri="{FF2B5EF4-FFF2-40B4-BE49-F238E27FC236}">
                <a16:creationId xmlns:a16="http://schemas.microsoft.com/office/drawing/2014/main" id="{938CBA0F-2680-4D8B-9E2C-20B7A8AB360F}"/>
              </a:ext>
            </a:extLst>
          </p:cNvPr>
          <p:cNvSpPr>
            <a:spLocks xmlns:a="http://schemas.openxmlformats.org/drawingml/2006/main" noGrp="1"/>
          </p:cNvSpPr>
          <p:nvPr/>
        </p:nvSpPr>
        <p:spPr>
          <a:xfrm xmlns:a="http://schemas.openxmlformats.org/drawingml/2006/main">
            <a:off x="5029200" y="2381250"/>
            <a:ext cx="1571625" cy="1428750"/>
          </a:xfrm>
          <a:prstGeom xmlns:a="http://schemas.openxmlformats.org/drawingml/2006/main" prst="roundRect">
            <a:avLst>
              <a:gd name="adj" fmla="val 13333"/>
            </a:avLst>
          </a:prstGeom>
          <a:solidFill xmlns:a="http://schemas.openxmlformats.org/drawingml/2006/main">
            <a:srgbClr val="EAF3FA"/>
          </a:solidFill>
          <a:ln xmlns:a="http://schemas.openxmlformats.org/drawingml/2006/main" w="9525">
            <a:solidFill>
              <a:srgbClr val="BED5E5"/>
            </a:solidFill>
            <a:prstDash val="solid"/>
          </a:ln>
        </p:spPr>
        <p:txBody>
          <a:bodyPr xmlns:a="http://schemas.openxmlformats.org/drawingml/2006/main"/>
          <a:lstStyle xmlns:a="http://schemas.openxmlformats.org/drawingml/2006/main"/>
          <a:p xmlns:a="http://schemas.openxmlformats.org/drawingml/2006/main"/>
        </p:txBody>
      </p:sp>
      <p:sp>
        <p:nvSpPr>
          <p:cNvPr id="17" name="Rectangle 16">
            <a:extLst xmlns:a="http://schemas.openxmlformats.org/drawingml/2006/main">
              <a:ext uri="{FF2B5EF4-FFF2-40B4-BE49-F238E27FC236}">
                <a16:creationId xmlns:a16="http://schemas.microsoft.com/office/drawing/2014/main" id="{3635FD9B-DA0D-4AAB-9DD7-33D4362D68BC}"/>
              </a:ext>
            </a:extLst>
          </p:cNvPr>
          <p:cNvSpPr>
            <a:spLocks xmlns:a="http://schemas.openxmlformats.org/drawingml/2006/main" noGrp="1"/>
          </p:cNvSpPr>
          <p:nvPr/>
        </p:nvSpPr>
        <p:spPr>
          <a:xfrm xmlns:a="http://schemas.openxmlformats.org/drawingml/2006/main">
            <a:off x="5200650" y="25336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03</a:t>
            </a:r>
          </a:p>
        </p:txBody>
      </p:sp>
      <p:sp>
        <p:nvSpPr>
          <p:cNvPr id="18" name="Rectangle 17">
            <a:extLst xmlns:a="http://schemas.openxmlformats.org/drawingml/2006/main">
              <a:ext uri="{FF2B5EF4-FFF2-40B4-BE49-F238E27FC236}">
                <a16:creationId xmlns:a16="http://schemas.microsoft.com/office/drawing/2014/main" id="{96344982-2085-48EC-9BB4-103800A70766}"/>
              </a:ext>
            </a:extLst>
          </p:cNvPr>
          <p:cNvSpPr>
            <a:spLocks xmlns:a="http://schemas.openxmlformats.org/drawingml/2006/main" noGrp="1"/>
          </p:cNvSpPr>
          <p:nvPr/>
        </p:nvSpPr>
        <p:spPr>
          <a:xfrm xmlns:a="http://schemas.openxmlformats.org/drawingml/2006/main">
            <a:off x="5200650" y="2838450"/>
            <a:ext cx="123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70"/>
          </a:bodyPr>
          <a:lstStyle xmlns:a="http://schemas.openxmlformats.org/drawingml/2006/main"/>
          <a:p xmlns:a="http://schemas.openxmlformats.org/drawingml/2006/main">
            <a:pPr algn="l">
              <a:lnSpc>
                <a:spcPct val="100000"/>
              </a:lnSpc>
              <a:buNone/>
              <a:defRPr sz="1575" b="1">
                <a:solidFill>
                  <a:srgbClr val="10283D"/>
                </a:solidFill>
                <a:latin typeface="Aptos"/>
                <a:ea typeface="Aptos"/>
                <a:cs typeface="Aptos"/>
              </a:defRPr>
            </a:pPr>
            <a:r>
              <a:rPr sz="1575" b="1">
                <a:solidFill>
                  <a:srgbClr val="10283D"/>
                </a:solidFill>
                <a:latin typeface="Aptos"/>
                <a:ea typeface="Aptos"/>
                <a:cs typeface="Aptos"/>
              </a:rPr>
              <a:t>Held out testing</a:t>
            </a:r>
          </a:p>
        </p:txBody>
      </p:sp>
      <p:sp>
        <p:nvSpPr>
          <p:cNvPr id="19" name="Rectangle 18">
            <a:extLst xmlns:a="http://schemas.openxmlformats.org/drawingml/2006/main">
              <a:ext uri="{FF2B5EF4-FFF2-40B4-BE49-F238E27FC236}">
                <a16:creationId xmlns:a16="http://schemas.microsoft.com/office/drawing/2014/main" id="{2FD41C2D-B093-483C-836D-3E77F5378C10}"/>
              </a:ext>
            </a:extLst>
          </p:cNvPr>
          <p:cNvSpPr>
            <a:spLocks xmlns:a="http://schemas.openxmlformats.org/drawingml/2006/main" noGrp="1"/>
          </p:cNvSpPr>
          <p:nvPr/>
        </p:nvSpPr>
        <p:spPr>
          <a:xfrm xmlns:a="http://schemas.openxmlformats.org/drawingml/2006/main">
            <a:off x="5200650" y="3371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143"/>
          </a:bodyPr>
          <a:lstStyle xmlns:a="http://schemas.openxmlformats.org/drawingml/2006/main"/>
          <a:p xmlns:a="http://schemas.openxmlformats.org/drawingml/2006/main">
            <a:pPr algn="l">
              <a:lnSpc>
                <a:spcPct val="100000"/>
              </a:lnSpc>
              <a:buNone/>
              <a:defRPr sz="1125" b="0">
                <a:solidFill>
                  <a:srgbClr val="5D7180"/>
                </a:solidFill>
                <a:latin typeface="Aptos"/>
                <a:ea typeface="Aptos"/>
                <a:cs typeface="Aptos"/>
              </a:defRPr>
            </a:pPr>
            <a:r>
              <a:rPr sz="1125" b="0">
                <a:solidFill>
                  <a:srgbClr val="5D7180"/>
                </a:solidFill>
                <a:latin typeface="Aptos"/>
                <a:ea typeface="Aptos"/>
                <a:cs typeface="Aptos"/>
              </a:rPr>
              <a:t>Evaluate performance</a:t>
            </a:r>
          </a:p>
        </p:txBody>
      </p:sp>
      <p:sp>
        <p:nvSpPr>
          <p:cNvPr id="20" name="Rectangle: Rounded Corners 19">
            <a:extLst xmlns:a="http://schemas.openxmlformats.org/drawingml/2006/main">
              <a:ext uri="{FF2B5EF4-FFF2-40B4-BE49-F238E27FC236}">
                <a16:creationId xmlns:a16="http://schemas.microsoft.com/office/drawing/2014/main" id="{B86D13FE-C032-4116-8DC1-40B0CEF79D75}"/>
              </a:ext>
            </a:extLst>
          </p:cNvPr>
          <p:cNvSpPr>
            <a:spLocks xmlns:a="http://schemas.openxmlformats.org/drawingml/2006/main" noGrp="1"/>
          </p:cNvSpPr>
          <p:nvPr/>
        </p:nvSpPr>
        <p:spPr>
          <a:xfrm xmlns:a="http://schemas.openxmlformats.org/drawingml/2006/main">
            <a:off x="7200900" y="2381250"/>
            <a:ext cx="1571625" cy="1428750"/>
          </a:xfrm>
          <a:prstGeom xmlns:a="http://schemas.openxmlformats.org/drawingml/2006/main" prst="roundRect">
            <a:avLst>
              <a:gd name="adj" fmla="val 13333"/>
            </a:avLst>
          </a:prstGeom>
          <a:solidFill xmlns:a="http://schemas.openxmlformats.org/drawingml/2006/main">
            <a:srgbClr val="DDF6F2"/>
          </a:solidFill>
          <a:ln xmlns:a="http://schemas.openxmlformats.org/drawingml/2006/main" w="9525">
            <a:solidFill>
              <a:srgbClr val="57D7D2"/>
            </a:solidFill>
            <a:prstDash val="solid"/>
          </a:ln>
        </p:spPr>
        <p:txBody>
          <a:bodyPr xmlns:a="http://schemas.openxmlformats.org/drawingml/2006/main"/>
          <a:lstStyle xmlns:a="http://schemas.openxmlformats.org/drawingml/2006/main"/>
          <a:p xmlns:a="http://schemas.openxmlformats.org/drawingml/2006/main"/>
        </p:txBody>
      </p:sp>
      <p:sp>
        <p:nvSpPr>
          <p:cNvPr id="21" name="Rectangle 20">
            <a:extLst xmlns:a="http://schemas.openxmlformats.org/drawingml/2006/main">
              <a:ext uri="{FF2B5EF4-FFF2-40B4-BE49-F238E27FC236}">
                <a16:creationId xmlns:a16="http://schemas.microsoft.com/office/drawing/2014/main" id="{B8479EDC-C393-4C63-8362-F685B194B447}"/>
              </a:ext>
            </a:extLst>
          </p:cNvPr>
          <p:cNvSpPr>
            <a:spLocks xmlns:a="http://schemas.openxmlformats.org/drawingml/2006/main" noGrp="1"/>
          </p:cNvSpPr>
          <p:nvPr/>
        </p:nvSpPr>
        <p:spPr>
          <a:xfrm xmlns:a="http://schemas.openxmlformats.org/drawingml/2006/main">
            <a:off x="7372350" y="25336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04</a:t>
            </a:r>
          </a:p>
        </p:txBody>
      </p:sp>
      <p:sp>
        <p:nvSpPr>
          <p:cNvPr id="22" name="Rectangle 21">
            <a:extLst xmlns:a="http://schemas.openxmlformats.org/drawingml/2006/main">
              <a:ext uri="{FF2B5EF4-FFF2-40B4-BE49-F238E27FC236}">
                <a16:creationId xmlns:a16="http://schemas.microsoft.com/office/drawing/2014/main" id="{7F0D3B84-C4AE-4520-AF1E-C5588B3CC98D}"/>
              </a:ext>
            </a:extLst>
          </p:cNvPr>
          <p:cNvSpPr>
            <a:spLocks xmlns:a="http://schemas.openxmlformats.org/drawingml/2006/main" noGrp="1"/>
          </p:cNvSpPr>
          <p:nvPr/>
        </p:nvSpPr>
        <p:spPr>
          <a:xfrm xmlns:a="http://schemas.openxmlformats.org/drawingml/2006/main">
            <a:off x="7372350" y="2838450"/>
            <a:ext cx="123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270"/>
          </a:bodyPr>
          <a:lstStyle xmlns:a="http://schemas.openxmlformats.org/drawingml/2006/main"/>
          <a:p xmlns:a="http://schemas.openxmlformats.org/drawingml/2006/main">
            <a:pPr algn="l">
              <a:lnSpc>
                <a:spcPct val="100000"/>
              </a:lnSpc>
              <a:buNone/>
              <a:defRPr sz="1575" b="1">
                <a:solidFill>
                  <a:srgbClr val="10283D"/>
                </a:solidFill>
                <a:latin typeface="Aptos"/>
                <a:ea typeface="Aptos"/>
                <a:cs typeface="Aptos"/>
              </a:defRPr>
            </a:pPr>
            <a:r>
              <a:rPr sz="1575" b="1">
                <a:solidFill>
                  <a:srgbClr val="10283D"/>
                </a:solidFill>
                <a:latin typeface="Aptos"/>
                <a:ea typeface="Aptos"/>
                <a:cs typeface="Aptos"/>
              </a:rPr>
              <a:t>Sample profiles</a:t>
            </a:r>
          </a:p>
        </p:txBody>
      </p:sp>
      <p:sp>
        <p:nvSpPr>
          <p:cNvPr id="23" name="Rectangle 22">
            <a:extLst xmlns:a="http://schemas.openxmlformats.org/drawingml/2006/main">
              <a:ext uri="{FF2B5EF4-FFF2-40B4-BE49-F238E27FC236}">
                <a16:creationId xmlns:a16="http://schemas.microsoft.com/office/drawing/2014/main" id="{897654F4-2A12-4C7C-9E60-EE07CB8715BF}"/>
              </a:ext>
            </a:extLst>
          </p:cNvPr>
          <p:cNvSpPr>
            <a:spLocks xmlns:a="http://schemas.openxmlformats.org/drawingml/2006/main" noGrp="1"/>
          </p:cNvSpPr>
          <p:nvPr/>
        </p:nvSpPr>
        <p:spPr>
          <a:xfrm xmlns:a="http://schemas.openxmlformats.org/drawingml/2006/main">
            <a:off x="7372350" y="3371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0">
                <a:solidFill>
                  <a:srgbClr val="5D7180"/>
                </a:solidFill>
                <a:latin typeface="Aptos"/>
                <a:ea typeface="Aptos"/>
                <a:cs typeface="Aptos"/>
              </a:defRPr>
            </a:pPr>
            <a:r>
              <a:rPr sz="1125" b="0">
                <a:solidFill>
                  <a:srgbClr val="5D7180"/>
                </a:solidFill>
                <a:latin typeface="Aptos"/>
                <a:ea typeface="Aptos"/>
                <a:cs typeface="Aptos"/>
              </a:rPr>
              <a:t>Fictional profiles</a:t>
            </a:r>
          </a:p>
        </p:txBody>
      </p:sp>
      <p:sp>
        <p:nvSpPr>
          <p:cNvPr id="24" name="Rectangle: Rounded Corners 23">
            <a:extLst xmlns:a="http://schemas.openxmlformats.org/drawingml/2006/main">
              <a:ext uri="{FF2B5EF4-FFF2-40B4-BE49-F238E27FC236}">
                <a16:creationId xmlns:a16="http://schemas.microsoft.com/office/drawing/2014/main" id="{5534E36E-3586-4079-A815-92F9C1809E37}"/>
              </a:ext>
            </a:extLst>
          </p:cNvPr>
          <p:cNvSpPr>
            <a:spLocks xmlns:a="http://schemas.openxmlformats.org/drawingml/2006/main" noGrp="1"/>
          </p:cNvSpPr>
          <p:nvPr/>
        </p:nvSpPr>
        <p:spPr>
          <a:xfrm xmlns:a="http://schemas.openxmlformats.org/drawingml/2006/main">
            <a:off x="9372600" y="2381250"/>
            <a:ext cx="1571625" cy="1428750"/>
          </a:xfrm>
          <a:prstGeom xmlns:a="http://schemas.openxmlformats.org/drawingml/2006/main" prst="roundRect">
            <a:avLst>
              <a:gd name="adj" fmla="val 13333"/>
            </a:avLst>
          </a:prstGeom>
          <a:solidFill xmlns:a="http://schemas.openxmlformats.org/drawingml/2006/main">
            <a:srgbClr val="DDF6F2"/>
          </a:solidFill>
          <a:ln xmlns:a="http://schemas.openxmlformats.org/drawingml/2006/main" w="9525">
            <a:solidFill>
              <a:srgbClr val="57D7D2"/>
            </a:solidFill>
            <a:prstDash val="solid"/>
          </a:ln>
        </p:spPr>
        <p:txBody>
          <a:bodyPr xmlns:a="http://schemas.openxmlformats.org/drawingml/2006/main"/>
          <a:lstStyle xmlns:a="http://schemas.openxmlformats.org/drawingml/2006/main"/>
          <a:p xmlns:a="http://schemas.openxmlformats.org/drawingml/2006/main"/>
        </p:txBody>
      </p:sp>
      <p:sp>
        <p:nvSpPr>
          <p:cNvPr id="25" name="Rectangle 24">
            <a:extLst xmlns:a="http://schemas.openxmlformats.org/drawingml/2006/main">
              <a:ext uri="{FF2B5EF4-FFF2-40B4-BE49-F238E27FC236}">
                <a16:creationId xmlns:a16="http://schemas.microsoft.com/office/drawing/2014/main" id="{3ADD7CB2-D05B-420A-B49C-1DE2CD584DFF}"/>
              </a:ext>
            </a:extLst>
          </p:cNvPr>
          <p:cNvSpPr>
            <a:spLocks xmlns:a="http://schemas.openxmlformats.org/drawingml/2006/main" noGrp="1"/>
          </p:cNvSpPr>
          <p:nvPr/>
        </p:nvSpPr>
        <p:spPr>
          <a:xfrm xmlns:a="http://schemas.openxmlformats.org/drawingml/2006/main">
            <a:off x="9544050" y="25336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05</a:t>
            </a:r>
          </a:p>
        </p:txBody>
      </p:sp>
      <p:sp>
        <p:nvSpPr>
          <p:cNvPr id="26" name="Rectangle 25">
            <a:extLst xmlns:a="http://schemas.openxmlformats.org/drawingml/2006/main">
              <a:ext uri="{FF2B5EF4-FFF2-40B4-BE49-F238E27FC236}">
                <a16:creationId xmlns:a16="http://schemas.microsoft.com/office/drawing/2014/main" id="{357FA3BF-FB37-4046-A2B7-F07AF0C69BA3}"/>
              </a:ext>
            </a:extLst>
          </p:cNvPr>
          <p:cNvSpPr>
            <a:spLocks xmlns:a="http://schemas.openxmlformats.org/drawingml/2006/main" noGrp="1"/>
          </p:cNvSpPr>
          <p:nvPr/>
        </p:nvSpPr>
        <p:spPr>
          <a:xfrm xmlns:a="http://schemas.openxmlformats.org/drawingml/2006/main">
            <a:off x="9544050" y="2838450"/>
            <a:ext cx="1238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1">
                <a:solidFill>
                  <a:srgbClr val="10283D"/>
                </a:solidFill>
                <a:latin typeface="Aptos"/>
                <a:ea typeface="Aptos"/>
                <a:cs typeface="Aptos"/>
              </a:defRPr>
            </a:pPr>
            <a:r>
              <a:rPr sz="1575" b="1">
                <a:solidFill>
                  <a:srgbClr val="10283D"/>
                </a:solidFill>
                <a:latin typeface="Aptos"/>
                <a:ea typeface="Aptos"/>
                <a:cs typeface="Aptos"/>
              </a:rPr>
              <a:t>WellPath UI</a:t>
            </a:r>
          </a:p>
        </p:txBody>
      </p:sp>
      <p:sp>
        <p:nvSpPr>
          <p:cNvPr id="27" name="Rectangle 26">
            <a:extLst xmlns:a="http://schemas.openxmlformats.org/drawingml/2006/main">
              <a:ext uri="{FF2B5EF4-FFF2-40B4-BE49-F238E27FC236}">
                <a16:creationId xmlns:a16="http://schemas.microsoft.com/office/drawing/2014/main" id="{F024C174-D185-4628-B323-7320925D39D2}"/>
              </a:ext>
            </a:extLst>
          </p:cNvPr>
          <p:cNvSpPr>
            <a:spLocks xmlns:a="http://schemas.openxmlformats.org/drawingml/2006/main" noGrp="1"/>
          </p:cNvSpPr>
          <p:nvPr/>
        </p:nvSpPr>
        <p:spPr>
          <a:xfrm xmlns:a="http://schemas.openxmlformats.org/drawingml/2006/main">
            <a:off x="9544050" y="3371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8803"/>
          </a:bodyPr>
          <a:lstStyle xmlns:a="http://schemas.openxmlformats.org/drawingml/2006/main"/>
          <a:p xmlns:a="http://schemas.openxmlformats.org/drawingml/2006/main">
            <a:pPr algn="l">
              <a:lnSpc>
                <a:spcPct val="100000"/>
              </a:lnSpc>
              <a:buNone/>
              <a:defRPr sz="1125" b="0">
                <a:solidFill>
                  <a:srgbClr val="5D7180"/>
                </a:solidFill>
                <a:latin typeface="Aptos"/>
                <a:ea typeface="Aptos"/>
                <a:cs typeface="Aptos"/>
              </a:defRPr>
            </a:pPr>
            <a:r>
              <a:rPr sz="1125" b="0">
                <a:solidFill>
                  <a:srgbClr val="5D7180"/>
                </a:solidFill>
                <a:latin typeface="Aptos"/>
                <a:ea typeface="Aptos"/>
                <a:cs typeface="Aptos"/>
              </a:rPr>
              <a:t>Demonstrate the concept</a:t>
            </a:r>
          </a:p>
        </p:txBody>
      </p:sp>
      <p:sp>
        <p:nvSpPr>
          <p:cNvPr id="28" name="Rectangle 27">
            <a:extLst xmlns:a="http://schemas.openxmlformats.org/drawingml/2006/main">
              <a:ext uri="{FF2B5EF4-FFF2-40B4-BE49-F238E27FC236}">
                <a16:creationId xmlns:a16="http://schemas.microsoft.com/office/drawing/2014/main" id="{2CD8DBA9-5F86-4D1F-98FC-F7CAC5497CDD}"/>
              </a:ext>
            </a:extLst>
          </p:cNvPr>
          <p:cNvSpPr>
            <a:spLocks xmlns:a="http://schemas.openxmlformats.org/drawingml/2006/main" noGrp="1"/>
          </p:cNvSpPr>
          <p:nvPr/>
        </p:nvSpPr>
        <p:spPr>
          <a:xfrm xmlns:a="http://schemas.openxmlformats.org/drawingml/2006/main">
            <a:off x="1714500" y="4514850"/>
            <a:ext cx="876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650" b="1">
                <a:solidFill>
                  <a:srgbClr val="10283D"/>
                </a:solidFill>
                <a:latin typeface="Aptos"/>
                <a:ea typeface="Aptos"/>
                <a:cs typeface="Aptos"/>
              </a:defRPr>
            </a:pPr>
            <a:r>
              <a:rPr sz="1650" b="1">
                <a:solidFill>
                  <a:srgbClr val="10283D"/>
                </a:solidFill>
                <a:latin typeface="Aptos"/>
                <a:ea typeface="Aptos"/>
                <a:cs typeface="Aptos"/>
              </a:rPr>
              <a:t>This separation reduces privacy and security risk.</a:t>
            </a:r>
          </a:p>
        </p:txBody>
      </p:sp>
      <p:sp>
        <p:nvSpPr>
          <p:cNvPr id="29" name="Rectangle 28">
            <a:extLst xmlns:a="http://schemas.openxmlformats.org/drawingml/2006/main">
              <a:ext uri="{FF2B5EF4-FFF2-40B4-BE49-F238E27FC236}">
                <a16:creationId xmlns:a16="http://schemas.microsoft.com/office/drawing/2014/main" id="{867EA6CB-69AE-483D-B566-8EDE368ACA5A}"/>
              </a:ext>
            </a:extLst>
          </p:cNvPr>
          <p:cNvSpPr>
            <a:spLocks xmlns:a="http://schemas.openxmlformats.org/drawingml/2006/main" noGrp="1"/>
          </p:cNvSpPr>
          <p:nvPr/>
        </p:nvSpPr>
        <p:spPr>
          <a:xfrm xmlns:a="http://schemas.openxmlformats.org/drawingml/2006/main">
            <a:off x="2381250" y="525780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It also follows dataset access rules and responsible data governance.</a:t>
            </a:r>
          </a:p>
        </p:txBody>
      </p:sp>
      <p:sp>
        <p:nvSpPr>
          <p:cNvPr id="30" name="Rectangle 29">
            <a:extLst xmlns:a="http://schemas.openxmlformats.org/drawingml/2006/main">
              <a:ext uri="{FF2B5EF4-FFF2-40B4-BE49-F238E27FC236}">
                <a16:creationId xmlns:a16="http://schemas.microsoft.com/office/drawing/2014/main" id="{7FF85896-E1CC-4D9C-8463-9217BBB8CAE5}"/>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31" name="Rectangle 30">
            <a:extLst xmlns:a="http://schemas.openxmlformats.org/drawingml/2006/main">
              <a:ext uri="{FF2B5EF4-FFF2-40B4-BE49-F238E27FC236}">
                <a16:creationId xmlns:a16="http://schemas.microsoft.com/office/drawing/2014/main" id="{406BE710-6723-4EA6-8BA9-67EBA96AA219}"/>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06</a:t>
            </a:r>
          </a:p>
        </p:txBody>
      </p:sp>
    </p:spTree>
    <p:extLst>
      <p:ext uri="{BB962C8B-B14F-4D97-AF65-F5344CB8AC3E}">
        <p14:creationId xmlns:p14="http://schemas.microsoft.com/office/powerpoint/2010/main" val="1602557885"/>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6A2465F9-1C9A-4EDC-B74C-E8FA05DC564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Cycle estimates adapt instead of assuming 28 days</a:t>
            </a:r>
          </a:p>
        </p:txBody>
      </p:sp>
      <p:sp>
        <p:nvSpPr>
          <p:cNvPr id="2" name="Rectangle: Rounded Corners 1">
            <a:extLst xmlns:a="http://schemas.openxmlformats.org/drawingml/2006/main">
              <a:ext uri="{FF2B5EF4-FFF2-40B4-BE49-F238E27FC236}">
                <a16:creationId xmlns:a16="http://schemas.microsoft.com/office/drawing/2014/main" id="{F9E3A3C6-0687-4D51-B52A-A119126A6B85}"/>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EE688F03-9B8C-4CEC-A560-56F2E27FD2BF}"/>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A basic tracker may use the same cycle length for everyone. WellPath learns from recent history.</a:t>
            </a:r>
          </a:p>
        </p:txBody>
      </p:sp>
      <p:sp>
        <p:nvSpPr>
          <p:cNvPr id="4" name="Rectangle: Rounded Corners 3">
            <a:extLst xmlns:a="http://schemas.openxmlformats.org/drawingml/2006/main">
              <a:ext uri="{FF2B5EF4-FFF2-40B4-BE49-F238E27FC236}">
                <a16:creationId xmlns:a16="http://schemas.microsoft.com/office/drawing/2014/main" id="{99486F5E-6402-4848-BDF8-6200467CC6E2}"/>
              </a:ext>
            </a:extLst>
          </p:cNvPr>
          <p:cNvSpPr>
            <a:spLocks xmlns:a="http://schemas.openxmlformats.org/drawingml/2006/main" noGrp="1"/>
          </p:cNvSpPr>
          <p:nvPr/>
        </p:nvSpPr>
        <p:spPr>
          <a:xfrm xmlns:a="http://schemas.openxmlformats.org/drawingml/2006/main">
            <a:off x="609600" y="1400175"/>
            <a:ext cx="6629400" cy="4629150"/>
          </a:xfrm>
          <a:prstGeom xmlns:a="http://schemas.openxmlformats.org/drawingml/2006/main" prst="roundRect">
            <a:avLst>
              <a:gd name="adj" fmla="val 4527"/>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pic>
        <p:nvPicPr>
          <p:cNvPr id="23" name="Picture 22"/>
          <p:cNvPicPr>
            <a:picLocks xmlns:a="http://schemas.openxmlformats.org/drawingml/2006/main" noChangeAspect="1"/>
          </p:cNvPicPr>
          <p:nvPr/>
        </p:nvPicPr>
        <p:blipFill>
          <a:blip xmlns:r="http://schemas.openxmlformats.org/officeDocument/2006/relationships" xmlns:a="http://schemas.openxmlformats.org/drawingml/2006/main" r:embed="Rb4f1ebc81d9144e0"/>
          <a:srcRect xmlns:a="http://schemas.openxmlformats.org/drawingml/2006/main" l="28000" t="2000" r="29000" b="45000"/>
          <a:stretch xmlns:a="http://schemas.openxmlformats.org/drawingml/2006/main"/>
        </p:blipFill>
        <p:spPr>
          <a:xfrm xmlns:a="http://schemas.openxmlformats.org/drawingml/2006/main">
            <a:off x="685800" y="1476375"/>
            <a:ext cx="6477000" cy="4476750"/>
          </a:xfrm>
          <a:prstGeom xmlns:a="http://schemas.openxmlformats.org/drawingml/2006/main" prst="roundRect">
            <a:avLst>
              <a:gd name="adj" fmla="val 3404"/>
            </a:avLst>
          </a:prstGeom>
        </p:spPr>
      </p:pic>
      <p:sp>
        <p:nvSpPr>
          <p:cNvPr id="6" name="Rectangle 5">
            <a:extLst xmlns:a="http://schemas.openxmlformats.org/drawingml/2006/main">
              <a:ext uri="{FF2B5EF4-FFF2-40B4-BE49-F238E27FC236}">
                <a16:creationId xmlns:a16="http://schemas.microsoft.com/office/drawing/2014/main" id="{338AB5FF-58E2-48A4-9075-9E7DEEA6EF9F}"/>
              </a:ext>
            </a:extLst>
          </p:cNvPr>
          <p:cNvSpPr>
            <a:spLocks xmlns:a="http://schemas.openxmlformats.org/drawingml/2006/main" noGrp="1"/>
          </p:cNvSpPr>
          <p:nvPr/>
        </p:nvSpPr>
        <p:spPr>
          <a:xfrm xmlns:a="http://schemas.openxmlformats.org/drawingml/2006/main">
            <a:off x="7715250" y="17907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2111"/>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RECENT HISTORY</a:t>
            </a:r>
          </a:p>
        </p:txBody>
      </p:sp>
      <p:sp>
        <p:nvSpPr>
          <p:cNvPr id="7" name="Rectangle 6">
            <a:extLst xmlns:a="http://schemas.openxmlformats.org/drawingml/2006/main">
              <a:ext uri="{FF2B5EF4-FFF2-40B4-BE49-F238E27FC236}">
                <a16:creationId xmlns:a16="http://schemas.microsoft.com/office/drawing/2014/main" id="{D9105AF8-AD50-479F-B3AA-E674E28983E4}"/>
              </a:ext>
            </a:extLst>
          </p:cNvPr>
          <p:cNvSpPr>
            <a:spLocks xmlns:a="http://schemas.openxmlformats.org/drawingml/2006/main" noGrp="1"/>
          </p:cNvSpPr>
          <p:nvPr/>
        </p:nvSpPr>
        <p:spPr>
          <a:xfrm xmlns:a="http://schemas.openxmlformats.org/drawingml/2006/main">
            <a:off x="7715250" y="20764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802"/>
          </a:bodyPr>
          <a:lstStyle xmlns:a="http://schemas.openxmlformats.org/drawingml/2006/main"/>
          <a:p xmlns:a="http://schemas.openxmlformats.org/drawingml/2006/main">
            <a:pPr algn="l">
              <a:lnSpc>
                <a:spcPct val="100000"/>
              </a:lnSpc>
              <a:buNone/>
              <a:defRPr sz="1875" b="1">
                <a:solidFill>
                  <a:srgbClr val="10283D"/>
                </a:solidFill>
                <a:latin typeface="Aptos"/>
                <a:ea typeface="Aptos"/>
                <a:cs typeface="Aptos"/>
              </a:defRPr>
            </a:pPr>
            <a:r>
              <a:rPr sz="1875" b="1">
                <a:solidFill>
                  <a:srgbClr val="10283D"/>
                </a:solidFill>
                <a:latin typeface="Aptos"/>
                <a:ea typeface="Aptos"/>
                <a:cs typeface="Aptos"/>
              </a:rPr>
              <a:t>Uses the person's latest logged cycles</a:t>
            </a:r>
          </a:p>
        </p:txBody>
      </p:sp>
      <p:sp>
        <p:nvSpPr>
          <p:cNvPr id="8" name="Rectangle 7">
            <a:extLst xmlns:a="http://schemas.openxmlformats.org/drawingml/2006/main">
              <a:ext uri="{FF2B5EF4-FFF2-40B4-BE49-F238E27FC236}">
                <a16:creationId xmlns:a16="http://schemas.microsoft.com/office/drawing/2014/main" id="{98791E94-59C0-4A96-A98A-90EB08EB4A5F}"/>
              </a:ext>
            </a:extLst>
          </p:cNvPr>
          <p:cNvSpPr>
            <a:spLocks xmlns:a="http://schemas.openxmlformats.org/drawingml/2006/main" noGrp="1"/>
          </p:cNvSpPr>
          <p:nvPr/>
        </p:nvSpPr>
        <p:spPr>
          <a:xfrm xmlns:a="http://schemas.openxmlformats.org/drawingml/2006/main">
            <a:off x="7715250" y="2657475"/>
            <a:ext cx="3143250" cy="9525"/>
          </a:xfrm>
          <a:prstGeom xmlns:a="http://schemas.openxmlformats.org/drawingml/2006/main" prst="rect">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9A1A4E04-0B56-428E-9195-85C0C42A8969}"/>
              </a:ext>
            </a:extLst>
          </p:cNvPr>
          <p:cNvSpPr>
            <a:spLocks xmlns:a="http://schemas.openxmlformats.org/drawingml/2006/main" noGrp="1"/>
          </p:cNvSpPr>
          <p:nvPr/>
        </p:nvSpPr>
        <p:spPr>
          <a:xfrm xmlns:a="http://schemas.openxmlformats.org/drawingml/2006/main">
            <a:off x="7715250" y="29908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6689"/>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PERSONAL PATTERN</a:t>
            </a:r>
          </a:p>
        </p:txBody>
      </p:sp>
      <p:sp>
        <p:nvSpPr>
          <p:cNvPr id="10" name="Rectangle 9">
            <a:extLst xmlns:a="http://schemas.openxmlformats.org/drawingml/2006/main">
              <a:ext uri="{FF2B5EF4-FFF2-40B4-BE49-F238E27FC236}">
                <a16:creationId xmlns:a16="http://schemas.microsoft.com/office/drawing/2014/main" id="{F8C39CA6-C43A-4E9C-A4BC-F92FA106D2DF}"/>
              </a:ext>
            </a:extLst>
          </p:cNvPr>
          <p:cNvSpPr>
            <a:spLocks xmlns:a="http://schemas.openxmlformats.org/drawingml/2006/main" noGrp="1"/>
          </p:cNvSpPr>
          <p:nvPr/>
        </p:nvSpPr>
        <p:spPr>
          <a:xfrm xmlns:a="http://schemas.openxmlformats.org/drawingml/2006/main">
            <a:off x="7715250" y="32766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674"/>
          </a:bodyPr>
          <a:lstStyle xmlns:a="http://schemas.openxmlformats.org/drawingml/2006/main"/>
          <a:p xmlns:a="http://schemas.openxmlformats.org/drawingml/2006/main">
            <a:pPr algn="l">
              <a:lnSpc>
                <a:spcPct val="100000"/>
              </a:lnSpc>
              <a:buNone/>
              <a:defRPr sz="1875" b="1">
                <a:solidFill>
                  <a:srgbClr val="10283D"/>
                </a:solidFill>
                <a:latin typeface="Aptos"/>
                <a:ea typeface="Aptos"/>
                <a:cs typeface="Aptos"/>
              </a:defRPr>
            </a:pPr>
            <a:r>
              <a:rPr sz="1875" b="1">
                <a:solidFill>
                  <a:srgbClr val="10283D"/>
                </a:solidFill>
                <a:latin typeface="Aptos"/>
                <a:ea typeface="Aptos"/>
                <a:cs typeface="Aptos"/>
              </a:rPr>
              <a:t>Gives more importance to recent cycles</a:t>
            </a:r>
          </a:p>
        </p:txBody>
      </p:sp>
      <p:sp>
        <p:nvSpPr>
          <p:cNvPr id="11" name="Rectangle 10">
            <a:extLst xmlns:a="http://schemas.openxmlformats.org/drawingml/2006/main">
              <a:ext uri="{FF2B5EF4-FFF2-40B4-BE49-F238E27FC236}">
                <a16:creationId xmlns:a16="http://schemas.microsoft.com/office/drawing/2014/main" id="{874D66C8-5F6C-4E49-AE15-C0F5DC7984FD}"/>
              </a:ext>
            </a:extLst>
          </p:cNvPr>
          <p:cNvSpPr>
            <a:spLocks xmlns:a="http://schemas.openxmlformats.org/drawingml/2006/main" noGrp="1"/>
          </p:cNvSpPr>
          <p:nvPr/>
        </p:nvSpPr>
        <p:spPr>
          <a:xfrm xmlns:a="http://schemas.openxmlformats.org/drawingml/2006/main">
            <a:off x="7715250" y="3857625"/>
            <a:ext cx="3143250" cy="9525"/>
          </a:xfrm>
          <a:prstGeom xmlns:a="http://schemas.openxmlformats.org/drawingml/2006/main" prst="rect">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C3E771B2-86BB-46D8-89F3-234A770F7E6A}"/>
              </a:ext>
            </a:extLst>
          </p:cNvPr>
          <p:cNvSpPr>
            <a:spLocks xmlns:a="http://schemas.openxmlformats.org/drawingml/2006/main" noGrp="1"/>
          </p:cNvSpPr>
          <p:nvPr/>
        </p:nvSpPr>
        <p:spPr>
          <a:xfrm xmlns:a="http://schemas.openxmlformats.org/drawingml/2006/main">
            <a:off x="7715250" y="4191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CLEAR RESULT</a:t>
            </a:r>
          </a:p>
        </p:txBody>
      </p:sp>
      <p:sp>
        <p:nvSpPr>
          <p:cNvPr id="13" name="Rectangle 12">
            <a:extLst xmlns:a="http://schemas.openxmlformats.org/drawingml/2006/main">
              <a:ext uri="{FF2B5EF4-FFF2-40B4-BE49-F238E27FC236}">
                <a16:creationId xmlns:a16="http://schemas.microsoft.com/office/drawing/2014/main" id="{6CA8496E-4B7D-425D-94DB-1009AF08D94E}"/>
              </a:ext>
            </a:extLst>
          </p:cNvPr>
          <p:cNvSpPr>
            <a:spLocks xmlns:a="http://schemas.openxmlformats.org/drawingml/2006/main" noGrp="1"/>
          </p:cNvSpPr>
          <p:nvPr/>
        </p:nvSpPr>
        <p:spPr>
          <a:xfrm xmlns:a="http://schemas.openxmlformats.org/drawingml/2006/main">
            <a:off x="7715250" y="44767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1">
                <a:solidFill>
                  <a:srgbClr val="10283D"/>
                </a:solidFill>
                <a:latin typeface="Aptos"/>
                <a:ea typeface="Aptos"/>
                <a:cs typeface="Aptos"/>
              </a:defRPr>
            </a:pPr>
            <a:r>
              <a:rPr sz="1875" b="1">
                <a:solidFill>
                  <a:srgbClr val="10283D"/>
                </a:solidFill>
                <a:latin typeface="Aptos"/>
                <a:ea typeface="Aptos"/>
                <a:cs typeface="Aptos"/>
              </a:rPr>
              <a:t>Shows an expected date and a range</a:t>
            </a:r>
          </a:p>
        </p:txBody>
      </p:sp>
      <p:sp>
        <p:nvSpPr>
          <p:cNvPr id="14" name="Rectangle 13">
            <a:extLst xmlns:a="http://schemas.openxmlformats.org/drawingml/2006/main">
              <a:ext uri="{FF2B5EF4-FFF2-40B4-BE49-F238E27FC236}">
                <a16:creationId xmlns:a16="http://schemas.microsoft.com/office/drawing/2014/main" id="{D2E8E32E-3F41-4A35-B5E9-AB903B1593C2}"/>
              </a:ext>
            </a:extLst>
          </p:cNvPr>
          <p:cNvSpPr>
            <a:spLocks xmlns:a="http://schemas.openxmlformats.org/drawingml/2006/main" noGrp="1"/>
          </p:cNvSpPr>
          <p:nvPr/>
        </p:nvSpPr>
        <p:spPr>
          <a:xfrm xmlns:a="http://schemas.openxmlformats.org/drawingml/2006/main">
            <a:off x="7715250" y="5381625"/>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The estimate changes as the person's cycle history changes.</a:t>
            </a:r>
          </a:p>
        </p:txBody>
      </p:sp>
      <p:sp>
        <p:nvSpPr>
          <p:cNvPr id="15" name="Rectangle 14">
            <a:extLst xmlns:a="http://schemas.openxmlformats.org/drawingml/2006/main">
              <a:ext uri="{FF2B5EF4-FFF2-40B4-BE49-F238E27FC236}">
                <a16:creationId xmlns:a16="http://schemas.microsoft.com/office/drawing/2014/main" id="{E4CE7D55-27FD-4C9E-8FE2-411A93D58899}"/>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6" name="Rectangle 15">
            <a:extLst xmlns:a="http://schemas.openxmlformats.org/drawingml/2006/main">
              <a:ext uri="{FF2B5EF4-FFF2-40B4-BE49-F238E27FC236}">
                <a16:creationId xmlns:a16="http://schemas.microsoft.com/office/drawing/2014/main" id="{9A6CC7EA-71B7-47BB-B334-2AED2A1CA4B5}"/>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07</a:t>
            </a:r>
          </a:p>
        </p:txBody>
      </p:sp>
    </p:spTree>
    <p:extLst>
      <p:ext uri="{BB962C8B-B14F-4D97-AF65-F5344CB8AC3E}">
        <p14:creationId xmlns:p14="http://schemas.microsoft.com/office/powerpoint/2010/main" val="531375271"/>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7D950AF0-A5EF-4C7A-8187-CCB436DCF78F}"/>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Sample values drive a realistic health experience</a:t>
            </a:r>
          </a:p>
        </p:txBody>
      </p:sp>
      <p:sp>
        <p:nvSpPr>
          <p:cNvPr id="2" name="Rectangle: Rounded Corners 1">
            <a:extLst xmlns:a="http://schemas.openxmlformats.org/drawingml/2006/main">
              <a:ext uri="{FF2B5EF4-FFF2-40B4-BE49-F238E27FC236}">
                <a16:creationId xmlns:a16="http://schemas.microsoft.com/office/drawing/2014/main" id="{F2603184-D5D4-4F74-ACEA-2CEC04228E52}"/>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091F355E-6A55-48C4-907E-DC2D6A9E69FF}"/>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The prototype shows how scores, goals, and guidance could respond together.</a:t>
            </a:r>
          </a:p>
        </p:txBody>
      </p:sp>
      <p:sp>
        <p:nvSpPr>
          <p:cNvPr id="4" name="Rectangle: Rounded Corners 3">
            <a:extLst xmlns:a="http://schemas.openxmlformats.org/drawingml/2006/main">
              <a:ext uri="{FF2B5EF4-FFF2-40B4-BE49-F238E27FC236}">
                <a16:creationId xmlns:a16="http://schemas.microsoft.com/office/drawing/2014/main" id="{151BC7C8-C4CC-4B18-B218-3484A0C63667}"/>
              </a:ext>
            </a:extLst>
          </p:cNvPr>
          <p:cNvSpPr>
            <a:spLocks xmlns:a="http://schemas.openxmlformats.org/drawingml/2006/main" noGrp="1"/>
          </p:cNvSpPr>
          <p:nvPr/>
        </p:nvSpPr>
        <p:spPr>
          <a:xfrm xmlns:a="http://schemas.openxmlformats.org/drawingml/2006/main">
            <a:off x="590550" y="1390650"/>
            <a:ext cx="4533900" cy="4667250"/>
          </a:xfrm>
          <a:prstGeom xmlns:a="http://schemas.openxmlformats.org/drawingml/2006/main" prst="roundRect">
            <a:avLst>
              <a:gd name="adj" fmla="val 4622"/>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pic>
        <p:nvPicPr>
          <p:cNvPr id="27" name="Picture 26"/>
          <p:cNvPicPr>
            <a:picLocks xmlns:a="http://schemas.openxmlformats.org/drawingml/2006/main" noChangeAspect="1"/>
          </p:cNvPicPr>
          <p:nvPr/>
        </p:nvPicPr>
        <p:blipFill>
          <a:blip xmlns:r="http://schemas.openxmlformats.org/officeDocument/2006/relationships" xmlns:a="http://schemas.openxmlformats.org/drawingml/2006/main" r:embed="R34c9f674d36540f9"/>
          <a:stretch xmlns:a="http://schemas.openxmlformats.org/drawingml/2006/main"/>
        </p:blipFill>
        <p:spPr>
          <a:xfrm xmlns:a="http://schemas.openxmlformats.org/drawingml/2006/main">
            <a:off x="1288945" y="1466850"/>
            <a:ext cx="3137109" cy="4514850"/>
          </a:xfrm>
          <a:prstGeom xmlns:a="http://schemas.openxmlformats.org/drawingml/2006/main" prst="roundRect">
            <a:avLst>
              <a:gd name="adj" fmla="val 3478"/>
            </a:avLst>
          </a:prstGeom>
        </p:spPr>
      </p:pic>
      <p:sp>
        <p:nvSpPr>
          <p:cNvPr id="6" name="Rectangle: Rounded Corners 5">
            <a:extLst xmlns:a="http://schemas.openxmlformats.org/drawingml/2006/main">
              <a:ext uri="{FF2B5EF4-FFF2-40B4-BE49-F238E27FC236}">
                <a16:creationId xmlns:a16="http://schemas.microsoft.com/office/drawing/2014/main" id="{C2D27F53-047E-4AAD-A5CD-98C93D76A22B}"/>
              </a:ext>
            </a:extLst>
          </p:cNvPr>
          <p:cNvSpPr>
            <a:spLocks xmlns:a="http://schemas.openxmlformats.org/drawingml/2006/main" noGrp="1"/>
          </p:cNvSpPr>
          <p:nvPr/>
        </p:nvSpPr>
        <p:spPr>
          <a:xfrm xmlns:a="http://schemas.openxmlformats.org/drawingml/2006/main">
            <a:off x="5619750" y="1657350"/>
            <a:ext cx="4953000" cy="952500"/>
          </a:xfrm>
          <a:prstGeom xmlns:a="http://schemas.openxmlformats.org/drawingml/2006/main" prst="roundRect">
            <a:avLst>
              <a:gd name="adj" fmla="val 180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7" name="Rectangle: Rounded Corners 6">
            <a:extLst xmlns:a="http://schemas.openxmlformats.org/drawingml/2006/main">
              <a:ext uri="{FF2B5EF4-FFF2-40B4-BE49-F238E27FC236}">
                <a16:creationId xmlns:a16="http://schemas.microsoft.com/office/drawing/2014/main" id="{793BA368-C581-412F-A07B-BF73689BC655}"/>
              </a:ext>
            </a:extLst>
          </p:cNvPr>
          <p:cNvSpPr>
            <a:spLocks xmlns:a="http://schemas.openxmlformats.org/drawingml/2006/main" noGrp="1"/>
          </p:cNvSpPr>
          <p:nvPr/>
        </p:nvSpPr>
        <p:spPr>
          <a:xfrm xmlns:a="http://schemas.openxmlformats.org/drawingml/2006/main">
            <a:off x="5619750" y="1657350"/>
            <a:ext cx="66675" cy="952500"/>
          </a:xfrm>
          <a:prstGeom xmlns:a="http://schemas.openxmlformats.org/drawingml/2006/main" prst="roundRect">
            <a:avLst>
              <a:gd name="adj" fmla="val 50000"/>
            </a:avLst>
          </a:prstGeom>
          <a:solidFill xmlns:a="http://schemas.openxmlformats.org/drawingml/2006/main">
            <a:srgbClr val="3178C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Rectangle 7">
            <a:extLst xmlns:a="http://schemas.openxmlformats.org/drawingml/2006/main">
              <a:ext uri="{FF2B5EF4-FFF2-40B4-BE49-F238E27FC236}">
                <a16:creationId xmlns:a16="http://schemas.microsoft.com/office/drawing/2014/main" id="{39A37295-B912-4D7F-B8AA-2847E0FE1F68}"/>
              </a:ext>
            </a:extLst>
          </p:cNvPr>
          <p:cNvSpPr>
            <a:spLocks xmlns:a="http://schemas.openxmlformats.org/drawingml/2006/main" noGrp="1"/>
          </p:cNvSpPr>
          <p:nvPr/>
        </p:nvSpPr>
        <p:spPr>
          <a:xfrm xmlns:a="http://schemas.openxmlformats.org/drawingml/2006/main">
            <a:off x="5848350" y="182880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975" b="1">
                <a:solidFill>
                  <a:srgbClr val="5D7180"/>
                </a:solidFill>
                <a:latin typeface="Aptos"/>
                <a:ea typeface="Aptos"/>
                <a:cs typeface="Aptos"/>
              </a:defRPr>
            </a:pPr>
            <a:r>
              <a:rPr sz="975" b="1">
                <a:solidFill>
                  <a:srgbClr val="5D7180"/>
                </a:solidFill>
                <a:latin typeface="Aptos"/>
                <a:ea typeface="Aptos"/>
                <a:cs typeface="Aptos"/>
              </a:rPr>
              <a:t>INPUTS</a:t>
            </a:r>
          </a:p>
        </p:txBody>
      </p:sp>
      <p:sp>
        <p:nvSpPr>
          <p:cNvPr id="9" name="Rectangle 8">
            <a:extLst xmlns:a="http://schemas.openxmlformats.org/drawingml/2006/main">
              <a:ext uri="{FF2B5EF4-FFF2-40B4-BE49-F238E27FC236}">
                <a16:creationId xmlns:a16="http://schemas.microsoft.com/office/drawing/2014/main" id="{0B7B2BD5-76FE-444D-8ED1-354D98CCC9F0}"/>
              </a:ext>
            </a:extLst>
          </p:cNvPr>
          <p:cNvSpPr>
            <a:spLocks xmlns:a="http://schemas.openxmlformats.org/drawingml/2006/main" noGrp="1"/>
          </p:cNvSpPr>
          <p:nvPr/>
        </p:nvSpPr>
        <p:spPr>
          <a:xfrm xmlns:a="http://schemas.openxmlformats.org/drawingml/2006/main">
            <a:off x="5848350" y="2066925"/>
            <a:ext cx="449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10283D"/>
                </a:solidFill>
                <a:latin typeface="Aptos"/>
                <a:ea typeface="Aptos"/>
                <a:cs typeface="Aptos"/>
              </a:defRPr>
            </a:pPr>
            <a:r>
              <a:rPr sz="1800" b="1">
                <a:solidFill>
                  <a:srgbClr val="10283D"/>
                </a:solidFill>
                <a:latin typeface="Aptos"/>
                <a:ea typeface="Aptos"/>
                <a:cs typeface="Aptos"/>
              </a:rPr>
              <a:t>Sample data</a:t>
            </a:r>
          </a:p>
        </p:txBody>
      </p:sp>
      <p:sp>
        <p:nvSpPr>
          <p:cNvPr id="10" name="Rectangle: Rounded Corners 9">
            <a:extLst xmlns:a="http://schemas.openxmlformats.org/drawingml/2006/main">
              <a:ext uri="{FF2B5EF4-FFF2-40B4-BE49-F238E27FC236}">
                <a16:creationId xmlns:a16="http://schemas.microsoft.com/office/drawing/2014/main" id="{3B296606-2016-4B0D-BC79-2145AC2336F3}"/>
              </a:ext>
            </a:extLst>
          </p:cNvPr>
          <p:cNvSpPr>
            <a:spLocks xmlns:a="http://schemas.openxmlformats.org/drawingml/2006/main" noGrp="1"/>
          </p:cNvSpPr>
          <p:nvPr/>
        </p:nvSpPr>
        <p:spPr>
          <a:xfrm xmlns:a="http://schemas.openxmlformats.org/drawingml/2006/main">
            <a:off x="6191250" y="2886075"/>
            <a:ext cx="4953000" cy="952500"/>
          </a:xfrm>
          <a:prstGeom xmlns:a="http://schemas.openxmlformats.org/drawingml/2006/main" prst="roundRect">
            <a:avLst>
              <a:gd name="adj" fmla="val 180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11" name="Rectangle: Rounded Corners 10">
            <a:extLst xmlns:a="http://schemas.openxmlformats.org/drawingml/2006/main">
              <a:ext uri="{FF2B5EF4-FFF2-40B4-BE49-F238E27FC236}">
                <a16:creationId xmlns:a16="http://schemas.microsoft.com/office/drawing/2014/main" id="{0A07CDB1-305A-43F2-ACF3-A5080DDFFA56}"/>
              </a:ext>
            </a:extLst>
          </p:cNvPr>
          <p:cNvSpPr>
            <a:spLocks xmlns:a="http://schemas.openxmlformats.org/drawingml/2006/main" noGrp="1"/>
          </p:cNvSpPr>
          <p:nvPr/>
        </p:nvSpPr>
        <p:spPr>
          <a:xfrm xmlns:a="http://schemas.openxmlformats.org/drawingml/2006/main">
            <a:off x="6191250" y="2886075"/>
            <a:ext cx="66675" cy="952500"/>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69DBFCE2-A8F3-43A5-A23B-F32BB9BA2E5A}"/>
              </a:ext>
            </a:extLst>
          </p:cNvPr>
          <p:cNvSpPr>
            <a:spLocks xmlns:a="http://schemas.openxmlformats.org/drawingml/2006/main" noGrp="1"/>
          </p:cNvSpPr>
          <p:nvPr/>
        </p:nvSpPr>
        <p:spPr>
          <a:xfrm xmlns:a="http://schemas.openxmlformats.org/drawingml/2006/main">
            <a:off x="6419850" y="3057525"/>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975" b="1">
                <a:solidFill>
                  <a:srgbClr val="5D7180"/>
                </a:solidFill>
                <a:latin typeface="Aptos"/>
                <a:ea typeface="Aptos"/>
                <a:cs typeface="Aptos"/>
              </a:defRPr>
            </a:pPr>
            <a:r>
              <a:rPr sz="975" b="1">
                <a:solidFill>
                  <a:srgbClr val="5D7180"/>
                </a:solidFill>
                <a:latin typeface="Aptos"/>
                <a:ea typeface="Aptos"/>
                <a:cs typeface="Aptos"/>
              </a:rPr>
              <a:t>CALCULATION</a:t>
            </a:r>
          </a:p>
        </p:txBody>
      </p:sp>
      <p:sp>
        <p:nvSpPr>
          <p:cNvPr id="13" name="Rectangle 12">
            <a:extLst xmlns:a="http://schemas.openxmlformats.org/drawingml/2006/main">
              <a:ext uri="{FF2B5EF4-FFF2-40B4-BE49-F238E27FC236}">
                <a16:creationId xmlns:a16="http://schemas.microsoft.com/office/drawing/2014/main" id="{68D9537C-B042-4947-AC5F-23DE66FFD275}"/>
              </a:ext>
            </a:extLst>
          </p:cNvPr>
          <p:cNvSpPr>
            <a:spLocks xmlns:a="http://schemas.openxmlformats.org/drawingml/2006/main" noGrp="1"/>
          </p:cNvSpPr>
          <p:nvPr/>
        </p:nvSpPr>
        <p:spPr>
          <a:xfrm xmlns:a="http://schemas.openxmlformats.org/drawingml/2006/main">
            <a:off x="6419850" y="3295650"/>
            <a:ext cx="449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10283D"/>
                </a:solidFill>
                <a:latin typeface="Aptos"/>
                <a:ea typeface="Aptos"/>
                <a:cs typeface="Aptos"/>
              </a:defRPr>
            </a:pPr>
            <a:r>
              <a:rPr sz="1800" b="1">
                <a:solidFill>
                  <a:srgbClr val="10283D"/>
                </a:solidFill>
                <a:latin typeface="Aptos"/>
                <a:ea typeface="Aptos"/>
                <a:cs typeface="Aptos"/>
              </a:rPr>
              <a:t>Goals, ranges, and recent trends</a:t>
            </a:r>
          </a:p>
        </p:txBody>
      </p:sp>
      <p:sp>
        <p:nvSpPr>
          <p:cNvPr id="14" name="Rectangle: Rounded Corners 13">
            <a:extLst xmlns:a="http://schemas.openxmlformats.org/drawingml/2006/main">
              <a:ext uri="{FF2B5EF4-FFF2-40B4-BE49-F238E27FC236}">
                <a16:creationId xmlns:a16="http://schemas.microsoft.com/office/drawing/2014/main" id="{EBD8B9E6-3FAB-49DC-A499-8C1B5E984EC7}"/>
              </a:ext>
            </a:extLst>
          </p:cNvPr>
          <p:cNvSpPr>
            <a:spLocks xmlns:a="http://schemas.openxmlformats.org/drawingml/2006/main" noGrp="1"/>
          </p:cNvSpPr>
          <p:nvPr/>
        </p:nvSpPr>
        <p:spPr>
          <a:xfrm xmlns:a="http://schemas.openxmlformats.org/drawingml/2006/main">
            <a:off x="5619750" y="4114800"/>
            <a:ext cx="4953000" cy="952500"/>
          </a:xfrm>
          <a:prstGeom xmlns:a="http://schemas.openxmlformats.org/drawingml/2006/main" prst="roundRect">
            <a:avLst>
              <a:gd name="adj" fmla="val 180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15" name="Rectangle: Rounded Corners 14">
            <a:extLst xmlns:a="http://schemas.openxmlformats.org/drawingml/2006/main">
              <a:ext uri="{FF2B5EF4-FFF2-40B4-BE49-F238E27FC236}">
                <a16:creationId xmlns:a16="http://schemas.microsoft.com/office/drawing/2014/main" id="{49755D65-54BF-4EE7-BF2A-CD39950BB241}"/>
              </a:ext>
            </a:extLst>
          </p:cNvPr>
          <p:cNvSpPr>
            <a:spLocks xmlns:a="http://schemas.openxmlformats.org/drawingml/2006/main" noGrp="1"/>
          </p:cNvSpPr>
          <p:nvPr/>
        </p:nvSpPr>
        <p:spPr>
          <a:xfrm xmlns:a="http://schemas.openxmlformats.org/drawingml/2006/main">
            <a:off x="5619750" y="4114800"/>
            <a:ext cx="66675" cy="952500"/>
          </a:xfrm>
          <a:prstGeom xmlns:a="http://schemas.openxmlformats.org/drawingml/2006/main" prst="roundRect">
            <a:avLst>
              <a:gd name="adj" fmla="val 50000"/>
            </a:avLst>
          </a:prstGeom>
          <a:solidFill xmlns:a="http://schemas.openxmlformats.org/drawingml/2006/main">
            <a:srgbClr val="35A8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6" name="Rectangle 15">
            <a:extLst xmlns:a="http://schemas.openxmlformats.org/drawingml/2006/main">
              <a:ext uri="{FF2B5EF4-FFF2-40B4-BE49-F238E27FC236}">
                <a16:creationId xmlns:a16="http://schemas.microsoft.com/office/drawing/2014/main" id="{7258C336-1175-41D6-82C2-31EDD9A8AE63}"/>
              </a:ext>
            </a:extLst>
          </p:cNvPr>
          <p:cNvSpPr>
            <a:spLocks xmlns:a="http://schemas.openxmlformats.org/drawingml/2006/main" noGrp="1"/>
          </p:cNvSpPr>
          <p:nvPr/>
        </p:nvSpPr>
        <p:spPr>
          <a:xfrm xmlns:a="http://schemas.openxmlformats.org/drawingml/2006/main">
            <a:off x="5848350" y="4286250"/>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975" b="1">
                <a:solidFill>
                  <a:srgbClr val="5D7180"/>
                </a:solidFill>
                <a:latin typeface="Aptos"/>
                <a:ea typeface="Aptos"/>
                <a:cs typeface="Aptos"/>
              </a:defRPr>
            </a:pPr>
            <a:r>
              <a:rPr sz="975" b="1">
                <a:solidFill>
                  <a:srgbClr val="5D7180"/>
                </a:solidFill>
                <a:latin typeface="Aptos"/>
                <a:ea typeface="Aptos"/>
                <a:cs typeface="Aptos"/>
              </a:rPr>
              <a:t>EXPERIENCE</a:t>
            </a:r>
          </a:p>
        </p:txBody>
      </p:sp>
      <p:sp>
        <p:nvSpPr>
          <p:cNvPr id="17" name="Rectangle 16">
            <a:extLst xmlns:a="http://schemas.openxmlformats.org/drawingml/2006/main">
              <a:ext uri="{FF2B5EF4-FFF2-40B4-BE49-F238E27FC236}">
                <a16:creationId xmlns:a16="http://schemas.microsoft.com/office/drawing/2014/main" id="{280531DD-8917-44DC-A81B-6EC439F18CEC}"/>
              </a:ext>
            </a:extLst>
          </p:cNvPr>
          <p:cNvSpPr>
            <a:spLocks xmlns:a="http://schemas.openxmlformats.org/drawingml/2006/main" noGrp="1"/>
          </p:cNvSpPr>
          <p:nvPr/>
        </p:nvSpPr>
        <p:spPr>
          <a:xfrm xmlns:a="http://schemas.openxmlformats.org/drawingml/2006/main">
            <a:off x="5848350" y="4524375"/>
            <a:ext cx="449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10283D"/>
                </a:solidFill>
                <a:latin typeface="Aptos"/>
                <a:ea typeface="Aptos"/>
                <a:cs typeface="Aptos"/>
              </a:defRPr>
            </a:pPr>
            <a:r>
              <a:rPr sz="1800" b="1">
                <a:solidFill>
                  <a:srgbClr val="10283D"/>
                </a:solidFill>
                <a:latin typeface="Aptos"/>
                <a:ea typeface="Aptos"/>
                <a:cs typeface="Aptos"/>
              </a:rPr>
              <a:t>Scores with short guidance</a:t>
            </a:r>
          </a:p>
        </p:txBody>
      </p:sp>
      <p:sp>
        <p:nvSpPr>
          <p:cNvPr id="18" name="Rectangle 17">
            <a:extLst xmlns:a="http://schemas.openxmlformats.org/drawingml/2006/main">
              <a:ext uri="{FF2B5EF4-FFF2-40B4-BE49-F238E27FC236}">
                <a16:creationId xmlns:a16="http://schemas.microsoft.com/office/drawing/2014/main" id="{D60C9235-5EF2-40A7-8473-75C2080BD232}"/>
              </a:ext>
            </a:extLst>
          </p:cNvPr>
          <p:cNvSpPr>
            <a:spLocks xmlns:a="http://schemas.openxmlformats.org/drawingml/2006/main" noGrp="1"/>
          </p:cNvSpPr>
          <p:nvPr/>
        </p:nvSpPr>
        <p:spPr>
          <a:xfrm xmlns:a="http://schemas.openxmlformats.org/drawingml/2006/main">
            <a:off x="5810250" y="5381625"/>
            <a:ext cx="514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425" b="0">
                <a:solidFill>
                  <a:srgbClr val="5D7180"/>
                </a:solidFill>
                <a:latin typeface="Aptos"/>
                <a:ea typeface="Aptos"/>
                <a:cs typeface="Aptos"/>
              </a:defRPr>
            </a:pPr>
            <a:r>
              <a:rPr sz="1425" b="0">
                <a:solidFill>
                  <a:srgbClr val="5D7180"/>
                </a:solidFill>
                <a:latin typeface="Aptos"/>
                <a:ea typeface="Aptos"/>
                <a:cs typeface="Aptos"/>
              </a:rPr>
              <a:t>The interface is the experiment here, not the sample user’s health result.</a:t>
            </a:r>
          </a:p>
        </p:txBody>
      </p:sp>
      <p:sp>
        <p:nvSpPr>
          <p:cNvPr id="19" name="Rectangle 18">
            <a:extLst xmlns:a="http://schemas.openxmlformats.org/drawingml/2006/main">
              <a:ext uri="{FF2B5EF4-FFF2-40B4-BE49-F238E27FC236}">
                <a16:creationId xmlns:a16="http://schemas.microsoft.com/office/drawing/2014/main" id="{F6E116AB-B357-4B21-9B0C-F40C98FB8D05}"/>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20" name="Rectangle 19">
            <a:extLst xmlns:a="http://schemas.openxmlformats.org/drawingml/2006/main">
              <a:ext uri="{FF2B5EF4-FFF2-40B4-BE49-F238E27FC236}">
                <a16:creationId xmlns:a16="http://schemas.microsoft.com/office/drawing/2014/main" id="{E8B3C145-A479-4153-92A1-677D3B0D1EA0}"/>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08</a:t>
            </a:r>
          </a:p>
        </p:txBody>
      </p:sp>
    </p:spTree>
    <p:extLst>
      <p:ext uri="{BB962C8B-B14F-4D97-AF65-F5344CB8AC3E}">
        <p14:creationId xmlns:p14="http://schemas.microsoft.com/office/powerpoint/2010/main" val="2058507636"/>
      </p:ext>
    </p:extLst>
  </p:cSld>
</p:sld>
</file>

<file path=ppt/slides/slide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B19CFB66-09A1-439C-9E56-7B8F73B763A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Held out testing checks whether the models learned a signal</a:t>
            </a:r>
          </a:p>
        </p:txBody>
      </p:sp>
      <p:sp>
        <p:nvSpPr>
          <p:cNvPr id="2" name="Rectangle: Rounded Corners 1">
            <a:extLst xmlns:a="http://schemas.openxmlformats.org/drawingml/2006/main">
              <a:ext uri="{FF2B5EF4-FFF2-40B4-BE49-F238E27FC236}">
                <a16:creationId xmlns:a16="http://schemas.microsoft.com/office/drawing/2014/main" id="{6A6DA8DF-3B36-4EEA-9A5F-B54D6FD0A5F5}"/>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44ED54DC-B545-4B14-BF68-E6FFE63FFFB4}"/>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The experiment compares several approaches before any app demonstration.</a:t>
            </a:r>
          </a:p>
        </p:txBody>
      </p:sp>
      <p:sp>
        <p:nvSpPr>
          <p:cNvPr id="4" name="Rectangle: Rounded Corners 3">
            <a:extLst xmlns:a="http://schemas.openxmlformats.org/drawingml/2006/main">
              <a:ext uri="{FF2B5EF4-FFF2-40B4-BE49-F238E27FC236}">
                <a16:creationId xmlns:a16="http://schemas.microsoft.com/office/drawing/2014/main" id="{E8DFFFCE-A4FE-413A-A9D0-6EDBF3FE7936}"/>
              </a:ext>
            </a:extLst>
          </p:cNvPr>
          <p:cNvSpPr>
            <a:spLocks xmlns:a="http://schemas.openxmlformats.org/drawingml/2006/main" noGrp="1"/>
          </p:cNvSpPr>
          <p:nvPr/>
        </p:nvSpPr>
        <p:spPr>
          <a:xfrm xmlns:a="http://schemas.openxmlformats.org/drawingml/2006/main">
            <a:off x="666750" y="1428750"/>
            <a:ext cx="7334250" cy="466725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pic>
        <p:nvPicPr>
          <p:cNvPr id="20" name="Picture 19"/>
          <p:cNvPicPr>
            <a:picLocks xmlns:a="http://schemas.openxmlformats.org/drawingml/2006/main" noChangeAspect="1"/>
          </p:cNvPicPr>
          <p:nvPr/>
        </p:nvPicPr>
        <p:blipFill>
          <a:blip xmlns:r="http://schemas.openxmlformats.org/officeDocument/2006/relationships" xmlns:a="http://schemas.openxmlformats.org/drawingml/2006/main" r:embed="R472ff421dab94376"/>
          <a:stretch xmlns:a="http://schemas.openxmlformats.org/drawingml/2006/main"/>
        </p:blipFill>
        <p:spPr>
          <a:xfrm xmlns:a="http://schemas.openxmlformats.org/drawingml/2006/main">
            <a:off x="1404978" y="1581150"/>
            <a:ext cx="5857794" cy="4362450"/>
          </a:xfrm>
          <a:prstGeom xmlns:a="http://schemas.openxmlformats.org/drawingml/2006/main" prst="roundRect">
            <a:avLst>
              <a:gd name="adj" fmla="val 2183"/>
            </a:avLst>
          </a:prstGeom>
        </p:spPr>
      </p:pic>
      <p:sp>
        <p:nvSpPr>
          <p:cNvPr id="6" name="Rectangle 5">
            <a:extLst xmlns:a="http://schemas.openxmlformats.org/drawingml/2006/main">
              <a:ext uri="{FF2B5EF4-FFF2-40B4-BE49-F238E27FC236}">
                <a16:creationId xmlns:a16="http://schemas.microsoft.com/office/drawing/2014/main" id="{F85C19FB-0374-4333-BACB-4E401C955E8F}"/>
              </a:ext>
            </a:extLst>
          </p:cNvPr>
          <p:cNvSpPr>
            <a:spLocks xmlns:a="http://schemas.openxmlformats.org/drawingml/2006/main" noGrp="1"/>
          </p:cNvSpPr>
          <p:nvPr/>
        </p:nvSpPr>
        <p:spPr>
          <a:xfrm xmlns:a="http://schemas.openxmlformats.org/drawingml/2006/main">
            <a:off x="8572500" y="1619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WHAT WAS TESTED</a:t>
            </a:r>
          </a:p>
        </p:txBody>
      </p:sp>
      <p:sp>
        <p:nvSpPr>
          <p:cNvPr id="7" name="Rectangle 6">
            <a:extLst xmlns:a="http://schemas.openxmlformats.org/drawingml/2006/main">
              <a:ext uri="{FF2B5EF4-FFF2-40B4-BE49-F238E27FC236}">
                <a16:creationId xmlns:a16="http://schemas.microsoft.com/office/drawing/2014/main" id="{FFD19FB6-302C-439F-8931-E508EA57174B}"/>
              </a:ext>
            </a:extLst>
          </p:cNvPr>
          <p:cNvSpPr>
            <a:spLocks xmlns:a="http://schemas.openxmlformats.org/drawingml/2006/main" noGrp="1"/>
          </p:cNvSpPr>
          <p:nvPr/>
        </p:nvSpPr>
        <p:spPr>
          <a:xfrm xmlns:a="http://schemas.openxmlformats.org/drawingml/2006/main">
            <a:off x="8572500" y="20383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1">
                <a:solidFill>
                  <a:srgbClr val="10283D"/>
                </a:solidFill>
                <a:latin typeface="Aptos"/>
                <a:ea typeface="Aptos"/>
                <a:cs typeface="Aptos"/>
              </a:defRPr>
            </a:pPr>
            <a:r>
              <a:rPr sz="1875" b="1">
                <a:solidFill>
                  <a:srgbClr val="10283D"/>
                </a:solidFill>
                <a:latin typeface="Aptos"/>
                <a:ea typeface="Aptos"/>
                <a:cs typeface="Aptos"/>
              </a:rPr>
              <a:t>Participant level splits</a:t>
            </a:r>
          </a:p>
        </p:txBody>
      </p:sp>
      <p:sp>
        <p:nvSpPr>
          <p:cNvPr id="8" name="Rectangle 7">
            <a:extLst xmlns:a="http://schemas.openxmlformats.org/drawingml/2006/main">
              <a:ext uri="{FF2B5EF4-FFF2-40B4-BE49-F238E27FC236}">
                <a16:creationId xmlns:a16="http://schemas.microsoft.com/office/drawing/2014/main" id="{3A01FD83-0DBE-4328-AB20-524B99CABD8E}"/>
              </a:ext>
            </a:extLst>
          </p:cNvPr>
          <p:cNvSpPr>
            <a:spLocks xmlns:a="http://schemas.openxmlformats.org/drawingml/2006/main" noGrp="1"/>
          </p:cNvSpPr>
          <p:nvPr/>
        </p:nvSpPr>
        <p:spPr>
          <a:xfrm xmlns:a="http://schemas.openxmlformats.org/drawingml/2006/main">
            <a:off x="8572500" y="28765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1">
                <a:solidFill>
                  <a:srgbClr val="10283D"/>
                </a:solidFill>
                <a:latin typeface="Aptos"/>
                <a:ea typeface="Aptos"/>
                <a:cs typeface="Aptos"/>
              </a:defRPr>
            </a:pPr>
            <a:r>
              <a:rPr sz="1875" b="1">
                <a:solidFill>
                  <a:srgbClr val="10283D"/>
                </a:solidFill>
                <a:latin typeface="Aptos"/>
                <a:ea typeface="Aptos"/>
                <a:cs typeface="Aptos"/>
              </a:rPr>
              <a:t>Model comparisons</a:t>
            </a:r>
          </a:p>
        </p:txBody>
      </p:sp>
      <p:sp>
        <p:nvSpPr>
          <p:cNvPr id="9" name="Rectangle 8">
            <a:extLst xmlns:a="http://schemas.openxmlformats.org/drawingml/2006/main">
              <a:ext uri="{FF2B5EF4-FFF2-40B4-BE49-F238E27FC236}">
                <a16:creationId xmlns:a16="http://schemas.microsoft.com/office/drawing/2014/main" id="{2C4E788A-ACD6-43AD-A625-C17D3E1D7C22}"/>
              </a:ext>
            </a:extLst>
          </p:cNvPr>
          <p:cNvSpPr>
            <a:spLocks xmlns:a="http://schemas.openxmlformats.org/drawingml/2006/main" noGrp="1"/>
          </p:cNvSpPr>
          <p:nvPr/>
        </p:nvSpPr>
        <p:spPr>
          <a:xfrm xmlns:a="http://schemas.openxmlformats.org/drawingml/2006/main">
            <a:off x="8572500" y="3714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75" b="1">
                <a:solidFill>
                  <a:srgbClr val="10283D"/>
                </a:solidFill>
                <a:latin typeface="Aptos"/>
                <a:ea typeface="Aptos"/>
                <a:cs typeface="Aptos"/>
              </a:defRPr>
            </a:pPr>
            <a:r>
              <a:rPr sz="1875" b="1">
                <a:solidFill>
                  <a:srgbClr val="10283D"/>
                </a:solidFill>
                <a:latin typeface="Aptos"/>
                <a:ea typeface="Aptos"/>
                <a:cs typeface="Aptos"/>
              </a:rPr>
              <a:t>Held out performance</a:t>
            </a:r>
          </a:p>
        </p:txBody>
      </p:sp>
      <p:sp>
        <p:nvSpPr>
          <p:cNvPr id="10" name="Rectangle 9">
            <a:extLst xmlns:a="http://schemas.openxmlformats.org/drawingml/2006/main">
              <a:ext uri="{FF2B5EF4-FFF2-40B4-BE49-F238E27FC236}">
                <a16:creationId xmlns:a16="http://schemas.microsoft.com/office/drawing/2014/main" id="{41C1BF51-E975-485A-B7C6-D1DCE8BC7BCB}"/>
              </a:ext>
            </a:extLst>
          </p:cNvPr>
          <p:cNvSpPr>
            <a:spLocks xmlns:a="http://schemas.openxmlformats.org/drawingml/2006/main" noGrp="1"/>
          </p:cNvSpPr>
          <p:nvPr/>
        </p:nvSpPr>
        <p:spPr>
          <a:xfrm xmlns:a="http://schemas.openxmlformats.org/drawingml/2006/main">
            <a:off x="8572500" y="4486275"/>
            <a:ext cx="2667000" cy="9525"/>
          </a:xfrm>
          <a:prstGeom xmlns:a="http://schemas.openxmlformats.org/drawingml/2006/main" prst="rect">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4B7548C2-EA56-494A-9A79-70E86C559E9B}"/>
              </a:ext>
            </a:extLst>
          </p:cNvPr>
          <p:cNvSpPr>
            <a:spLocks xmlns:a="http://schemas.openxmlformats.org/drawingml/2006/main" noGrp="1"/>
          </p:cNvSpPr>
          <p:nvPr/>
        </p:nvSpPr>
        <p:spPr>
          <a:xfrm xmlns:a="http://schemas.openxmlformats.org/drawingml/2006/main">
            <a:off x="8572500" y="4762500"/>
            <a:ext cx="2667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0000"/>
              </a:lnSpc>
              <a:buNone/>
              <a:defRPr sz="1350" b="0">
                <a:solidFill>
                  <a:srgbClr val="5D7180"/>
                </a:solidFill>
                <a:latin typeface="Aptos"/>
                <a:ea typeface="Aptos"/>
                <a:cs typeface="Aptos"/>
              </a:defRPr>
            </a:pPr>
            <a:r>
              <a:rPr sz="1350" b="0">
                <a:solidFill>
                  <a:srgbClr val="5D7180"/>
                </a:solidFill>
                <a:latin typeface="Aptos"/>
                <a:ea typeface="Aptos"/>
                <a:cs typeface="Aptos"/>
              </a:rPr>
              <a:t>Classification performance does not establish diagnosis, safety, or clinical usefulness.</a:t>
            </a:r>
          </a:p>
        </p:txBody>
      </p:sp>
      <p:sp>
        <p:nvSpPr>
          <p:cNvPr id="12" name="Rectangle 11">
            <a:extLst xmlns:a="http://schemas.openxmlformats.org/drawingml/2006/main">
              <a:ext uri="{FF2B5EF4-FFF2-40B4-BE49-F238E27FC236}">
                <a16:creationId xmlns:a16="http://schemas.microsoft.com/office/drawing/2014/main" id="{8378DC82-FCD7-4A29-A73D-EB63CBBC2A43}"/>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3" name="Rectangle 12">
            <a:extLst xmlns:a="http://schemas.openxmlformats.org/drawingml/2006/main">
              <a:ext uri="{FF2B5EF4-FFF2-40B4-BE49-F238E27FC236}">
                <a16:creationId xmlns:a16="http://schemas.microsoft.com/office/drawing/2014/main" id="{E936F3E5-5470-4076-B1CC-86990F39C68B}"/>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09</a:t>
            </a:r>
          </a:p>
        </p:txBody>
      </p:sp>
    </p:spTree>
    <p:extLst>
      <p:ext uri="{BB962C8B-B14F-4D97-AF65-F5344CB8AC3E}">
        <p14:creationId xmlns:p14="http://schemas.microsoft.com/office/powerpoint/2010/main" val="289619432"/>
      </p:ext>
    </p:extLst>
  </p:cSld>
</p:sld>
</file>

<file path=ppt/slides/slide1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67D46A8D-6B5E-4616-B0F1-1A2CC9A3F15C}"/>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Model outputs become readable, not clinical</a:t>
            </a:r>
          </a:p>
        </p:txBody>
      </p:sp>
      <p:sp>
        <p:nvSpPr>
          <p:cNvPr id="2" name="Rectangle: Rounded Corners 1">
            <a:extLst xmlns:a="http://schemas.openxmlformats.org/drawingml/2006/main">
              <a:ext uri="{FF2B5EF4-FFF2-40B4-BE49-F238E27FC236}">
                <a16:creationId xmlns:a16="http://schemas.microsoft.com/office/drawing/2014/main" id="{FC2DC23C-EE1B-4447-8FA1-F59503E3C733}"/>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996FEB56-1789-4141-B3BB-9399E1B78B2E}"/>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The interface separates overall model separation from associated factors.</a:t>
            </a:r>
          </a:p>
        </p:txBody>
      </p:sp>
      <p:sp>
        <p:nvSpPr>
          <p:cNvPr id="4" name="Rectangle: Rounded Corners 3">
            <a:extLst xmlns:a="http://schemas.openxmlformats.org/drawingml/2006/main">
              <a:ext uri="{FF2B5EF4-FFF2-40B4-BE49-F238E27FC236}">
                <a16:creationId xmlns:a16="http://schemas.microsoft.com/office/drawing/2014/main" id="{A3E41F96-A649-4856-99EC-CC7DC0EE6327}"/>
              </a:ext>
            </a:extLst>
          </p:cNvPr>
          <p:cNvSpPr>
            <a:spLocks xmlns:a="http://schemas.openxmlformats.org/drawingml/2006/main" noGrp="1"/>
          </p:cNvSpPr>
          <p:nvPr/>
        </p:nvSpPr>
        <p:spPr>
          <a:xfrm xmlns:a="http://schemas.openxmlformats.org/drawingml/2006/main">
            <a:off x="666750" y="1524000"/>
            <a:ext cx="5238750" cy="4000500"/>
          </a:xfrm>
          <a:prstGeom xmlns:a="http://schemas.openxmlformats.org/drawingml/2006/main" prst="roundRect">
            <a:avLst>
              <a:gd name="adj" fmla="val 5238"/>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pic>
        <p:nvPicPr>
          <p:cNvPr id="20" name="Picture 19"/>
          <p:cNvPicPr>
            <a:picLocks xmlns:a="http://schemas.openxmlformats.org/drawingml/2006/main" noChangeAspect="1"/>
          </p:cNvPicPr>
          <p:nvPr/>
        </p:nvPicPr>
        <p:blipFill>
          <a:blip xmlns:r="http://schemas.openxmlformats.org/officeDocument/2006/relationships" xmlns:a="http://schemas.openxmlformats.org/drawingml/2006/main" r:embed="R4b4627e2e8f547c2"/>
          <a:stretch xmlns:a="http://schemas.openxmlformats.org/drawingml/2006/main"/>
        </p:blipFill>
        <p:spPr>
          <a:xfrm xmlns:a="http://schemas.openxmlformats.org/drawingml/2006/main">
            <a:off x="961571" y="1981200"/>
            <a:ext cx="4649107" cy="2857500"/>
          </a:xfrm>
          <a:prstGeom xmlns:a="http://schemas.openxmlformats.org/drawingml/2006/main" prst="roundRect">
            <a:avLst>
              <a:gd name="adj" fmla="val 4667"/>
            </a:avLst>
          </a:prstGeom>
        </p:spPr>
      </p:pic>
      <p:sp>
        <p:nvSpPr>
          <p:cNvPr id="6" name="Rectangle 5">
            <a:extLst xmlns:a="http://schemas.openxmlformats.org/drawingml/2006/main">
              <a:ext uri="{FF2B5EF4-FFF2-40B4-BE49-F238E27FC236}">
                <a16:creationId xmlns:a16="http://schemas.microsoft.com/office/drawing/2014/main" id="{897E211E-4C22-4A19-A7C4-568B09ED17C5}"/>
              </a:ext>
            </a:extLst>
          </p:cNvPr>
          <p:cNvSpPr>
            <a:spLocks xmlns:a="http://schemas.openxmlformats.org/drawingml/2006/main" noGrp="1"/>
          </p:cNvSpPr>
          <p:nvPr/>
        </p:nvSpPr>
        <p:spPr>
          <a:xfrm xmlns:a="http://schemas.openxmlformats.org/drawingml/2006/main">
            <a:off x="933450" y="16859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MODEL SEPARATION</a:t>
            </a:r>
          </a:p>
        </p:txBody>
      </p:sp>
      <p:sp>
        <p:nvSpPr>
          <p:cNvPr id="7" name="Rectangle: Rounded Corners 6">
            <a:extLst xmlns:a="http://schemas.openxmlformats.org/drawingml/2006/main">
              <a:ext uri="{FF2B5EF4-FFF2-40B4-BE49-F238E27FC236}">
                <a16:creationId xmlns:a16="http://schemas.microsoft.com/office/drawing/2014/main" id="{3A6E9DD6-1A8A-417F-B09D-61BAB57B344E}"/>
              </a:ext>
            </a:extLst>
          </p:cNvPr>
          <p:cNvSpPr>
            <a:spLocks xmlns:a="http://schemas.openxmlformats.org/drawingml/2006/main" noGrp="1"/>
          </p:cNvSpPr>
          <p:nvPr/>
        </p:nvSpPr>
        <p:spPr>
          <a:xfrm xmlns:a="http://schemas.openxmlformats.org/drawingml/2006/main">
            <a:off x="6286500" y="1524000"/>
            <a:ext cx="5238750" cy="4000500"/>
          </a:xfrm>
          <a:prstGeom xmlns:a="http://schemas.openxmlformats.org/drawingml/2006/main" prst="roundRect">
            <a:avLst>
              <a:gd name="adj" fmla="val 5238"/>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pic>
        <p:nvPicPr>
          <p:cNvPr id="23" name="Picture 22"/>
          <p:cNvPicPr>
            <a:picLocks xmlns:a="http://schemas.openxmlformats.org/drawingml/2006/main" noChangeAspect="1"/>
          </p:cNvPicPr>
          <p:nvPr/>
        </p:nvPicPr>
        <p:blipFill>
          <a:blip xmlns:r="http://schemas.openxmlformats.org/officeDocument/2006/relationships" xmlns:a="http://schemas.openxmlformats.org/drawingml/2006/main" r:embed="R690e632eca404265"/>
          <a:stretch xmlns:a="http://schemas.openxmlformats.org/drawingml/2006/main"/>
        </p:blipFill>
        <p:spPr>
          <a:xfrm xmlns:a="http://schemas.openxmlformats.org/drawingml/2006/main">
            <a:off x="6572250" y="2047177"/>
            <a:ext cx="4667250" cy="2887472"/>
          </a:xfrm>
          <a:prstGeom xmlns:a="http://schemas.openxmlformats.org/drawingml/2006/main" prst="roundRect">
            <a:avLst>
              <a:gd name="adj" fmla="val 4590"/>
            </a:avLst>
          </a:prstGeom>
        </p:spPr>
      </p:pic>
      <p:sp>
        <p:nvSpPr>
          <p:cNvPr id="9" name="Rectangle 8">
            <a:extLst xmlns:a="http://schemas.openxmlformats.org/drawingml/2006/main">
              <a:ext uri="{FF2B5EF4-FFF2-40B4-BE49-F238E27FC236}">
                <a16:creationId xmlns:a16="http://schemas.microsoft.com/office/drawing/2014/main" id="{92F7BD44-FB60-4517-BD1C-D379C6611C90}"/>
              </a:ext>
            </a:extLst>
          </p:cNvPr>
          <p:cNvSpPr>
            <a:spLocks xmlns:a="http://schemas.openxmlformats.org/drawingml/2006/main" noGrp="1"/>
          </p:cNvSpPr>
          <p:nvPr/>
        </p:nvSpPr>
        <p:spPr>
          <a:xfrm xmlns:a="http://schemas.openxmlformats.org/drawingml/2006/main">
            <a:off x="6572250" y="16859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13A6A2"/>
                </a:solidFill>
                <a:latin typeface="Aptos"/>
                <a:ea typeface="Aptos"/>
                <a:cs typeface="Aptos"/>
              </a:defRPr>
            </a:pPr>
            <a:r>
              <a:rPr sz="1050" b="1">
                <a:solidFill>
                  <a:srgbClr val="13A6A2"/>
                </a:solidFill>
                <a:latin typeface="Aptos"/>
                <a:ea typeface="Aptos"/>
                <a:cs typeface="Aptos"/>
              </a:rPr>
              <a:t>ASSOCIATED FACTORS</a:t>
            </a:r>
          </a:p>
        </p:txBody>
      </p:sp>
      <p:sp>
        <p:nvSpPr>
          <p:cNvPr id="10" name="Rectangle 9">
            <a:extLst xmlns:a="http://schemas.openxmlformats.org/drawingml/2006/main">
              <a:ext uri="{FF2B5EF4-FFF2-40B4-BE49-F238E27FC236}">
                <a16:creationId xmlns:a16="http://schemas.microsoft.com/office/drawing/2014/main" id="{16CEE128-E674-43F8-B808-90351BF97584}"/>
              </a:ext>
            </a:extLst>
          </p:cNvPr>
          <p:cNvSpPr>
            <a:spLocks xmlns:a="http://schemas.openxmlformats.org/drawingml/2006/main" noGrp="1"/>
          </p:cNvSpPr>
          <p:nvPr/>
        </p:nvSpPr>
        <p:spPr>
          <a:xfrm xmlns:a="http://schemas.openxmlformats.org/drawingml/2006/main">
            <a:off x="2476500" y="5810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725" b="1">
                <a:solidFill>
                  <a:srgbClr val="10283D"/>
                </a:solidFill>
                <a:latin typeface="Aptos"/>
                <a:ea typeface="Aptos"/>
                <a:cs typeface="Aptos"/>
              </a:defRPr>
            </a:pPr>
            <a:r>
              <a:rPr sz="1725" b="1">
                <a:solidFill>
                  <a:srgbClr val="10283D"/>
                </a:solidFill>
                <a:latin typeface="Aptos"/>
                <a:ea typeface="Aptos"/>
                <a:cs typeface="Aptos"/>
              </a:rPr>
              <a:t>Association ≠ causation     Classification ≠ diagnosis</a:t>
            </a:r>
          </a:p>
        </p:txBody>
      </p:sp>
      <p:sp>
        <p:nvSpPr>
          <p:cNvPr id="11" name="Rectangle 10">
            <a:extLst xmlns:a="http://schemas.openxmlformats.org/drawingml/2006/main">
              <a:ext uri="{FF2B5EF4-FFF2-40B4-BE49-F238E27FC236}">
                <a16:creationId xmlns:a16="http://schemas.microsoft.com/office/drawing/2014/main" id="{96702D4D-6F69-472C-BE35-F5959F340947}"/>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2" name="Rectangle 11">
            <a:extLst xmlns:a="http://schemas.openxmlformats.org/drawingml/2006/main">
              <a:ext uri="{FF2B5EF4-FFF2-40B4-BE49-F238E27FC236}">
                <a16:creationId xmlns:a16="http://schemas.microsoft.com/office/drawing/2014/main" id="{6A2F9BB4-D62E-4FFF-A1FD-A55D85AE2011}"/>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10</a:t>
            </a:r>
          </a:p>
        </p:txBody>
      </p:sp>
    </p:spTree>
    <p:extLst>
      <p:ext uri="{BB962C8B-B14F-4D97-AF65-F5344CB8AC3E}">
        <p14:creationId xmlns:p14="http://schemas.microsoft.com/office/powerpoint/2010/main" val="1101838932"/>
      </p:ext>
    </p:extLst>
  </p:cSld>
</p:sld>
</file>

<file path=ppt/slides/slide1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1C01CD71-F55C-4C80-92B0-8B253727AB8E}"/>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WellPath makes risk scores easier to understand</a:t>
            </a:r>
          </a:p>
        </p:txBody>
      </p:sp>
      <p:sp>
        <p:nvSpPr>
          <p:cNvPr id="2" name="Rectangle: Rounded Corners 1">
            <a:extLst xmlns:a="http://schemas.openxmlformats.org/drawingml/2006/main">
              <a:ext uri="{FF2B5EF4-FFF2-40B4-BE49-F238E27FC236}">
                <a16:creationId xmlns:a16="http://schemas.microsoft.com/office/drawing/2014/main" id="{D3CBA415-AE4B-4095-8E87-D2FBA2911B34}"/>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EDF62406-8EBA-4270-B945-921554EC1DE5}"/>
              </a:ext>
            </a:extLst>
          </p:cNvPr>
          <p:cNvSpPr>
            <a:spLocks xmlns:a="http://schemas.openxmlformats.org/drawingml/2006/main" noGrp="1"/>
          </p:cNvSpPr>
          <p:nvPr/>
        </p:nvSpPr>
        <p:spPr>
          <a:xfrm xmlns:a="http://schemas.openxmlformats.org/drawingml/2006/main">
            <a:off x="1428750" y="11811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A simple app may show only a score. WellPath also shows what influenced it.</a:t>
            </a:r>
          </a:p>
        </p:txBody>
      </p:sp>
      <p:sp>
        <p:nvSpPr>
          <p:cNvPr id="4" name="Rectangle 3">
            <a:extLst xmlns:a="http://schemas.openxmlformats.org/drawingml/2006/main">
              <a:ext uri="{FF2B5EF4-FFF2-40B4-BE49-F238E27FC236}">
                <a16:creationId xmlns:a16="http://schemas.microsoft.com/office/drawing/2014/main" id="{0AA77F17-35C7-4D65-8A55-B3D5F9205C7C}"/>
              </a:ext>
            </a:extLst>
          </p:cNvPr>
          <p:cNvSpPr>
            <a:spLocks xmlns:a="http://schemas.openxmlformats.org/drawingml/2006/main" noGrp="1"/>
          </p:cNvSpPr>
          <p:nvPr/>
        </p:nvSpPr>
        <p:spPr>
          <a:xfrm xmlns:a="http://schemas.openxmlformats.org/drawingml/2006/main">
            <a:off x="685800" y="20478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3A6A2"/>
                </a:solidFill>
                <a:latin typeface="Aptos"/>
                <a:ea typeface="Aptos"/>
                <a:cs typeface="Aptos"/>
              </a:defRPr>
            </a:pPr>
            <a:r>
              <a:rPr sz="1350" b="1">
                <a:solidFill>
                  <a:srgbClr val="13A6A2"/>
                </a:solidFill>
                <a:latin typeface="Aptos"/>
                <a:ea typeface="Aptos"/>
                <a:cs typeface="Aptos"/>
              </a:rPr>
              <a:t>01  RESULT</a:t>
            </a:r>
          </a:p>
        </p:txBody>
      </p:sp>
      <p:sp>
        <p:nvSpPr>
          <p:cNvPr id="5" name="Rectangle 4">
            <a:extLst xmlns:a="http://schemas.openxmlformats.org/drawingml/2006/main">
              <a:ext uri="{FF2B5EF4-FFF2-40B4-BE49-F238E27FC236}">
                <a16:creationId xmlns:a16="http://schemas.microsoft.com/office/drawing/2014/main" id="{7AE65DF3-EC64-4135-B008-F7D260A57620}"/>
              </a:ext>
            </a:extLst>
          </p:cNvPr>
          <p:cNvSpPr>
            <a:spLocks xmlns:a="http://schemas.openxmlformats.org/drawingml/2006/main" noGrp="1"/>
          </p:cNvSpPr>
          <p:nvPr/>
        </p:nvSpPr>
        <p:spPr>
          <a:xfrm xmlns:a="http://schemas.openxmlformats.org/drawingml/2006/main">
            <a:off x="4238625" y="20478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3A6A2"/>
                </a:solidFill>
                <a:latin typeface="Aptos"/>
                <a:ea typeface="Aptos"/>
                <a:cs typeface="Aptos"/>
              </a:defRPr>
            </a:pPr>
            <a:r>
              <a:rPr sz="1350" b="1">
                <a:solidFill>
                  <a:srgbClr val="13A6A2"/>
                </a:solidFill>
                <a:latin typeface="Aptos"/>
                <a:ea typeface="Aptos"/>
                <a:cs typeface="Aptos"/>
              </a:rPr>
              <a:t>02  CONTEXT</a:t>
            </a:r>
          </a:p>
        </p:txBody>
      </p:sp>
      <p:sp>
        <p:nvSpPr>
          <p:cNvPr id="6" name="Rectangle 5">
            <a:extLst xmlns:a="http://schemas.openxmlformats.org/drawingml/2006/main">
              <a:ext uri="{FF2B5EF4-FFF2-40B4-BE49-F238E27FC236}">
                <a16:creationId xmlns:a16="http://schemas.microsoft.com/office/drawing/2014/main" id="{BECEA387-F805-4E12-B051-0EB0BBC94652}"/>
              </a:ext>
            </a:extLst>
          </p:cNvPr>
          <p:cNvSpPr>
            <a:spLocks xmlns:a="http://schemas.openxmlformats.org/drawingml/2006/main" noGrp="1"/>
          </p:cNvSpPr>
          <p:nvPr/>
        </p:nvSpPr>
        <p:spPr>
          <a:xfrm xmlns:a="http://schemas.openxmlformats.org/drawingml/2006/main">
            <a:off x="685800" y="2571750"/>
            <a:ext cx="304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800" b="1">
                <a:solidFill>
                  <a:srgbClr val="10283D"/>
                </a:solidFill>
                <a:latin typeface="Aptos"/>
                <a:ea typeface="Aptos"/>
                <a:cs typeface="Aptos"/>
              </a:defRPr>
            </a:pPr>
            <a:r>
              <a:rPr sz="1800" b="1">
                <a:solidFill>
                  <a:srgbClr val="10283D"/>
                </a:solidFill>
                <a:latin typeface="Aptos"/>
                <a:ea typeface="Aptos"/>
                <a:cs typeface="Aptos"/>
              </a:rPr>
              <a:t>A simple tracker may show only the final score.</a:t>
            </a:r>
          </a:p>
        </p:txBody>
      </p:sp>
      <p:sp>
        <p:nvSpPr>
          <p:cNvPr id="7" name="Rectangle 6">
            <a:extLst xmlns:a="http://schemas.openxmlformats.org/drawingml/2006/main">
              <a:ext uri="{FF2B5EF4-FFF2-40B4-BE49-F238E27FC236}">
                <a16:creationId xmlns:a16="http://schemas.microsoft.com/office/drawing/2014/main" id="{B9E29DD3-7FA8-4EE8-BE7C-80F095489F29}"/>
              </a:ext>
            </a:extLst>
          </p:cNvPr>
          <p:cNvSpPr>
            <a:spLocks xmlns:a="http://schemas.openxmlformats.org/drawingml/2006/main" noGrp="1"/>
          </p:cNvSpPr>
          <p:nvPr/>
        </p:nvSpPr>
        <p:spPr>
          <a:xfrm xmlns:a="http://schemas.openxmlformats.org/drawingml/2006/main">
            <a:off x="4238625" y="2571750"/>
            <a:ext cx="304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800" b="1">
                <a:solidFill>
                  <a:srgbClr val="10283D"/>
                </a:solidFill>
                <a:latin typeface="Aptos"/>
                <a:ea typeface="Aptos"/>
                <a:cs typeface="Aptos"/>
              </a:defRPr>
            </a:pPr>
            <a:r>
              <a:rPr sz="1800" b="1">
                <a:solidFill>
                  <a:srgbClr val="10283D"/>
                </a:solidFill>
                <a:latin typeface="Aptos"/>
                <a:ea typeface="Aptos"/>
                <a:cs typeface="Aptos"/>
              </a:rPr>
              <a:t>WellPath considers several health and habit factors together.</a:t>
            </a:r>
          </a:p>
        </p:txBody>
      </p:sp>
      <p:sp>
        <p:nvSpPr>
          <p:cNvPr id="8" name="Rectangle 7">
            <a:extLst xmlns:a="http://schemas.openxmlformats.org/drawingml/2006/main">
              <a:ext uri="{FF2B5EF4-FFF2-40B4-BE49-F238E27FC236}">
                <a16:creationId xmlns:a16="http://schemas.microsoft.com/office/drawing/2014/main" id="{94A3B2DF-222A-4CB0-B53E-2895597ABFB2}"/>
              </a:ext>
            </a:extLst>
          </p:cNvPr>
          <p:cNvSpPr>
            <a:spLocks xmlns:a="http://schemas.openxmlformats.org/drawingml/2006/main" noGrp="1"/>
          </p:cNvSpPr>
          <p:nvPr/>
        </p:nvSpPr>
        <p:spPr>
          <a:xfrm xmlns:a="http://schemas.openxmlformats.org/drawingml/2006/main">
            <a:off x="7791450" y="20478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3A6A2"/>
                </a:solidFill>
                <a:latin typeface="Aptos"/>
                <a:ea typeface="Aptos"/>
                <a:cs typeface="Aptos"/>
              </a:defRPr>
            </a:pPr>
            <a:r>
              <a:rPr sz="1350" b="1">
                <a:solidFill>
                  <a:srgbClr val="13A6A2"/>
                </a:solidFill>
                <a:latin typeface="Aptos"/>
                <a:ea typeface="Aptos"/>
                <a:cs typeface="Aptos"/>
              </a:rPr>
              <a:t>03  REASONS</a:t>
            </a:r>
          </a:p>
        </p:txBody>
      </p:sp>
      <p:sp>
        <p:nvSpPr>
          <p:cNvPr id="9" name="Rectangle 8">
            <a:extLst xmlns:a="http://schemas.openxmlformats.org/drawingml/2006/main">
              <a:ext uri="{FF2B5EF4-FFF2-40B4-BE49-F238E27FC236}">
                <a16:creationId xmlns:a16="http://schemas.microsoft.com/office/drawing/2014/main" id="{5E1E61F8-C609-4CF9-95E0-B52782B00416}"/>
              </a:ext>
            </a:extLst>
          </p:cNvPr>
          <p:cNvSpPr>
            <a:spLocks xmlns:a="http://schemas.openxmlformats.org/drawingml/2006/main" noGrp="1"/>
          </p:cNvSpPr>
          <p:nvPr/>
        </p:nvSpPr>
        <p:spPr>
          <a:xfrm xmlns:a="http://schemas.openxmlformats.org/drawingml/2006/main">
            <a:off x="7791450" y="2571750"/>
            <a:ext cx="3238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800" b="1">
                <a:solidFill>
                  <a:srgbClr val="10283D"/>
                </a:solidFill>
                <a:latin typeface="Aptos"/>
                <a:ea typeface="Aptos"/>
                <a:cs typeface="Aptos"/>
              </a:defRPr>
            </a:pPr>
            <a:r>
              <a:rPr sz="1800" b="1">
                <a:solidFill>
                  <a:srgbClr val="10283D"/>
                </a:solidFill>
                <a:latin typeface="Aptos"/>
                <a:ea typeface="Aptos"/>
                <a:cs typeface="Aptos"/>
              </a:rPr>
              <a:t>It highlights the factors that had the strongest influence.</a:t>
            </a:r>
          </a:p>
        </p:txBody>
      </p:sp>
      <p:sp>
        <p:nvSpPr>
          <p:cNvPr id="10" name="Rectangle: Rounded Corners 9">
            <a:extLst xmlns:a="http://schemas.openxmlformats.org/drawingml/2006/main">
              <a:ext uri="{FF2B5EF4-FFF2-40B4-BE49-F238E27FC236}">
                <a16:creationId xmlns:a16="http://schemas.microsoft.com/office/drawing/2014/main" id="{4A41FD68-FE6D-4CE9-90A8-BD669915C143}"/>
              </a:ext>
            </a:extLst>
          </p:cNvPr>
          <p:cNvSpPr>
            <a:spLocks xmlns:a="http://schemas.openxmlformats.org/drawingml/2006/main" noGrp="1"/>
          </p:cNvSpPr>
          <p:nvPr/>
        </p:nvSpPr>
        <p:spPr>
          <a:xfrm xmlns:a="http://schemas.openxmlformats.org/drawingml/2006/main">
            <a:off x="685800" y="4476750"/>
            <a:ext cx="10134600" cy="28575"/>
          </a:xfrm>
          <a:prstGeom xmlns:a="http://schemas.openxmlformats.org/drawingml/2006/main" prst="roundRect">
            <a:avLst>
              <a:gd name="adj" fmla="val 50000"/>
            </a:avLst>
          </a:prstGeom>
          <a:solidFill xmlns:a="http://schemas.openxmlformats.org/drawingml/2006/main">
            <a:srgbClr val="D4E0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692D5D8D-93DC-4339-B68A-33DEDEA82A07}"/>
              </a:ext>
            </a:extLst>
          </p:cNvPr>
          <p:cNvSpPr>
            <a:spLocks xmlns:a="http://schemas.openxmlformats.org/drawingml/2006/main" noGrp="1"/>
          </p:cNvSpPr>
          <p:nvPr/>
        </p:nvSpPr>
        <p:spPr>
          <a:xfrm xmlns:a="http://schemas.openxmlformats.org/drawingml/2006/main">
            <a:off x="685800" y="4857750"/>
            <a:ext cx="1013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950" b="1">
                <a:solidFill>
                  <a:srgbClr val="10283D"/>
                </a:solidFill>
                <a:latin typeface="Aptos"/>
                <a:ea typeface="Aptos"/>
                <a:cs typeface="Aptos"/>
              </a:defRPr>
            </a:pPr>
            <a:r>
              <a:rPr sz="1950" b="1">
                <a:solidFill>
                  <a:srgbClr val="10283D"/>
                </a:solidFill>
                <a:latin typeface="Aptos"/>
                <a:ea typeface="Aptos"/>
                <a:cs typeface="Aptos"/>
              </a:rPr>
              <a:t>The goal is a clearer comparison, not a diagnosis.</a:t>
            </a:r>
          </a:p>
        </p:txBody>
      </p:sp>
      <p:sp>
        <p:nvSpPr>
          <p:cNvPr id="12" name="Rectangle 11">
            <a:extLst xmlns:a="http://schemas.openxmlformats.org/drawingml/2006/main">
              <a:ext uri="{FF2B5EF4-FFF2-40B4-BE49-F238E27FC236}">
                <a16:creationId xmlns:a16="http://schemas.microsoft.com/office/drawing/2014/main" id="{137A01C0-7796-481E-91CF-3D5D0B6E224E}"/>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3" name="Rectangle 12">
            <a:extLst xmlns:a="http://schemas.openxmlformats.org/drawingml/2006/main">
              <a:ext uri="{FF2B5EF4-FFF2-40B4-BE49-F238E27FC236}">
                <a16:creationId xmlns:a16="http://schemas.microsoft.com/office/drawing/2014/main" id="{8D53E420-0B05-4AD6-B60B-3B250333AE5B}"/>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11</a:t>
            </a:r>
          </a:p>
        </p:txBody>
      </p:sp>
    </p:spTree>
    <p:extLst>
      <p:ext uri="{BB962C8B-B14F-4D97-AF65-F5344CB8AC3E}">
        <p14:creationId xmlns:p14="http://schemas.microsoft.com/office/powerpoint/2010/main" val="471378643"/>
      </p:ext>
    </p:extLst>
  </p:cSld>
</p:sld>
</file>

<file path=ppt/slides/slide1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8C8A5EF8-CA25-4112-B784-C124747FE444}"/>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AI explains the result; it does not create it</a:t>
            </a:r>
          </a:p>
        </p:txBody>
      </p:sp>
      <p:sp>
        <p:nvSpPr>
          <p:cNvPr id="2" name="Rectangle: Rounded Corners 1">
            <a:extLst xmlns:a="http://schemas.openxmlformats.org/drawingml/2006/main">
              <a:ext uri="{FF2B5EF4-FFF2-40B4-BE49-F238E27FC236}">
                <a16:creationId xmlns:a16="http://schemas.microsoft.com/office/drawing/2014/main" id="{5D95BE6C-1126-414E-ACD9-1313F48991C1}"/>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BEED9EE9-246F-41DE-85F8-50D5F066BD85}"/>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Groq turns calculated outputs and sample context into a short interpretation.</a:t>
            </a:r>
          </a:p>
        </p:txBody>
      </p:sp>
      <p:sp>
        <p:nvSpPr>
          <p:cNvPr id="4" name="Rectangle: Rounded Corners 3">
            <a:extLst xmlns:a="http://schemas.openxmlformats.org/drawingml/2006/main">
              <a:ext uri="{FF2B5EF4-FFF2-40B4-BE49-F238E27FC236}">
                <a16:creationId xmlns:a16="http://schemas.microsoft.com/office/drawing/2014/main" id="{A9555F25-4664-4396-B9E7-D50053EE5D6F}"/>
              </a:ext>
            </a:extLst>
          </p:cNvPr>
          <p:cNvSpPr>
            <a:spLocks xmlns:a="http://schemas.openxmlformats.org/drawingml/2006/main" noGrp="1"/>
          </p:cNvSpPr>
          <p:nvPr/>
        </p:nvSpPr>
        <p:spPr>
          <a:xfrm xmlns:a="http://schemas.openxmlformats.org/drawingml/2006/main">
            <a:off x="609600" y="1466850"/>
            <a:ext cx="5295900" cy="4133850"/>
          </a:xfrm>
          <a:prstGeom xmlns:a="http://schemas.openxmlformats.org/drawingml/2006/main" prst="roundRect">
            <a:avLst>
              <a:gd name="adj" fmla="val 5069"/>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pic>
        <p:nvPicPr>
          <p:cNvPr id="24" name="Picture 23"/>
          <p:cNvPicPr>
            <a:picLocks xmlns:a="http://schemas.openxmlformats.org/drawingml/2006/main" noChangeAspect="1"/>
          </p:cNvPicPr>
          <p:nvPr/>
        </p:nvPicPr>
        <p:blipFill>
          <a:blip xmlns:r="http://schemas.openxmlformats.org/officeDocument/2006/relationships" xmlns:a="http://schemas.openxmlformats.org/drawingml/2006/main" r:embed="R7d81fb3499d7468f"/>
          <a:stretch xmlns:a="http://schemas.openxmlformats.org/drawingml/2006/main"/>
        </p:blipFill>
        <p:spPr>
          <a:xfrm xmlns:a="http://schemas.openxmlformats.org/drawingml/2006/main">
            <a:off x="876300" y="2266303"/>
            <a:ext cx="4762500" cy="2496845"/>
          </a:xfrm>
          <a:prstGeom xmlns:a="http://schemas.openxmlformats.org/drawingml/2006/main" prst="roundRect">
            <a:avLst>
              <a:gd name="adj" fmla="val 4348"/>
            </a:avLst>
          </a:prstGeom>
        </p:spPr>
      </p:pic>
      <p:sp>
        <p:nvSpPr>
          <p:cNvPr id="6" name="Rectangle: Rounded Corners 5">
            <a:extLst xmlns:a="http://schemas.openxmlformats.org/drawingml/2006/main">
              <a:ext uri="{FF2B5EF4-FFF2-40B4-BE49-F238E27FC236}">
                <a16:creationId xmlns:a16="http://schemas.microsoft.com/office/drawing/2014/main" id="{59760839-82D2-4D1B-8E7D-D0E3C12006F6}"/>
              </a:ext>
            </a:extLst>
          </p:cNvPr>
          <p:cNvSpPr>
            <a:spLocks xmlns:a="http://schemas.openxmlformats.org/drawingml/2006/main" noGrp="1"/>
          </p:cNvSpPr>
          <p:nvPr/>
        </p:nvSpPr>
        <p:spPr>
          <a:xfrm xmlns:a="http://schemas.openxmlformats.org/drawingml/2006/main">
            <a:off x="6534150" y="1771650"/>
            <a:ext cx="666750" cy="666750"/>
          </a:xfrm>
          <a:prstGeom xmlns:a="http://schemas.openxmlformats.org/drawingml/2006/main" prst="roundRect">
            <a:avLst>
              <a:gd name="adj" fmla="val 50000"/>
            </a:avLst>
          </a:prstGeom>
          <a:solidFill xmlns:a="http://schemas.openxmlformats.org/drawingml/2006/main">
            <a:srgbClr val="3178C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E95D4841-9B75-44BC-8667-666730BF64F4}"/>
              </a:ext>
            </a:extLst>
          </p:cNvPr>
          <p:cNvSpPr>
            <a:spLocks xmlns:a="http://schemas.openxmlformats.org/drawingml/2006/main" noGrp="1"/>
          </p:cNvSpPr>
          <p:nvPr/>
        </p:nvSpPr>
        <p:spPr>
          <a:xfrm xmlns:a="http://schemas.openxmlformats.org/drawingml/2006/main">
            <a:off x="6534150" y="19145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100" b="1">
                <a:solidFill>
                  <a:srgbClr val="FFFFFF"/>
                </a:solidFill>
                <a:latin typeface="Aptos"/>
                <a:ea typeface="Aptos"/>
                <a:cs typeface="Aptos"/>
              </a:defRPr>
            </a:pPr>
            <a:r>
              <a:rPr sz="2100" b="1">
                <a:solidFill>
                  <a:srgbClr val="FFFFFF"/>
                </a:solidFill>
                <a:latin typeface="Aptos"/>
                <a:ea typeface="Aptos"/>
                <a:cs typeface="Aptos"/>
              </a:rPr>
              <a:t>1</a:t>
            </a:r>
          </a:p>
        </p:txBody>
      </p:sp>
      <p:sp>
        <p:nvSpPr>
          <p:cNvPr id="8" name="Rectangle 7">
            <a:extLst xmlns:a="http://schemas.openxmlformats.org/drawingml/2006/main">
              <a:ext uri="{FF2B5EF4-FFF2-40B4-BE49-F238E27FC236}">
                <a16:creationId xmlns:a16="http://schemas.microsoft.com/office/drawing/2014/main" id="{D9183CED-861A-4A65-AE3F-678AC2E51F3A}"/>
              </a:ext>
            </a:extLst>
          </p:cNvPr>
          <p:cNvSpPr>
            <a:spLocks xmlns:a="http://schemas.openxmlformats.org/drawingml/2006/main" noGrp="1"/>
          </p:cNvSpPr>
          <p:nvPr/>
        </p:nvSpPr>
        <p:spPr>
          <a:xfrm xmlns:a="http://schemas.openxmlformats.org/drawingml/2006/main">
            <a:off x="7505700" y="1914525"/>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025" b="1">
                <a:solidFill>
                  <a:srgbClr val="10283D"/>
                </a:solidFill>
                <a:latin typeface="Aptos"/>
                <a:ea typeface="Aptos"/>
                <a:cs typeface="Aptos"/>
              </a:defRPr>
            </a:pPr>
            <a:r>
              <a:rPr sz="2025" b="1">
                <a:solidFill>
                  <a:srgbClr val="10283D"/>
                </a:solidFill>
                <a:latin typeface="Aptos"/>
                <a:ea typeface="Aptos"/>
                <a:cs typeface="Aptos"/>
              </a:rPr>
              <a:t>Calculated result</a:t>
            </a:r>
          </a:p>
        </p:txBody>
      </p:sp>
      <p:sp>
        <p:nvSpPr>
          <p:cNvPr id="9" name="Rectangle: Rounded Corners 8">
            <a:extLst xmlns:a="http://schemas.openxmlformats.org/drawingml/2006/main">
              <a:ext uri="{FF2B5EF4-FFF2-40B4-BE49-F238E27FC236}">
                <a16:creationId xmlns:a16="http://schemas.microsoft.com/office/drawing/2014/main" id="{BD2FE54F-6286-484C-AB85-3CFB30FB0EB0}"/>
              </a:ext>
            </a:extLst>
          </p:cNvPr>
          <p:cNvSpPr>
            <a:spLocks xmlns:a="http://schemas.openxmlformats.org/drawingml/2006/main" noGrp="1"/>
          </p:cNvSpPr>
          <p:nvPr/>
        </p:nvSpPr>
        <p:spPr>
          <a:xfrm xmlns:a="http://schemas.openxmlformats.org/drawingml/2006/main">
            <a:off x="6534150" y="2876550"/>
            <a:ext cx="666750" cy="666750"/>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AF01A700-C0C4-4552-AC0B-EB9BC896214C}"/>
              </a:ext>
            </a:extLst>
          </p:cNvPr>
          <p:cNvSpPr>
            <a:spLocks xmlns:a="http://schemas.openxmlformats.org/drawingml/2006/main" noGrp="1"/>
          </p:cNvSpPr>
          <p:nvPr/>
        </p:nvSpPr>
        <p:spPr>
          <a:xfrm xmlns:a="http://schemas.openxmlformats.org/drawingml/2006/main">
            <a:off x="6534150" y="30194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100" b="1">
                <a:solidFill>
                  <a:srgbClr val="FFFFFF"/>
                </a:solidFill>
                <a:latin typeface="Aptos"/>
                <a:ea typeface="Aptos"/>
                <a:cs typeface="Aptos"/>
              </a:defRPr>
            </a:pPr>
            <a:r>
              <a:rPr sz="2100" b="1">
                <a:solidFill>
                  <a:srgbClr val="FFFFFF"/>
                </a:solidFill>
                <a:latin typeface="Aptos"/>
                <a:ea typeface="Aptos"/>
                <a:cs typeface="Aptos"/>
              </a:rPr>
              <a:t>2</a:t>
            </a:r>
          </a:p>
        </p:txBody>
      </p:sp>
      <p:sp>
        <p:nvSpPr>
          <p:cNvPr id="11" name="Rectangle 10">
            <a:extLst xmlns:a="http://schemas.openxmlformats.org/drawingml/2006/main">
              <a:ext uri="{FF2B5EF4-FFF2-40B4-BE49-F238E27FC236}">
                <a16:creationId xmlns:a16="http://schemas.microsoft.com/office/drawing/2014/main" id="{06D5BEB0-3B71-4477-A1A9-8000ECF9980A}"/>
              </a:ext>
            </a:extLst>
          </p:cNvPr>
          <p:cNvSpPr>
            <a:spLocks xmlns:a="http://schemas.openxmlformats.org/drawingml/2006/main" noGrp="1"/>
          </p:cNvSpPr>
          <p:nvPr/>
        </p:nvSpPr>
        <p:spPr>
          <a:xfrm xmlns:a="http://schemas.openxmlformats.org/drawingml/2006/main">
            <a:off x="7505700" y="3019425"/>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025" b="1">
                <a:solidFill>
                  <a:srgbClr val="10283D"/>
                </a:solidFill>
                <a:latin typeface="Aptos"/>
                <a:ea typeface="Aptos"/>
                <a:cs typeface="Aptos"/>
              </a:defRPr>
            </a:pPr>
            <a:r>
              <a:rPr sz="2025" b="1">
                <a:solidFill>
                  <a:srgbClr val="10283D"/>
                </a:solidFill>
                <a:latin typeface="Aptos"/>
                <a:ea typeface="Aptos"/>
                <a:cs typeface="Aptos"/>
              </a:rPr>
              <a:t>Relevant context</a:t>
            </a:r>
          </a:p>
        </p:txBody>
      </p:sp>
      <p:sp>
        <p:nvSpPr>
          <p:cNvPr id="12" name="Rectangle: Rounded Corners 11">
            <a:extLst xmlns:a="http://schemas.openxmlformats.org/drawingml/2006/main">
              <a:ext uri="{FF2B5EF4-FFF2-40B4-BE49-F238E27FC236}">
                <a16:creationId xmlns:a16="http://schemas.microsoft.com/office/drawing/2014/main" id="{EF792D61-9A59-4AD7-806B-58886215E08C}"/>
              </a:ext>
            </a:extLst>
          </p:cNvPr>
          <p:cNvSpPr>
            <a:spLocks xmlns:a="http://schemas.openxmlformats.org/drawingml/2006/main" noGrp="1"/>
          </p:cNvSpPr>
          <p:nvPr/>
        </p:nvSpPr>
        <p:spPr>
          <a:xfrm xmlns:a="http://schemas.openxmlformats.org/drawingml/2006/main">
            <a:off x="6534150" y="3981450"/>
            <a:ext cx="666750" cy="666750"/>
          </a:xfrm>
          <a:prstGeom xmlns:a="http://schemas.openxmlformats.org/drawingml/2006/main" prst="roundRect">
            <a:avLst>
              <a:gd name="adj" fmla="val 50000"/>
            </a:avLst>
          </a:prstGeom>
          <a:solidFill xmlns:a="http://schemas.openxmlformats.org/drawingml/2006/main">
            <a:srgbClr val="35A8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Rectangle 12">
            <a:extLst xmlns:a="http://schemas.openxmlformats.org/drawingml/2006/main">
              <a:ext uri="{FF2B5EF4-FFF2-40B4-BE49-F238E27FC236}">
                <a16:creationId xmlns:a16="http://schemas.microsoft.com/office/drawing/2014/main" id="{05A67DD7-00D1-4FE0-89D0-51012E588D24}"/>
              </a:ext>
            </a:extLst>
          </p:cNvPr>
          <p:cNvSpPr>
            <a:spLocks xmlns:a="http://schemas.openxmlformats.org/drawingml/2006/main" noGrp="1"/>
          </p:cNvSpPr>
          <p:nvPr/>
        </p:nvSpPr>
        <p:spPr>
          <a:xfrm xmlns:a="http://schemas.openxmlformats.org/drawingml/2006/main">
            <a:off x="6534150" y="41243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100" b="1">
                <a:solidFill>
                  <a:srgbClr val="FFFFFF"/>
                </a:solidFill>
                <a:latin typeface="Aptos"/>
                <a:ea typeface="Aptos"/>
                <a:cs typeface="Aptos"/>
              </a:defRPr>
            </a:pPr>
            <a:r>
              <a:rPr sz="2100" b="1">
                <a:solidFill>
                  <a:srgbClr val="FFFFFF"/>
                </a:solidFill>
                <a:latin typeface="Aptos"/>
                <a:ea typeface="Aptos"/>
                <a:cs typeface="Aptos"/>
              </a:rPr>
              <a:t>3</a:t>
            </a:r>
          </a:p>
        </p:txBody>
      </p:sp>
      <p:sp>
        <p:nvSpPr>
          <p:cNvPr id="14" name="Rectangle 13">
            <a:extLst xmlns:a="http://schemas.openxmlformats.org/drawingml/2006/main">
              <a:ext uri="{FF2B5EF4-FFF2-40B4-BE49-F238E27FC236}">
                <a16:creationId xmlns:a16="http://schemas.microsoft.com/office/drawing/2014/main" id="{2F455C67-5407-4218-9DC6-0FE486E79472}"/>
              </a:ext>
            </a:extLst>
          </p:cNvPr>
          <p:cNvSpPr>
            <a:spLocks xmlns:a="http://schemas.openxmlformats.org/drawingml/2006/main" noGrp="1"/>
          </p:cNvSpPr>
          <p:nvPr/>
        </p:nvSpPr>
        <p:spPr>
          <a:xfrm xmlns:a="http://schemas.openxmlformats.org/drawingml/2006/main">
            <a:off x="7505700" y="4124325"/>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025" b="1">
                <a:solidFill>
                  <a:srgbClr val="10283D"/>
                </a:solidFill>
                <a:latin typeface="Aptos"/>
                <a:ea typeface="Aptos"/>
                <a:cs typeface="Aptos"/>
              </a:defRPr>
            </a:pPr>
            <a:r>
              <a:rPr sz="2025" b="1">
                <a:solidFill>
                  <a:srgbClr val="10283D"/>
                </a:solidFill>
                <a:latin typeface="Aptos"/>
                <a:ea typeface="Aptos"/>
                <a:cs typeface="Aptos"/>
              </a:rPr>
              <a:t>Plain language insight</a:t>
            </a:r>
          </a:p>
        </p:txBody>
      </p:sp>
      <p:sp>
        <p:nvSpPr>
          <p:cNvPr id="15" name="Rectangle 14">
            <a:extLst xmlns:a="http://schemas.openxmlformats.org/drawingml/2006/main">
              <a:ext uri="{FF2B5EF4-FFF2-40B4-BE49-F238E27FC236}">
                <a16:creationId xmlns:a16="http://schemas.microsoft.com/office/drawing/2014/main" id="{8A3450EF-0D6B-4DD2-BBE4-6329C4B7E7AF}"/>
              </a:ext>
            </a:extLst>
          </p:cNvPr>
          <p:cNvSpPr>
            <a:spLocks xmlns:a="http://schemas.openxmlformats.org/drawingml/2006/main" noGrp="1"/>
          </p:cNvSpPr>
          <p:nvPr/>
        </p:nvSpPr>
        <p:spPr>
          <a:xfrm xmlns:a="http://schemas.openxmlformats.org/drawingml/2006/main">
            <a:off x="6534150" y="5219700"/>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0000"/>
              </a:lnSpc>
              <a:buNone/>
              <a:defRPr sz="1425" b="0">
                <a:solidFill>
                  <a:srgbClr val="5D7180"/>
                </a:solidFill>
                <a:latin typeface="Aptos"/>
                <a:ea typeface="Aptos"/>
                <a:cs typeface="Aptos"/>
              </a:defRPr>
            </a:pPr>
            <a:r>
              <a:rPr sz="1425" b="0">
                <a:solidFill>
                  <a:srgbClr val="5D7180"/>
                </a:solidFill>
                <a:latin typeface="Aptos"/>
                <a:ea typeface="Aptos"/>
                <a:cs typeface="Aptos"/>
              </a:rPr>
              <a:t>The explanation layer can still be incomplete or wrong, so it remains part of the experiment.</a:t>
            </a:r>
          </a:p>
        </p:txBody>
      </p:sp>
      <p:sp>
        <p:nvSpPr>
          <p:cNvPr id="16" name="Rectangle 15">
            <a:extLst xmlns:a="http://schemas.openxmlformats.org/drawingml/2006/main">
              <a:ext uri="{FF2B5EF4-FFF2-40B4-BE49-F238E27FC236}">
                <a16:creationId xmlns:a16="http://schemas.microsoft.com/office/drawing/2014/main" id="{33B89CF6-5DEC-46A6-859D-DC2FB4357BED}"/>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7" name="Rectangle 16">
            <a:extLst xmlns:a="http://schemas.openxmlformats.org/drawingml/2006/main">
              <a:ext uri="{FF2B5EF4-FFF2-40B4-BE49-F238E27FC236}">
                <a16:creationId xmlns:a16="http://schemas.microsoft.com/office/drawing/2014/main" id="{CFEAC1C4-64FC-4B5B-82B8-5FEFA2347874}"/>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12</a:t>
            </a:r>
          </a:p>
        </p:txBody>
      </p:sp>
    </p:spTree>
    <p:extLst>
      <p:ext uri="{BB962C8B-B14F-4D97-AF65-F5344CB8AC3E}">
        <p14:creationId xmlns:p14="http://schemas.microsoft.com/office/powerpoint/2010/main" val="545380320"/>
      </p:ext>
    </p:extLst>
  </p:cSld>
</p:sld>
</file>

<file path=ppt/slides/slide1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8C8A5EF8-CA25-4112-B784-C124747FE444}"/>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AI insights adapt to each person's habits</a:t>
            </a:r>
          </a:p>
        </p:txBody>
      </p:sp>
      <p:sp>
        <p:nvSpPr>
          <p:cNvPr id="2" name="Rectangle: Rounded Corners 1">
            <a:extLst xmlns:a="http://schemas.openxmlformats.org/drawingml/2006/main">
              <a:ext uri="{FF2B5EF4-FFF2-40B4-BE49-F238E27FC236}">
                <a16:creationId xmlns:a16="http://schemas.microsoft.com/office/drawing/2014/main" id="{5D95BE6C-1126-414E-ACD9-1313F48991C1}"/>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BEED9EE9-246F-41DE-85F8-50D5F066BD85}"/>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Users can select a suggested topic or ask their own question.</a:t>
            </a:r>
          </a:p>
        </p:txBody>
      </p:sp>
      <p:sp>
        <p:nvSpPr>
          <p:cNvPr id="4" name="Rectangle: Rounded Corners 3">
            <a:extLst xmlns:a="http://schemas.openxmlformats.org/drawingml/2006/main">
              <a:ext uri="{FF2B5EF4-FFF2-40B4-BE49-F238E27FC236}">
                <a16:creationId xmlns:a16="http://schemas.microsoft.com/office/drawing/2014/main" id="{A9555F25-4664-4396-B9E7-D50053EE5D6F}"/>
              </a:ext>
            </a:extLst>
          </p:cNvPr>
          <p:cNvSpPr>
            <a:spLocks xmlns:a="http://schemas.openxmlformats.org/drawingml/2006/main" noGrp="1"/>
          </p:cNvSpPr>
          <p:nvPr/>
        </p:nvSpPr>
        <p:spPr>
          <a:xfrm xmlns:a="http://schemas.openxmlformats.org/drawingml/2006/main">
            <a:off x="609600" y="1466850"/>
            <a:ext cx="5295900" cy="4133850"/>
          </a:xfrm>
          <a:prstGeom xmlns:a="http://schemas.openxmlformats.org/drawingml/2006/main" prst="roundRect">
            <a:avLst>
              <a:gd name="adj" fmla="val 5069"/>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6" name="Rectangle: Rounded Corners 5">
            <a:extLst xmlns:a="http://schemas.openxmlformats.org/drawingml/2006/main">
              <a:ext uri="{FF2B5EF4-FFF2-40B4-BE49-F238E27FC236}">
                <a16:creationId xmlns:a16="http://schemas.microsoft.com/office/drawing/2014/main" id="{59760839-82D2-4D1B-8E7D-D0E3C12006F6}"/>
              </a:ext>
            </a:extLst>
          </p:cNvPr>
          <p:cNvSpPr>
            <a:spLocks xmlns:a="http://schemas.openxmlformats.org/drawingml/2006/main" noGrp="1"/>
          </p:cNvSpPr>
          <p:nvPr/>
        </p:nvSpPr>
        <p:spPr>
          <a:xfrm xmlns:a="http://schemas.openxmlformats.org/drawingml/2006/main">
            <a:off x="6534150" y="1771650"/>
            <a:ext cx="666750" cy="666750"/>
          </a:xfrm>
          <a:prstGeom xmlns:a="http://schemas.openxmlformats.org/drawingml/2006/main" prst="roundRect">
            <a:avLst>
              <a:gd name="adj" fmla="val 50000"/>
            </a:avLst>
          </a:prstGeom>
          <a:solidFill xmlns:a="http://schemas.openxmlformats.org/drawingml/2006/main">
            <a:srgbClr val="3178C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E95D4841-9B75-44BC-8667-666730BF64F4}"/>
              </a:ext>
            </a:extLst>
          </p:cNvPr>
          <p:cNvSpPr>
            <a:spLocks xmlns:a="http://schemas.openxmlformats.org/drawingml/2006/main" noGrp="1"/>
          </p:cNvSpPr>
          <p:nvPr/>
        </p:nvSpPr>
        <p:spPr>
          <a:xfrm xmlns:a="http://schemas.openxmlformats.org/drawingml/2006/main">
            <a:off x="6534150" y="19145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100" b="1">
                <a:solidFill>
                  <a:srgbClr val="FFFFFF"/>
                </a:solidFill>
                <a:latin typeface="Aptos"/>
                <a:ea typeface="Aptos"/>
                <a:cs typeface="Aptos"/>
              </a:defRPr>
            </a:pPr>
            <a:r>
              <a:rPr sz="2100" b="1">
                <a:solidFill>
                  <a:srgbClr val="FFFFFF"/>
                </a:solidFill>
                <a:latin typeface="Aptos"/>
                <a:ea typeface="Aptos"/>
                <a:cs typeface="Aptos"/>
              </a:rPr>
              <a:t>1</a:t>
            </a:r>
          </a:p>
        </p:txBody>
      </p:sp>
      <p:sp>
        <p:nvSpPr>
          <p:cNvPr id="8" name="Rectangle 7">
            <a:extLst xmlns:a="http://schemas.openxmlformats.org/drawingml/2006/main">
              <a:ext uri="{FF2B5EF4-FFF2-40B4-BE49-F238E27FC236}">
                <a16:creationId xmlns:a16="http://schemas.microsoft.com/office/drawing/2014/main" id="{D9183CED-861A-4A65-AE3F-678AC2E51F3A}"/>
              </a:ext>
            </a:extLst>
          </p:cNvPr>
          <p:cNvSpPr>
            <a:spLocks xmlns:a="http://schemas.openxmlformats.org/drawingml/2006/main" noGrp="1"/>
          </p:cNvSpPr>
          <p:nvPr/>
        </p:nvSpPr>
        <p:spPr>
          <a:xfrm xmlns:a="http://schemas.openxmlformats.org/drawingml/2006/main">
            <a:off x="7505700" y="1914525"/>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025" b="1">
                <a:solidFill>
                  <a:srgbClr val="10283D"/>
                </a:solidFill>
                <a:latin typeface="Aptos"/>
                <a:ea typeface="Aptos"/>
                <a:cs typeface="Aptos"/>
              </a:defRPr>
            </a:pPr>
            <a:r>
              <a:rPr sz="2025" b="1">
                <a:solidFill>
                  <a:srgbClr val="10283D"/>
                </a:solidFill>
                <a:latin typeface="Aptos"/>
                <a:ea typeface="Aptos"/>
                <a:cs typeface="Aptos"/>
              </a:rPr>
              <a:t>Choose a question</a:t>
            </a:r>
          </a:p>
        </p:txBody>
      </p:sp>
      <p:sp>
        <p:nvSpPr>
          <p:cNvPr id="9" name="Rectangle: Rounded Corners 8">
            <a:extLst xmlns:a="http://schemas.openxmlformats.org/drawingml/2006/main">
              <a:ext uri="{FF2B5EF4-FFF2-40B4-BE49-F238E27FC236}">
                <a16:creationId xmlns:a16="http://schemas.microsoft.com/office/drawing/2014/main" id="{BD2FE54F-6286-484C-AB85-3CFB30FB0EB0}"/>
              </a:ext>
            </a:extLst>
          </p:cNvPr>
          <p:cNvSpPr>
            <a:spLocks xmlns:a="http://schemas.openxmlformats.org/drawingml/2006/main" noGrp="1"/>
          </p:cNvSpPr>
          <p:nvPr/>
        </p:nvSpPr>
        <p:spPr>
          <a:xfrm xmlns:a="http://schemas.openxmlformats.org/drawingml/2006/main">
            <a:off x="6534150" y="2876550"/>
            <a:ext cx="666750" cy="666750"/>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AF01A700-C0C4-4552-AC0B-EB9BC896214C}"/>
              </a:ext>
            </a:extLst>
          </p:cNvPr>
          <p:cNvSpPr>
            <a:spLocks xmlns:a="http://schemas.openxmlformats.org/drawingml/2006/main" noGrp="1"/>
          </p:cNvSpPr>
          <p:nvPr/>
        </p:nvSpPr>
        <p:spPr>
          <a:xfrm xmlns:a="http://schemas.openxmlformats.org/drawingml/2006/main">
            <a:off x="6534150" y="30194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100" b="1">
                <a:solidFill>
                  <a:srgbClr val="FFFFFF"/>
                </a:solidFill>
                <a:latin typeface="Aptos"/>
                <a:ea typeface="Aptos"/>
                <a:cs typeface="Aptos"/>
              </a:defRPr>
            </a:pPr>
            <a:r>
              <a:rPr sz="2100" b="1">
                <a:solidFill>
                  <a:srgbClr val="FFFFFF"/>
                </a:solidFill>
                <a:latin typeface="Aptos"/>
                <a:ea typeface="Aptos"/>
                <a:cs typeface="Aptos"/>
              </a:rPr>
              <a:t>2</a:t>
            </a:r>
          </a:p>
        </p:txBody>
      </p:sp>
      <p:sp>
        <p:nvSpPr>
          <p:cNvPr id="11" name="Rectangle 10">
            <a:extLst xmlns:a="http://schemas.openxmlformats.org/drawingml/2006/main">
              <a:ext uri="{FF2B5EF4-FFF2-40B4-BE49-F238E27FC236}">
                <a16:creationId xmlns:a16="http://schemas.microsoft.com/office/drawing/2014/main" id="{06D5BEB0-3B71-4477-A1A9-8000ECF9980A}"/>
              </a:ext>
            </a:extLst>
          </p:cNvPr>
          <p:cNvSpPr>
            <a:spLocks xmlns:a="http://schemas.openxmlformats.org/drawingml/2006/main" noGrp="1"/>
          </p:cNvSpPr>
          <p:nvPr/>
        </p:nvSpPr>
        <p:spPr>
          <a:xfrm xmlns:a="http://schemas.openxmlformats.org/drawingml/2006/main">
            <a:off x="7505700" y="3019425"/>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025" b="1">
                <a:solidFill>
                  <a:srgbClr val="10283D"/>
                </a:solidFill>
                <a:latin typeface="Aptos"/>
                <a:ea typeface="Aptos"/>
                <a:cs typeface="Aptos"/>
              </a:defRPr>
            </a:pPr>
            <a:r>
              <a:rPr sz="2025" b="1">
                <a:solidFill>
                  <a:srgbClr val="10283D"/>
                </a:solidFill>
                <a:latin typeface="Aptos"/>
                <a:ea typeface="Aptos"/>
                <a:cs typeface="Aptos"/>
              </a:rPr>
              <a:t>Habits provide context</a:t>
            </a:r>
          </a:p>
        </p:txBody>
      </p:sp>
      <p:sp>
        <p:nvSpPr>
          <p:cNvPr id="12" name="Rectangle: Rounded Corners 11">
            <a:extLst xmlns:a="http://schemas.openxmlformats.org/drawingml/2006/main">
              <a:ext uri="{FF2B5EF4-FFF2-40B4-BE49-F238E27FC236}">
                <a16:creationId xmlns:a16="http://schemas.microsoft.com/office/drawing/2014/main" id="{EF792D61-9A59-4AD7-806B-58886215E08C}"/>
              </a:ext>
            </a:extLst>
          </p:cNvPr>
          <p:cNvSpPr>
            <a:spLocks xmlns:a="http://schemas.openxmlformats.org/drawingml/2006/main" noGrp="1"/>
          </p:cNvSpPr>
          <p:nvPr/>
        </p:nvSpPr>
        <p:spPr>
          <a:xfrm xmlns:a="http://schemas.openxmlformats.org/drawingml/2006/main">
            <a:off x="6534150" y="3981450"/>
            <a:ext cx="666750" cy="666750"/>
          </a:xfrm>
          <a:prstGeom xmlns:a="http://schemas.openxmlformats.org/drawingml/2006/main" prst="roundRect">
            <a:avLst>
              <a:gd name="adj" fmla="val 50000"/>
            </a:avLst>
          </a:prstGeom>
          <a:solidFill xmlns:a="http://schemas.openxmlformats.org/drawingml/2006/main">
            <a:srgbClr val="35A8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Rectangle 12">
            <a:extLst xmlns:a="http://schemas.openxmlformats.org/drawingml/2006/main">
              <a:ext uri="{FF2B5EF4-FFF2-40B4-BE49-F238E27FC236}">
                <a16:creationId xmlns:a16="http://schemas.microsoft.com/office/drawing/2014/main" id="{05A67DD7-00D1-4FE0-89D0-51012E588D24}"/>
              </a:ext>
            </a:extLst>
          </p:cNvPr>
          <p:cNvSpPr>
            <a:spLocks xmlns:a="http://schemas.openxmlformats.org/drawingml/2006/main" noGrp="1"/>
          </p:cNvSpPr>
          <p:nvPr/>
        </p:nvSpPr>
        <p:spPr>
          <a:xfrm xmlns:a="http://schemas.openxmlformats.org/drawingml/2006/main">
            <a:off x="6534150" y="4124325"/>
            <a:ext cx="66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a:bodyPr>
          <a:lstStyle xmlns:a="http://schemas.openxmlformats.org/drawingml/2006/main"/>
          <a:p xmlns:a="http://schemas.openxmlformats.org/drawingml/2006/main">
            <a:pPr algn="ctr">
              <a:lnSpc>
                <a:spcPct val="100000"/>
              </a:lnSpc>
              <a:buNone/>
              <a:defRPr sz="2100" b="1">
                <a:solidFill>
                  <a:srgbClr val="FFFFFF"/>
                </a:solidFill>
                <a:latin typeface="Aptos"/>
                <a:ea typeface="Aptos"/>
                <a:cs typeface="Aptos"/>
              </a:defRPr>
            </a:pPr>
            <a:r>
              <a:rPr sz="2100" b="1">
                <a:solidFill>
                  <a:srgbClr val="FFFFFF"/>
                </a:solidFill>
                <a:latin typeface="Aptos"/>
                <a:ea typeface="Aptos"/>
                <a:cs typeface="Aptos"/>
              </a:rPr>
              <a:t>3</a:t>
            </a:r>
          </a:p>
        </p:txBody>
      </p:sp>
      <p:sp>
        <p:nvSpPr>
          <p:cNvPr id="14" name="Rectangle 13">
            <a:extLst xmlns:a="http://schemas.openxmlformats.org/drawingml/2006/main">
              <a:ext uri="{FF2B5EF4-FFF2-40B4-BE49-F238E27FC236}">
                <a16:creationId xmlns:a16="http://schemas.microsoft.com/office/drawing/2014/main" id="{2F455C67-5407-4218-9DC6-0FE486E79472}"/>
              </a:ext>
            </a:extLst>
          </p:cNvPr>
          <p:cNvSpPr>
            <a:spLocks xmlns:a="http://schemas.openxmlformats.org/drawingml/2006/main" noGrp="1"/>
          </p:cNvSpPr>
          <p:nvPr/>
        </p:nvSpPr>
        <p:spPr>
          <a:xfrm xmlns:a="http://schemas.openxmlformats.org/drawingml/2006/main">
            <a:off x="7505700" y="4124325"/>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025" b="1">
                <a:solidFill>
                  <a:srgbClr val="10283D"/>
                </a:solidFill>
                <a:latin typeface="Aptos"/>
                <a:ea typeface="Aptos"/>
                <a:cs typeface="Aptos"/>
              </a:defRPr>
            </a:pPr>
            <a:r>
              <a:rPr sz="2025" b="1">
                <a:solidFill>
                  <a:srgbClr val="10283D"/>
                </a:solidFill>
                <a:latin typeface="Aptos"/>
                <a:ea typeface="Aptos"/>
                <a:cs typeface="Aptos"/>
              </a:rPr>
              <a:t>Insights adapt over time</a:t>
            </a:r>
          </a:p>
        </p:txBody>
      </p:sp>
      <p:sp>
        <p:nvSpPr>
          <p:cNvPr id="15" name="Rectangle 14">
            <a:extLst xmlns:a="http://schemas.openxmlformats.org/drawingml/2006/main">
              <a:ext uri="{FF2B5EF4-FFF2-40B4-BE49-F238E27FC236}">
                <a16:creationId xmlns:a16="http://schemas.microsoft.com/office/drawing/2014/main" id="{8A3450EF-0D6B-4DD2-BBE4-6329C4B7E7AF}"/>
              </a:ext>
            </a:extLst>
          </p:cNvPr>
          <p:cNvSpPr>
            <a:spLocks xmlns:a="http://schemas.openxmlformats.org/drawingml/2006/main" noGrp="1"/>
          </p:cNvSpPr>
          <p:nvPr/>
        </p:nvSpPr>
        <p:spPr>
          <a:xfrm xmlns:a="http://schemas.openxmlformats.org/drawingml/2006/main">
            <a:off x="6534150" y="5219700"/>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0000"/>
              </a:lnSpc>
              <a:buNone/>
              <a:defRPr sz="1425" b="0">
                <a:solidFill>
                  <a:srgbClr val="5D7180"/>
                </a:solidFill>
                <a:latin typeface="Aptos"/>
                <a:ea typeface="Aptos"/>
                <a:cs typeface="Aptos"/>
              </a:defRPr>
            </a:pPr>
            <a:r>
              <a:rPr sz="1425" b="0">
                <a:solidFill>
                  <a:srgbClr val="5D7180"/>
                </a:solidFill>
                <a:latin typeface="Aptos"/>
                <a:ea typeface="Aptos"/>
                <a:cs typeface="Aptos"/>
              </a:rPr>
              <a:t>The AI adapts the explanation to logged habits; it does not replace the underlying calculations.</a:t>
            </a:r>
          </a:p>
        </p:txBody>
      </p:sp>
      <p:sp>
        <p:nvSpPr>
          <p:cNvPr id="16" name="Rectangle 15">
            <a:extLst xmlns:a="http://schemas.openxmlformats.org/drawingml/2006/main">
              <a:ext uri="{FF2B5EF4-FFF2-40B4-BE49-F238E27FC236}">
                <a16:creationId xmlns:a16="http://schemas.microsoft.com/office/drawing/2014/main" id="{33B89CF6-5DEC-46A6-859D-DC2FB4357BED}"/>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7" name="Rectangle 16">
            <a:extLst xmlns:a="http://schemas.openxmlformats.org/drawingml/2006/main">
              <a:ext uri="{FF2B5EF4-FFF2-40B4-BE49-F238E27FC236}">
                <a16:creationId xmlns:a16="http://schemas.microsoft.com/office/drawing/2014/main" id="{CFEAC1C4-64FC-4B5B-82B8-5FEFA2347874}"/>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13</a:t>
            </a:r>
          </a:p>
        </p:txBody>
      </p:sp>
      <p:pic>
        <p:nvPicPr>
          <p:cNvPr id="36" name="Picture 35"/>
          <p:cNvPicPr>
            <a:picLocks xmlns:a="http://schemas.openxmlformats.org/drawingml/2006/main" noChangeAspect="1"/>
          </p:cNvPicPr>
          <p:nvPr/>
        </p:nvPicPr>
        <p:blipFill>
          <a:blip xmlns:r="http://schemas.openxmlformats.org/officeDocument/2006/relationships" xmlns:a="http://schemas.openxmlformats.org/drawingml/2006/main" r:embed="R7e9bc22f849144c9"/>
          <a:stretch xmlns:a="http://schemas.openxmlformats.org/drawingml/2006/main"/>
        </p:blipFill>
        <p:spPr>
          <a:xfrm xmlns:a="http://schemas.openxmlformats.org/drawingml/2006/main">
            <a:off x="876300" y="2266303"/>
            <a:ext cx="4762500" cy="2496845"/>
          </a:xfrm>
          <a:prstGeom xmlns:a="http://schemas.openxmlformats.org/drawingml/2006/main" prst="roundRect">
            <a:avLst/>
          </a:prstGeom>
        </p:spPr>
      </p:pic>
    </p:spTree>
    <p:extLst>
      <p:ext uri="{BB962C8B-B14F-4D97-AF65-F5344CB8AC3E}">
        <p14:creationId xmlns:p14="http://schemas.microsoft.com/office/powerpoint/2010/main" val="545380320"/>
      </p:ext>
    </p:extLst>
  </p:cSld>
</p:sld>
</file>

<file path=ppt/slides/slide14.xml><?xml version="1.0" encoding="utf-8"?>
<p:sld xmlns:p="http://schemas.openxmlformats.org/presentationml/2006/main">
  <p:cSld>
    <p:bg>
      <p:bgPr>
        <a:solidFill xmlns:a="http://schemas.openxmlformats.org/drawingml/2006/main">
          <a:srgbClr val="F1F5F3"/>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6F08553-6714-4015-8A57-AD8908C7BFFD}"/>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The prototype has clear boundaries</a:t>
            </a:r>
          </a:p>
        </p:txBody>
      </p:sp>
      <p:sp>
        <p:nvSpPr>
          <p:cNvPr id="2" name="Rectangle: Rounded Corners 1">
            <a:extLst xmlns:a="http://schemas.openxmlformats.org/drawingml/2006/main">
              <a:ext uri="{FF2B5EF4-FFF2-40B4-BE49-F238E27FC236}">
                <a16:creationId xmlns:a16="http://schemas.microsoft.com/office/drawing/2014/main" id="{7B27DE5B-ADBA-4276-85EE-AE5F51050519}"/>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F4EAF67C-87B6-4EDE-8872-6BDF890AEC3B}"/>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Those boundaries are part of the learning, not fine print.</a:t>
            </a:r>
          </a:p>
        </p:txBody>
      </p:sp>
      <p:sp>
        <p:nvSpPr>
          <p:cNvPr id="4" name="Rectangle: Rounded Corners 3">
            <a:extLst xmlns:a="http://schemas.openxmlformats.org/drawingml/2006/main">
              <a:ext uri="{FF2B5EF4-FFF2-40B4-BE49-F238E27FC236}">
                <a16:creationId xmlns:a16="http://schemas.microsoft.com/office/drawing/2014/main" id="{578E8CFC-EEEA-47F1-9C2F-EEBE012464C6}"/>
              </a:ext>
            </a:extLst>
          </p:cNvPr>
          <p:cNvSpPr>
            <a:spLocks xmlns:a="http://schemas.openxmlformats.org/drawingml/2006/main" noGrp="1"/>
          </p:cNvSpPr>
          <p:nvPr/>
        </p:nvSpPr>
        <p:spPr>
          <a:xfrm xmlns:a="http://schemas.openxmlformats.org/drawingml/2006/main">
            <a:off x="685800" y="1733550"/>
            <a:ext cx="31242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1FDA3B99-0821-41BF-89DF-23722B08AF45}"/>
              </a:ext>
            </a:extLst>
          </p:cNvPr>
          <p:cNvSpPr>
            <a:spLocks xmlns:a="http://schemas.openxmlformats.org/drawingml/2006/main" noGrp="1"/>
          </p:cNvSpPr>
          <p:nvPr/>
        </p:nvSpPr>
        <p:spPr>
          <a:xfrm xmlns:a="http://schemas.openxmlformats.org/drawingml/2006/main">
            <a:off x="9525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01</a:t>
            </a:r>
          </a:p>
        </p:txBody>
      </p:sp>
      <p:sp>
        <p:nvSpPr>
          <p:cNvPr id="6" name="Rectangle 5">
            <a:extLst xmlns:a="http://schemas.openxmlformats.org/drawingml/2006/main">
              <a:ext uri="{FF2B5EF4-FFF2-40B4-BE49-F238E27FC236}">
                <a16:creationId xmlns:a16="http://schemas.microsoft.com/office/drawing/2014/main" id="{53D5E42C-BFE1-4DA6-825B-9C33D13E6C2B}"/>
              </a:ext>
            </a:extLst>
          </p:cNvPr>
          <p:cNvSpPr>
            <a:spLocks xmlns:a="http://schemas.openxmlformats.org/drawingml/2006/main" noGrp="1"/>
          </p:cNvSpPr>
          <p:nvPr/>
        </p:nvSpPr>
        <p:spPr>
          <a:xfrm xmlns:a="http://schemas.openxmlformats.org/drawingml/2006/main">
            <a:off x="9525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725" b="1">
                <a:solidFill>
                  <a:srgbClr val="10283D"/>
                </a:solidFill>
                <a:latin typeface="Aptos"/>
                <a:ea typeface="Aptos"/>
                <a:cs typeface="Aptos"/>
              </a:defRPr>
            </a:pPr>
            <a:r>
              <a:rPr sz="1725" b="1">
                <a:solidFill>
                  <a:srgbClr val="10283D"/>
                </a:solidFill>
                <a:latin typeface="Aptos"/>
                <a:ea typeface="Aptos"/>
                <a:cs typeface="Aptos"/>
              </a:rPr>
              <a:t>SAMPLE PROFILES</a:t>
            </a:r>
          </a:p>
        </p:txBody>
      </p:sp>
      <p:sp>
        <p:nvSpPr>
          <p:cNvPr id="7" name="Rectangle 6">
            <a:extLst xmlns:a="http://schemas.openxmlformats.org/drawingml/2006/main">
              <a:ext uri="{FF2B5EF4-FFF2-40B4-BE49-F238E27FC236}">
                <a16:creationId xmlns:a16="http://schemas.microsoft.com/office/drawing/2014/main" id="{FAB9985D-60F1-404F-91AD-497058E3AD96}"/>
              </a:ext>
            </a:extLst>
          </p:cNvPr>
          <p:cNvSpPr>
            <a:spLocks xmlns:a="http://schemas.openxmlformats.org/drawingml/2006/main" noGrp="1"/>
          </p:cNvSpPr>
          <p:nvPr/>
        </p:nvSpPr>
        <p:spPr>
          <a:xfrm xmlns:a="http://schemas.openxmlformats.org/drawingml/2006/main">
            <a:off x="9525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425" b="0">
                <a:solidFill>
                  <a:srgbClr val="5D7180"/>
                </a:solidFill>
                <a:latin typeface="Aptos"/>
                <a:ea typeface="Aptos"/>
                <a:cs typeface="Aptos"/>
              </a:defRPr>
            </a:pPr>
            <a:r>
              <a:rPr sz="1425" b="0">
                <a:solidFill>
                  <a:srgbClr val="5D7180"/>
                </a:solidFill>
                <a:latin typeface="Aptos"/>
                <a:ea typeface="Aptos"/>
                <a:cs typeface="Aptos"/>
              </a:rPr>
              <a:t>The application uses fictional data to demonstrate interactions.</a:t>
            </a:r>
          </a:p>
        </p:txBody>
      </p:sp>
      <p:sp>
        <p:nvSpPr>
          <p:cNvPr id="8" name="Rectangle: Rounded Corners 7">
            <a:extLst xmlns:a="http://schemas.openxmlformats.org/drawingml/2006/main">
              <a:ext uri="{FF2B5EF4-FFF2-40B4-BE49-F238E27FC236}">
                <a16:creationId xmlns:a16="http://schemas.microsoft.com/office/drawing/2014/main" id="{765F6414-EAEF-4884-9889-934702CC2CD4}"/>
              </a:ext>
            </a:extLst>
          </p:cNvPr>
          <p:cNvSpPr>
            <a:spLocks xmlns:a="http://schemas.openxmlformats.org/drawingml/2006/main" noGrp="1"/>
          </p:cNvSpPr>
          <p:nvPr/>
        </p:nvSpPr>
        <p:spPr>
          <a:xfrm xmlns:a="http://schemas.openxmlformats.org/drawingml/2006/main">
            <a:off x="4229100" y="1733550"/>
            <a:ext cx="3124200" cy="3048000"/>
          </a:xfrm>
          <a:prstGeom xmlns:a="http://schemas.openxmlformats.org/drawingml/2006/main" prst="roundRect">
            <a:avLst>
              <a:gd name="adj" fmla="val 7500"/>
            </a:avLst>
          </a:prstGeom>
          <a:solidFill xmlns:a="http://schemas.openxmlformats.org/drawingml/2006/main">
            <a:srgbClr val="EAF3FA"/>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FD1C25B4-D014-46EE-B245-854DD66438BC}"/>
              </a:ext>
            </a:extLst>
          </p:cNvPr>
          <p:cNvSpPr>
            <a:spLocks xmlns:a="http://schemas.openxmlformats.org/drawingml/2006/main" noGrp="1"/>
          </p:cNvSpPr>
          <p:nvPr/>
        </p:nvSpPr>
        <p:spPr>
          <a:xfrm xmlns:a="http://schemas.openxmlformats.org/drawingml/2006/main">
            <a:off x="44958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02</a:t>
            </a:r>
          </a:p>
        </p:txBody>
      </p:sp>
      <p:sp>
        <p:nvSpPr>
          <p:cNvPr id="10" name="Rectangle 9">
            <a:extLst xmlns:a="http://schemas.openxmlformats.org/drawingml/2006/main">
              <a:ext uri="{FF2B5EF4-FFF2-40B4-BE49-F238E27FC236}">
                <a16:creationId xmlns:a16="http://schemas.microsoft.com/office/drawing/2014/main" id="{E95D30B3-9B53-4815-B97C-E9887E59CF59}"/>
              </a:ext>
            </a:extLst>
          </p:cNvPr>
          <p:cNvSpPr>
            <a:spLocks xmlns:a="http://schemas.openxmlformats.org/drawingml/2006/main" noGrp="1"/>
          </p:cNvSpPr>
          <p:nvPr/>
        </p:nvSpPr>
        <p:spPr>
          <a:xfrm xmlns:a="http://schemas.openxmlformats.org/drawingml/2006/main">
            <a:off x="44958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725" b="1">
                <a:solidFill>
                  <a:srgbClr val="10283D"/>
                </a:solidFill>
                <a:latin typeface="Aptos"/>
                <a:ea typeface="Aptos"/>
                <a:cs typeface="Aptos"/>
              </a:defRPr>
            </a:pPr>
            <a:r>
              <a:rPr sz="1725" b="1">
                <a:solidFill>
                  <a:srgbClr val="10283D"/>
                </a:solidFill>
                <a:latin typeface="Aptos"/>
                <a:ea typeface="Aptos"/>
                <a:cs typeface="Aptos"/>
              </a:rPr>
              <a:t>EXPLORATORY MODELS</a:t>
            </a:r>
          </a:p>
        </p:txBody>
      </p:sp>
      <p:sp>
        <p:nvSpPr>
          <p:cNvPr id="11" name="Rectangle 10">
            <a:extLst xmlns:a="http://schemas.openxmlformats.org/drawingml/2006/main">
              <a:ext uri="{FF2B5EF4-FFF2-40B4-BE49-F238E27FC236}">
                <a16:creationId xmlns:a16="http://schemas.microsoft.com/office/drawing/2014/main" id="{812CEDE3-9B3B-42F3-B263-4AC22431A096}"/>
              </a:ext>
            </a:extLst>
          </p:cNvPr>
          <p:cNvSpPr>
            <a:spLocks xmlns:a="http://schemas.openxmlformats.org/drawingml/2006/main" noGrp="1"/>
          </p:cNvSpPr>
          <p:nvPr/>
        </p:nvSpPr>
        <p:spPr>
          <a:xfrm xmlns:a="http://schemas.openxmlformats.org/drawingml/2006/main">
            <a:off x="44958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425" b="0">
                <a:solidFill>
                  <a:srgbClr val="5D7180"/>
                </a:solidFill>
                <a:latin typeface="Aptos"/>
                <a:ea typeface="Aptos"/>
                <a:cs typeface="Aptos"/>
              </a:defRPr>
            </a:pPr>
            <a:r>
              <a:rPr sz="1425" b="0">
                <a:solidFill>
                  <a:srgbClr val="5D7180"/>
                </a:solidFill>
                <a:latin typeface="Aptos"/>
                <a:ea typeface="Aptos"/>
                <a:cs typeface="Aptos"/>
              </a:rPr>
              <a:t>Research results describe classification and association, not causation.</a:t>
            </a:r>
          </a:p>
        </p:txBody>
      </p:sp>
      <p:sp>
        <p:nvSpPr>
          <p:cNvPr id="12" name="Rectangle: Rounded Corners 11">
            <a:extLst xmlns:a="http://schemas.openxmlformats.org/drawingml/2006/main">
              <a:ext uri="{FF2B5EF4-FFF2-40B4-BE49-F238E27FC236}">
                <a16:creationId xmlns:a16="http://schemas.microsoft.com/office/drawing/2014/main" id="{C223E486-8C2E-4436-B0C7-704BECB4329B}"/>
              </a:ext>
            </a:extLst>
          </p:cNvPr>
          <p:cNvSpPr>
            <a:spLocks xmlns:a="http://schemas.openxmlformats.org/drawingml/2006/main" noGrp="1"/>
          </p:cNvSpPr>
          <p:nvPr/>
        </p:nvSpPr>
        <p:spPr>
          <a:xfrm xmlns:a="http://schemas.openxmlformats.org/drawingml/2006/main">
            <a:off x="7772400" y="1733550"/>
            <a:ext cx="31242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13" name="Rectangle 12">
            <a:extLst xmlns:a="http://schemas.openxmlformats.org/drawingml/2006/main">
              <a:ext uri="{FF2B5EF4-FFF2-40B4-BE49-F238E27FC236}">
                <a16:creationId xmlns:a16="http://schemas.microsoft.com/office/drawing/2014/main" id="{D29F3CD6-DF49-4D19-B135-BA490025EC24}"/>
              </a:ext>
            </a:extLst>
          </p:cNvPr>
          <p:cNvSpPr>
            <a:spLocks xmlns:a="http://schemas.openxmlformats.org/drawingml/2006/main" noGrp="1"/>
          </p:cNvSpPr>
          <p:nvPr/>
        </p:nvSpPr>
        <p:spPr>
          <a:xfrm xmlns:a="http://schemas.openxmlformats.org/drawingml/2006/main">
            <a:off x="80391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03</a:t>
            </a:r>
          </a:p>
        </p:txBody>
      </p:sp>
      <p:sp>
        <p:nvSpPr>
          <p:cNvPr id="14" name="Rectangle 13">
            <a:extLst xmlns:a="http://schemas.openxmlformats.org/drawingml/2006/main">
              <a:ext uri="{FF2B5EF4-FFF2-40B4-BE49-F238E27FC236}">
                <a16:creationId xmlns:a16="http://schemas.microsoft.com/office/drawing/2014/main" id="{0F6E9EF1-4802-4969-8576-E3F84AA1274F}"/>
              </a:ext>
            </a:extLst>
          </p:cNvPr>
          <p:cNvSpPr>
            <a:spLocks xmlns:a="http://schemas.openxmlformats.org/drawingml/2006/main" noGrp="1"/>
          </p:cNvSpPr>
          <p:nvPr/>
        </p:nvSpPr>
        <p:spPr>
          <a:xfrm xmlns:a="http://schemas.openxmlformats.org/drawingml/2006/main">
            <a:off x="80391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725" b="1">
                <a:solidFill>
                  <a:srgbClr val="10283D"/>
                </a:solidFill>
                <a:latin typeface="Aptos"/>
                <a:ea typeface="Aptos"/>
                <a:cs typeface="Aptos"/>
              </a:defRPr>
            </a:pPr>
            <a:r>
              <a:rPr sz="1725" b="1">
                <a:solidFill>
                  <a:srgbClr val="10283D"/>
                </a:solidFill>
                <a:latin typeface="Aptos"/>
                <a:ea typeface="Aptos"/>
                <a:cs typeface="Aptos"/>
              </a:rPr>
              <a:t>NO CLINICAL VALIDATION</a:t>
            </a:r>
          </a:p>
        </p:txBody>
      </p:sp>
      <p:sp>
        <p:nvSpPr>
          <p:cNvPr id="15" name="Rectangle 14">
            <a:extLst xmlns:a="http://schemas.openxmlformats.org/drawingml/2006/main">
              <a:ext uri="{FF2B5EF4-FFF2-40B4-BE49-F238E27FC236}">
                <a16:creationId xmlns:a16="http://schemas.microsoft.com/office/drawing/2014/main" id="{32709C3D-7EB6-48E8-A13C-8788D30112E1}"/>
              </a:ext>
            </a:extLst>
          </p:cNvPr>
          <p:cNvSpPr>
            <a:spLocks xmlns:a="http://schemas.openxmlformats.org/drawingml/2006/main" noGrp="1"/>
          </p:cNvSpPr>
          <p:nvPr/>
        </p:nvSpPr>
        <p:spPr>
          <a:xfrm xmlns:a="http://schemas.openxmlformats.org/drawingml/2006/main">
            <a:off x="80391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2000"/>
              </a:lnSpc>
              <a:buNone/>
              <a:defRPr sz="1425" b="0">
                <a:solidFill>
                  <a:srgbClr val="5D7180"/>
                </a:solidFill>
                <a:latin typeface="Aptos"/>
                <a:ea typeface="Aptos"/>
                <a:cs typeface="Aptos"/>
              </a:defRPr>
            </a:pPr>
            <a:r>
              <a:rPr sz="1425" b="0">
                <a:solidFill>
                  <a:srgbClr val="5D7180"/>
                </a:solidFill>
                <a:latin typeface="Aptos"/>
                <a:ea typeface="Aptos"/>
                <a:cs typeface="Aptos"/>
              </a:rPr>
              <a:t>The project cannot support diagnosis or medical decisions.</a:t>
            </a:r>
          </a:p>
        </p:txBody>
      </p:sp>
      <p:sp>
        <p:nvSpPr>
          <p:cNvPr id="16" name="Rectangle 15">
            <a:extLst xmlns:a="http://schemas.openxmlformats.org/drawingml/2006/main">
              <a:ext uri="{FF2B5EF4-FFF2-40B4-BE49-F238E27FC236}">
                <a16:creationId xmlns:a16="http://schemas.microsoft.com/office/drawing/2014/main" id="{2BACF760-DE0C-49A2-AE84-127780F2DAAD}"/>
              </a:ext>
            </a:extLst>
          </p:cNvPr>
          <p:cNvSpPr>
            <a:spLocks xmlns:a="http://schemas.openxmlformats.org/drawingml/2006/main" noGrp="1"/>
          </p:cNvSpPr>
          <p:nvPr/>
        </p:nvSpPr>
        <p:spPr>
          <a:xfrm xmlns:a="http://schemas.openxmlformats.org/drawingml/2006/main">
            <a:off x="1504950" y="5238750"/>
            <a:ext cx="918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00000"/>
              </a:lnSpc>
              <a:buNone/>
              <a:defRPr sz="1500" b="1">
                <a:solidFill>
                  <a:srgbClr val="10283D"/>
                </a:solidFill>
                <a:latin typeface="Aptos"/>
                <a:ea typeface="Aptos"/>
                <a:cs typeface="Aptos"/>
              </a:defRPr>
            </a:pPr>
            <a:r>
              <a:rPr sz="1500" b="1">
                <a:solidFill>
                  <a:srgbClr val="10283D"/>
                </a:solidFill>
                <a:latin typeface="Aptos"/>
                <a:ea typeface="Aptos"/>
                <a:cs typeface="Aptos"/>
              </a:rPr>
              <a:t>A real health product would require clinical review, privacy and security work, usability testing, fairness evaluation, and regulatory analysis.</a:t>
            </a:r>
          </a:p>
        </p:txBody>
      </p:sp>
      <p:sp>
        <p:nvSpPr>
          <p:cNvPr id="17" name="Rectangle 16">
            <a:extLst xmlns:a="http://schemas.openxmlformats.org/drawingml/2006/main">
              <a:ext uri="{FF2B5EF4-FFF2-40B4-BE49-F238E27FC236}">
                <a16:creationId xmlns:a16="http://schemas.microsoft.com/office/drawing/2014/main" id="{CE122983-1D82-4ABF-8260-63B227A111CF}"/>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8" name="Rectangle 17">
            <a:extLst xmlns:a="http://schemas.openxmlformats.org/drawingml/2006/main">
              <a:ext uri="{FF2B5EF4-FFF2-40B4-BE49-F238E27FC236}">
                <a16:creationId xmlns:a16="http://schemas.microsoft.com/office/drawing/2014/main" id="{CFB2B590-2175-48D7-9191-84411074CC9B}"/>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14</a:t>
            </a:r>
          </a:p>
        </p:txBody>
      </p:sp>
    </p:spTree>
    <p:extLst>
      <p:ext uri="{BB962C8B-B14F-4D97-AF65-F5344CB8AC3E}">
        <p14:creationId xmlns:p14="http://schemas.microsoft.com/office/powerpoint/2010/main" val="1988428299"/>
      </p:ext>
    </p:extLst>
  </p:cSld>
</p:sld>
</file>

<file path=ppt/slides/slide15.xml><?xml version="1.0" encoding="utf-8"?>
<p:sld xmlns:p="http://schemas.openxmlformats.org/presentationml/2006/main">
  <p:cSld>
    <p:bg>
      <p:bgPr>
        <a:solidFill xmlns:a="http://schemas.openxmlformats.org/drawingml/2006/main">
          <a:srgbClr val="F1F5F3"/>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6F08553-6714-4015-8A57-AD8908C7BFFD}"/>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Meet Alex</a:t>
            </a:r>
          </a:p>
        </p:txBody>
      </p:sp>
      <p:sp>
        <p:nvSpPr>
          <p:cNvPr id="2" name="Rectangle: Rounded Corners 1">
            <a:extLst xmlns:a="http://schemas.openxmlformats.org/drawingml/2006/main">
              <a:ext uri="{FF2B5EF4-FFF2-40B4-BE49-F238E27FC236}">
                <a16:creationId xmlns:a16="http://schemas.microsoft.com/office/drawing/2014/main" id="{7B27DE5B-ADBA-4276-85EE-AE5F51050519}"/>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F4EAF67C-87B6-4EDE-8872-6BDF890AEC3B}"/>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A fictional profile used to demonstrate daily guidance.</a:t>
            </a:r>
          </a:p>
        </p:txBody>
      </p:sp>
      <p:sp>
        <p:nvSpPr>
          <p:cNvPr id="4" name="Rectangle: Rounded Corners 3">
            <a:extLst xmlns:a="http://schemas.openxmlformats.org/drawingml/2006/main">
              <a:ext uri="{FF2B5EF4-FFF2-40B4-BE49-F238E27FC236}">
                <a16:creationId xmlns:a16="http://schemas.microsoft.com/office/drawing/2014/main" id="{578E8CFC-EEEA-47F1-9C2F-EEBE012464C6}"/>
              </a:ext>
            </a:extLst>
          </p:cNvPr>
          <p:cNvSpPr>
            <a:spLocks xmlns:a="http://schemas.openxmlformats.org/drawingml/2006/main" noGrp="1"/>
          </p:cNvSpPr>
          <p:nvPr/>
        </p:nvSpPr>
        <p:spPr>
          <a:xfrm xmlns:a="http://schemas.openxmlformats.org/drawingml/2006/main">
            <a:off x="685800" y="1733550"/>
            <a:ext cx="31242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1FDA3B99-0821-41BF-89DF-23722B08AF45}"/>
              </a:ext>
            </a:extLst>
          </p:cNvPr>
          <p:cNvSpPr>
            <a:spLocks xmlns:a="http://schemas.openxmlformats.org/drawingml/2006/main" noGrp="1"/>
          </p:cNvSpPr>
          <p:nvPr/>
        </p:nvSpPr>
        <p:spPr>
          <a:xfrm xmlns:a="http://schemas.openxmlformats.org/drawingml/2006/main">
            <a:off x="9525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01</a:t>
            </a:r>
          </a:p>
        </p:txBody>
      </p:sp>
      <p:sp>
        <p:nvSpPr>
          <p:cNvPr id="6" name="Rectangle 5">
            <a:extLst xmlns:a="http://schemas.openxmlformats.org/drawingml/2006/main">
              <a:ext uri="{FF2B5EF4-FFF2-40B4-BE49-F238E27FC236}">
                <a16:creationId xmlns:a16="http://schemas.microsoft.com/office/drawing/2014/main" id="{53D5E42C-BFE1-4DA6-825B-9C33D13E6C2B}"/>
              </a:ext>
            </a:extLst>
          </p:cNvPr>
          <p:cNvSpPr>
            <a:spLocks xmlns:a="http://schemas.openxmlformats.org/drawingml/2006/main" noGrp="1"/>
          </p:cNvSpPr>
          <p:nvPr/>
        </p:nvSpPr>
        <p:spPr>
          <a:xfrm xmlns:a="http://schemas.openxmlformats.org/drawingml/2006/main">
            <a:off x="9525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0283D"/>
                </a:solidFill>
                <a:latin typeface="Aptos"/>
                <a:ea typeface="Aptos"/>
                <a:cs typeface="Aptos"/>
              </a:defRPr>
            </a:pPr>
            <a:r>
              <a:rPr sz="1350" b="1">
                <a:solidFill>
                  <a:srgbClr val="10283D"/>
                </a:solidFill>
                <a:latin typeface="Aptos"/>
                <a:ea typeface="Aptos"/>
                <a:cs typeface="Aptos"/>
              </a:rPr>
              <a:t>BACKGROUND</a:t>
            </a:r>
          </a:p>
        </p:txBody>
      </p:sp>
      <p:sp>
        <p:nvSpPr>
          <p:cNvPr id="7" name="Rectangle 6">
            <a:extLst xmlns:a="http://schemas.openxmlformats.org/drawingml/2006/main">
              <a:ext uri="{FF2B5EF4-FFF2-40B4-BE49-F238E27FC236}">
                <a16:creationId xmlns:a16="http://schemas.microsoft.com/office/drawing/2014/main" id="{FAB9985D-60F1-404F-91AD-497058E3AD96}"/>
              </a:ext>
            </a:extLst>
          </p:cNvPr>
          <p:cNvSpPr>
            <a:spLocks xmlns:a="http://schemas.openxmlformats.org/drawingml/2006/main" noGrp="1"/>
          </p:cNvSpPr>
          <p:nvPr/>
        </p:nvSpPr>
        <p:spPr>
          <a:xfrm xmlns:a="http://schemas.openxmlformats.org/drawingml/2006/main">
            <a:off x="9525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8000"/>
              </a:lnSpc>
              <a:buNone/>
              <a:defRPr sz="1350" b="0">
                <a:solidFill>
                  <a:srgbClr val="5D7180"/>
                </a:solidFill>
                <a:latin typeface="Aptos"/>
                <a:ea typeface="Aptos"/>
                <a:cs typeface="Aptos"/>
              </a:defRPr>
            </a:pPr>
            <a:r>
              <a:rPr sz="1350" b="0">
                <a:solidFill>
                  <a:srgbClr val="5D7180"/>
                </a:solidFill>
                <a:latin typeface="Aptos"/>
                <a:ea typeface="Aptos"/>
                <a:cs typeface="Aptos"/>
              </a:rPr>
              <a:t>Alex is a young professional who enjoys recreational training but struggles to protect his sleep during busy weeks.</a:t>
            </a:r>
          </a:p>
        </p:txBody>
      </p:sp>
      <p:sp>
        <p:nvSpPr>
          <p:cNvPr id="8" name="Rectangle: Rounded Corners 7">
            <a:extLst xmlns:a="http://schemas.openxmlformats.org/drawingml/2006/main">
              <a:ext uri="{FF2B5EF4-FFF2-40B4-BE49-F238E27FC236}">
                <a16:creationId xmlns:a16="http://schemas.microsoft.com/office/drawing/2014/main" id="{765F6414-EAEF-4884-9889-934702CC2CD4}"/>
              </a:ext>
            </a:extLst>
          </p:cNvPr>
          <p:cNvSpPr>
            <a:spLocks xmlns:a="http://schemas.openxmlformats.org/drawingml/2006/main" noGrp="1"/>
          </p:cNvSpPr>
          <p:nvPr/>
        </p:nvSpPr>
        <p:spPr>
          <a:xfrm xmlns:a="http://schemas.openxmlformats.org/drawingml/2006/main">
            <a:off x="4229100" y="1733550"/>
            <a:ext cx="3124200" cy="3048000"/>
          </a:xfrm>
          <a:prstGeom xmlns:a="http://schemas.openxmlformats.org/drawingml/2006/main" prst="roundRect">
            <a:avLst>
              <a:gd name="adj" fmla="val 7500"/>
            </a:avLst>
          </a:prstGeom>
          <a:solidFill xmlns:a="http://schemas.openxmlformats.org/drawingml/2006/main">
            <a:srgbClr val="EAF3FA"/>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FD1C25B4-D014-46EE-B245-854DD66438BC}"/>
              </a:ext>
            </a:extLst>
          </p:cNvPr>
          <p:cNvSpPr>
            <a:spLocks xmlns:a="http://schemas.openxmlformats.org/drawingml/2006/main" noGrp="1"/>
          </p:cNvSpPr>
          <p:nvPr/>
        </p:nvSpPr>
        <p:spPr>
          <a:xfrm xmlns:a="http://schemas.openxmlformats.org/drawingml/2006/main">
            <a:off x="44958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02</a:t>
            </a:r>
          </a:p>
        </p:txBody>
      </p:sp>
      <p:sp>
        <p:nvSpPr>
          <p:cNvPr id="10" name="Rectangle 9">
            <a:extLst xmlns:a="http://schemas.openxmlformats.org/drawingml/2006/main">
              <a:ext uri="{FF2B5EF4-FFF2-40B4-BE49-F238E27FC236}">
                <a16:creationId xmlns:a16="http://schemas.microsoft.com/office/drawing/2014/main" id="{E95D30B3-9B53-4815-B97C-E9887E59CF59}"/>
              </a:ext>
            </a:extLst>
          </p:cNvPr>
          <p:cNvSpPr>
            <a:spLocks xmlns:a="http://schemas.openxmlformats.org/drawingml/2006/main" noGrp="1"/>
          </p:cNvSpPr>
          <p:nvPr/>
        </p:nvSpPr>
        <p:spPr>
          <a:xfrm xmlns:a="http://schemas.openxmlformats.org/drawingml/2006/main">
            <a:off x="44958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0283D"/>
                </a:solidFill>
                <a:latin typeface="Aptos"/>
                <a:ea typeface="Aptos"/>
                <a:cs typeface="Aptos"/>
              </a:defRPr>
            </a:pPr>
            <a:r>
              <a:rPr sz="1350" b="1">
                <a:solidFill>
                  <a:srgbClr val="10283D"/>
                </a:solidFill>
                <a:latin typeface="Aptos"/>
                <a:ea typeface="Aptos"/>
                <a:cs typeface="Aptos"/>
              </a:rPr>
              <a:t>HEALTH SNAPSHOT</a:t>
            </a:r>
          </a:p>
        </p:txBody>
      </p:sp>
      <p:sp>
        <p:nvSpPr>
          <p:cNvPr id="11" name="Rectangle 10">
            <a:extLst xmlns:a="http://schemas.openxmlformats.org/drawingml/2006/main">
              <a:ext uri="{FF2B5EF4-FFF2-40B4-BE49-F238E27FC236}">
                <a16:creationId xmlns:a16="http://schemas.microsoft.com/office/drawing/2014/main" id="{812CEDE3-9B3B-42F3-B263-4AC22431A096}"/>
              </a:ext>
            </a:extLst>
          </p:cNvPr>
          <p:cNvSpPr>
            <a:spLocks xmlns:a="http://schemas.openxmlformats.org/drawingml/2006/main" noGrp="1"/>
          </p:cNvSpPr>
          <p:nvPr/>
        </p:nvSpPr>
        <p:spPr>
          <a:xfrm xmlns:a="http://schemas.openxmlformats.org/drawingml/2006/main">
            <a:off x="44958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800" b="1">
                <a:solidFill>
                  <a:srgbClr val="10283D"/>
                </a:solidFill>
                <a:latin typeface="Aptos"/>
                <a:ea typeface="Aptos"/>
                <a:cs typeface="Aptos"/>
              </a:defRPr>
            </a:pPr>
            <a:r>
              <a:rPr sz="1800" b="1">
                <a:solidFill>
                  <a:srgbClr val="10283D"/>
                </a:solidFill>
                <a:latin typeface="Aptos"/>
                <a:ea typeface="Aptos"/>
                <a:cs typeface="Aptos"/>
              </a:rPr>
              <a:t>Age 24 · 5 ft 10 in</a:t>
            </a:r>
          </a:p>
          <a:p xmlns:a="http://schemas.openxmlformats.org/drawingml/2006/main">
            <a:pPr algn="l">
              <a:lnSpc>
                <a:spcPct val="125000"/>
              </a:lnSpc>
              <a:buNone/>
              <a:defRPr sz="1800" b="1">
                <a:solidFill>
                  <a:srgbClr val="10283D"/>
                </a:solidFill>
                <a:latin typeface="Aptos"/>
                <a:ea typeface="Aptos"/>
                <a:cs typeface="Aptos"/>
              </a:defRPr>
            </a:pPr>
            <a:r>
              <a:rPr sz="1800" b="1">
                <a:solidFill>
                  <a:srgbClr val="10283D"/>
                </a:solidFill>
                <a:latin typeface="Aptos"/>
                <a:ea typeface="Aptos"/>
                <a:cs typeface="Aptos"/>
              </a:rPr>
              <a:t>164 lb · 4.8 h sleep</a:t>
            </a:r>
          </a:p>
        </p:txBody>
      </p:sp>
      <p:sp>
        <p:nvSpPr>
          <p:cNvPr id="12" name="Rectangle: Rounded Corners 11">
            <a:extLst xmlns:a="http://schemas.openxmlformats.org/drawingml/2006/main">
              <a:ext uri="{FF2B5EF4-FFF2-40B4-BE49-F238E27FC236}">
                <a16:creationId xmlns:a16="http://schemas.microsoft.com/office/drawing/2014/main" id="{C223E486-8C2E-4436-B0C7-704BECB4329B}"/>
              </a:ext>
            </a:extLst>
          </p:cNvPr>
          <p:cNvSpPr>
            <a:spLocks xmlns:a="http://schemas.openxmlformats.org/drawingml/2006/main" noGrp="1"/>
          </p:cNvSpPr>
          <p:nvPr/>
        </p:nvSpPr>
        <p:spPr>
          <a:xfrm xmlns:a="http://schemas.openxmlformats.org/drawingml/2006/main">
            <a:off x="7772400" y="1733550"/>
            <a:ext cx="31242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13" name="Rectangle 12">
            <a:extLst xmlns:a="http://schemas.openxmlformats.org/drawingml/2006/main">
              <a:ext uri="{FF2B5EF4-FFF2-40B4-BE49-F238E27FC236}">
                <a16:creationId xmlns:a16="http://schemas.microsoft.com/office/drawing/2014/main" id="{D29F3CD6-DF49-4D19-B135-BA490025EC24}"/>
              </a:ext>
            </a:extLst>
          </p:cNvPr>
          <p:cNvSpPr>
            <a:spLocks xmlns:a="http://schemas.openxmlformats.org/drawingml/2006/main" noGrp="1"/>
          </p:cNvSpPr>
          <p:nvPr/>
        </p:nvSpPr>
        <p:spPr>
          <a:xfrm xmlns:a="http://schemas.openxmlformats.org/drawingml/2006/main">
            <a:off x="80391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03</a:t>
            </a:r>
          </a:p>
        </p:txBody>
      </p:sp>
      <p:sp>
        <p:nvSpPr>
          <p:cNvPr id="14" name="Rectangle 13">
            <a:extLst xmlns:a="http://schemas.openxmlformats.org/drawingml/2006/main">
              <a:ext uri="{FF2B5EF4-FFF2-40B4-BE49-F238E27FC236}">
                <a16:creationId xmlns:a16="http://schemas.microsoft.com/office/drawing/2014/main" id="{0F6E9EF1-4802-4969-8576-E3F84AA1274F}"/>
              </a:ext>
            </a:extLst>
          </p:cNvPr>
          <p:cNvSpPr>
            <a:spLocks xmlns:a="http://schemas.openxmlformats.org/drawingml/2006/main" noGrp="1"/>
          </p:cNvSpPr>
          <p:nvPr/>
        </p:nvSpPr>
        <p:spPr>
          <a:xfrm xmlns:a="http://schemas.openxmlformats.org/drawingml/2006/main">
            <a:off x="80391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0283D"/>
                </a:solidFill>
                <a:latin typeface="Aptos"/>
                <a:ea typeface="Aptos"/>
                <a:cs typeface="Aptos"/>
              </a:defRPr>
            </a:pPr>
            <a:r>
              <a:rPr sz="1350" b="1">
                <a:solidFill>
                  <a:srgbClr val="10283D"/>
                </a:solidFill>
                <a:latin typeface="Aptos"/>
                <a:ea typeface="Aptos"/>
                <a:cs typeface="Aptos"/>
              </a:rPr>
              <a:t>EXERCISE HABITS</a:t>
            </a:r>
          </a:p>
        </p:txBody>
      </p:sp>
      <p:sp>
        <p:nvSpPr>
          <p:cNvPr id="15" name="Rectangle 14">
            <a:extLst xmlns:a="http://schemas.openxmlformats.org/drawingml/2006/main">
              <a:ext uri="{FF2B5EF4-FFF2-40B4-BE49-F238E27FC236}">
                <a16:creationId xmlns:a16="http://schemas.microsoft.com/office/drawing/2014/main" id="{32709C3D-7EB6-48E8-A13C-8788D30112E1}"/>
              </a:ext>
            </a:extLst>
          </p:cNvPr>
          <p:cNvSpPr>
            <a:spLocks xmlns:a="http://schemas.openxmlformats.org/drawingml/2006/main" noGrp="1"/>
          </p:cNvSpPr>
          <p:nvPr/>
        </p:nvSpPr>
        <p:spPr>
          <a:xfrm xmlns:a="http://schemas.openxmlformats.org/drawingml/2006/main">
            <a:off x="80391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8000"/>
              </a:lnSpc>
              <a:buNone/>
              <a:defRPr sz="1500" b="1">
                <a:solidFill>
                  <a:srgbClr val="10283D"/>
                </a:solidFill>
                <a:latin typeface="Aptos"/>
                <a:ea typeface="Aptos"/>
                <a:cs typeface="Aptos"/>
              </a:defRPr>
            </a:pPr>
            <a:r>
              <a:rPr sz="1500" b="1">
                <a:solidFill>
                  <a:srgbClr val="10283D"/>
                </a:solidFill>
                <a:latin typeface="Aptos"/>
                <a:ea typeface="Aptos"/>
                <a:cs typeface="Aptos"/>
              </a:rPr>
              <a:t>45 minutes per day</a:t>
            </a:r>
          </a:p>
          <a:p xmlns:a="http://schemas.openxmlformats.org/drawingml/2006/main">
            <a:pPr algn="l">
              <a:lnSpc>
                <a:spcPct val="118000"/>
              </a:lnSpc>
              <a:buNone/>
              <a:defRPr sz="1500" b="1">
                <a:solidFill>
                  <a:srgbClr val="10283D"/>
                </a:solidFill>
                <a:latin typeface="Aptos"/>
                <a:ea typeface="Aptos"/>
                <a:cs typeface="Aptos"/>
              </a:defRPr>
            </a:pPr>
            <a:r>
              <a:rPr sz="1500" b="1">
                <a:solidFill>
                  <a:srgbClr val="10283D"/>
                </a:solidFill>
                <a:latin typeface="Aptos"/>
                <a:ea typeface="Aptos"/>
                <a:cs typeface="Aptos"/>
              </a:rPr>
              <a:t>3 workouts per week</a:t>
            </a:r>
          </a:p>
        </p:txBody>
      </p:sp>
      <p:sp>
        <p:nvSpPr>
          <p:cNvPr id="16" name="Rectangle 15">
            <a:extLst xmlns:a="http://schemas.openxmlformats.org/drawingml/2006/main">
              <a:ext uri="{FF2B5EF4-FFF2-40B4-BE49-F238E27FC236}">
                <a16:creationId xmlns:a16="http://schemas.microsoft.com/office/drawing/2014/main" id="{2BACF760-DE0C-49A2-AE84-127780F2DAAD}"/>
              </a:ext>
            </a:extLst>
          </p:cNvPr>
          <p:cNvSpPr>
            <a:spLocks xmlns:a="http://schemas.openxmlformats.org/drawingml/2006/main" noGrp="1"/>
          </p:cNvSpPr>
          <p:nvPr/>
        </p:nvSpPr>
        <p:spPr>
          <a:xfrm xmlns:a="http://schemas.openxmlformats.org/drawingml/2006/main">
            <a:off x="1504950" y="5238750"/>
            <a:ext cx="918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10000"/>
              </a:lnSpc>
              <a:buNone/>
              <a:defRPr sz="1500" b="1">
                <a:solidFill>
                  <a:srgbClr val="10283D"/>
                </a:solidFill>
                <a:latin typeface="Aptos"/>
                <a:ea typeface="Aptos"/>
                <a:cs typeface="Aptos"/>
              </a:defRPr>
            </a:pPr>
            <a:r>
              <a:rPr sz="1500" b="1">
                <a:solidFill>
                  <a:srgbClr val="10283D"/>
                </a:solidFill>
                <a:latin typeface="Aptos"/>
                <a:ea typeface="Aptos"/>
                <a:cs typeface="Aptos"/>
              </a:rPr>
              <a:t>Demo focus: how sleep and recovery can change guidance even when activity remains strong.</a:t>
            </a:r>
          </a:p>
        </p:txBody>
      </p:sp>
      <p:sp>
        <p:nvSpPr>
          <p:cNvPr id="17" name="Rectangle 16">
            <a:extLst xmlns:a="http://schemas.openxmlformats.org/drawingml/2006/main">
              <a:ext uri="{FF2B5EF4-FFF2-40B4-BE49-F238E27FC236}">
                <a16:creationId xmlns:a16="http://schemas.microsoft.com/office/drawing/2014/main" id="{CE122983-1D82-4ABF-8260-63B227A111CF}"/>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8" name="Rectangle 17">
            <a:extLst xmlns:a="http://schemas.openxmlformats.org/drawingml/2006/main">
              <a:ext uri="{FF2B5EF4-FFF2-40B4-BE49-F238E27FC236}">
                <a16:creationId xmlns:a16="http://schemas.microsoft.com/office/drawing/2014/main" id="{CFB2B590-2175-48D7-9191-84411074CC9B}"/>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15</a:t>
            </a:r>
          </a:p>
        </p:txBody>
      </p:sp>
    </p:spTree>
    <p:extLst>
      <p:ext uri="{BB962C8B-B14F-4D97-AF65-F5344CB8AC3E}">
        <p14:creationId xmlns:p14="http://schemas.microsoft.com/office/powerpoint/2010/main" val="1988428299"/>
      </p:ext>
    </p:extLst>
  </p:cSld>
</p:sld>
</file>

<file path=ppt/slides/slide16.xml><?xml version="1.0" encoding="utf-8"?>
<p:sld xmlns:p="http://schemas.openxmlformats.org/presentationml/2006/main">
  <p:cSld>
    <p:bg>
      <p:bgPr>
        <a:solidFill xmlns:a="http://schemas.openxmlformats.org/drawingml/2006/main">
          <a:srgbClr val="F1F5F3"/>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6F08553-6714-4015-8A57-AD8908C7BFFD}"/>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3000" b="1">
                <a:solidFill>
                  <a:srgbClr val="10283D"/>
                </a:solidFill>
                <a:latin typeface="Aptos"/>
                <a:ea typeface="Aptos"/>
                <a:cs typeface="Aptos"/>
              </a:defRPr>
            </a:pPr>
            <a:r>
              <a:rPr sz="3000" b="1">
                <a:solidFill>
                  <a:srgbClr val="10283D"/>
                </a:solidFill>
                <a:latin typeface="Aptos"/>
                <a:ea typeface="Aptos"/>
                <a:cs typeface="Aptos"/>
              </a:rPr>
              <a:t>Meet Maria</a:t>
            </a:r>
          </a:p>
        </p:txBody>
      </p:sp>
      <p:sp>
        <p:nvSpPr>
          <p:cNvPr id="2" name="Rectangle: Rounded Corners 1">
            <a:extLst xmlns:a="http://schemas.openxmlformats.org/drawingml/2006/main">
              <a:ext uri="{FF2B5EF4-FFF2-40B4-BE49-F238E27FC236}">
                <a16:creationId xmlns:a16="http://schemas.microsoft.com/office/drawing/2014/main" id="{7B27DE5B-ADBA-4276-85EE-AE5F51050519}"/>
              </a:ext>
            </a:extLst>
          </p:cNvPr>
          <p:cNvSpPr>
            <a:spLocks xmlns:a="http://schemas.openxmlformats.org/drawingml/2006/main" noGrp="1"/>
          </p:cNvSpPr>
          <p:nvPr/>
        </p:nvSpPr>
        <p:spPr>
          <a:xfrm xmlns:a="http://schemas.openxmlformats.org/drawingml/2006/main">
            <a:off x="685800" y="1304925"/>
            <a:ext cx="552450" cy="47625"/>
          </a:xfrm>
          <a:prstGeom xmlns:a="http://schemas.openxmlformats.org/drawingml/2006/main" prst="roundRect">
            <a:avLst>
              <a:gd name="adj" fmla="val 50000"/>
            </a:avLst>
          </a:prstGeom>
          <a:solidFill xmlns:a="http://schemas.openxmlformats.org/drawingml/2006/main">
            <a:srgbClr val="13A6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F4EAF67C-87B6-4EDE-8872-6BDF890AEC3B}"/>
              </a:ext>
            </a:extLst>
          </p:cNvPr>
          <p:cNvSpPr>
            <a:spLocks xmlns:a="http://schemas.openxmlformats.org/drawingml/2006/main" noGrp="1"/>
          </p:cNvSpPr>
          <p:nvPr/>
        </p:nvSpPr>
        <p:spPr>
          <a:xfrm xmlns:a="http://schemas.openxmlformats.org/drawingml/2006/main">
            <a:off x="1428750" y="11811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5D7180"/>
                </a:solidFill>
                <a:latin typeface="Aptos"/>
                <a:ea typeface="Aptos"/>
                <a:cs typeface="Aptos"/>
              </a:defRPr>
            </a:pPr>
            <a:r>
              <a:rPr sz="1350" b="0">
                <a:solidFill>
                  <a:srgbClr val="5D7180"/>
                </a:solidFill>
                <a:latin typeface="Aptos"/>
                <a:ea typeface="Aptos"/>
                <a:cs typeface="Aptos"/>
              </a:rPr>
              <a:t>A fictional profile used to demonstrate trends and cycle estimates.</a:t>
            </a:r>
          </a:p>
        </p:txBody>
      </p:sp>
      <p:sp>
        <p:nvSpPr>
          <p:cNvPr id="4" name="Rectangle: Rounded Corners 3">
            <a:extLst xmlns:a="http://schemas.openxmlformats.org/drawingml/2006/main">
              <a:ext uri="{FF2B5EF4-FFF2-40B4-BE49-F238E27FC236}">
                <a16:creationId xmlns:a16="http://schemas.microsoft.com/office/drawing/2014/main" id="{578E8CFC-EEEA-47F1-9C2F-EEBE012464C6}"/>
              </a:ext>
            </a:extLst>
          </p:cNvPr>
          <p:cNvSpPr>
            <a:spLocks xmlns:a="http://schemas.openxmlformats.org/drawingml/2006/main" noGrp="1"/>
          </p:cNvSpPr>
          <p:nvPr/>
        </p:nvSpPr>
        <p:spPr>
          <a:xfrm xmlns:a="http://schemas.openxmlformats.org/drawingml/2006/main">
            <a:off x="685800" y="1733550"/>
            <a:ext cx="31242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5" name="Rectangle 4">
            <a:extLst xmlns:a="http://schemas.openxmlformats.org/drawingml/2006/main">
              <a:ext uri="{FF2B5EF4-FFF2-40B4-BE49-F238E27FC236}">
                <a16:creationId xmlns:a16="http://schemas.microsoft.com/office/drawing/2014/main" id="{1FDA3B99-0821-41BF-89DF-23722B08AF45}"/>
              </a:ext>
            </a:extLst>
          </p:cNvPr>
          <p:cNvSpPr>
            <a:spLocks xmlns:a="http://schemas.openxmlformats.org/drawingml/2006/main" noGrp="1"/>
          </p:cNvSpPr>
          <p:nvPr/>
        </p:nvSpPr>
        <p:spPr>
          <a:xfrm xmlns:a="http://schemas.openxmlformats.org/drawingml/2006/main">
            <a:off x="9525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01</a:t>
            </a:r>
          </a:p>
        </p:txBody>
      </p:sp>
      <p:sp>
        <p:nvSpPr>
          <p:cNvPr id="6" name="Rectangle 5">
            <a:extLst xmlns:a="http://schemas.openxmlformats.org/drawingml/2006/main">
              <a:ext uri="{FF2B5EF4-FFF2-40B4-BE49-F238E27FC236}">
                <a16:creationId xmlns:a16="http://schemas.microsoft.com/office/drawing/2014/main" id="{53D5E42C-BFE1-4DA6-825B-9C33D13E6C2B}"/>
              </a:ext>
            </a:extLst>
          </p:cNvPr>
          <p:cNvSpPr>
            <a:spLocks xmlns:a="http://schemas.openxmlformats.org/drawingml/2006/main" noGrp="1"/>
          </p:cNvSpPr>
          <p:nvPr/>
        </p:nvSpPr>
        <p:spPr>
          <a:xfrm xmlns:a="http://schemas.openxmlformats.org/drawingml/2006/main">
            <a:off x="9525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0283D"/>
                </a:solidFill>
                <a:latin typeface="Aptos"/>
                <a:ea typeface="Aptos"/>
                <a:cs typeface="Aptos"/>
              </a:defRPr>
            </a:pPr>
            <a:r>
              <a:rPr sz="1350" b="1">
                <a:solidFill>
                  <a:srgbClr val="10283D"/>
                </a:solidFill>
                <a:latin typeface="Aptos"/>
                <a:ea typeface="Aptos"/>
                <a:cs typeface="Aptos"/>
              </a:rPr>
              <a:t>BACKGROUND</a:t>
            </a:r>
          </a:p>
        </p:txBody>
      </p:sp>
      <p:sp>
        <p:nvSpPr>
          <p:cNvPr id="7" name="Rectangle 6">
            <a:extLst xmlns:a="http://schemas.openxmlformats.org/drawingml/2006/main">
              <a:ext uri="{FF2B5EF4-FFF2-40B4-BE49-F238E27FC236}">
                <a16:creationId xmlns:a16="http://schemas.microsoft.com/office/drawing/2014/main" id="{FAB9985D-60F1-404F-91AD-497058E3AD96}"/>
              </a:ext>
            </a:extLst>
          </p:cNvPr>
          <p:cNvSpPr>
            <a:spLocks xmlns:a="http://schemas.openxmlformats.org/drawingml/2006/main" noGrp="1"/>
          </p:cNvSpPr>
          <p:nvPr/>
        </p:nvSpPr>
        <p:spPr>
          <a:xfrm xmlns:a="http://schemas.openxmlformats.org/drawingml/2006/main">
            <a:off x="9525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8000"/>
              </a:lnSpc>
              <a:buNone/>
              <a:defRPr sz="1350" b="0">
                <a:solidFill>
                  <a:srgbClr val="5D7180"/>
                </a:solidFill>
                <a:latin typeface="Aptos"/>
                <a:ea typeface="Aptos"/>
                <a:cs typeface="Aptos"/>
              </a:defRPr>
            </a:pPr>
            <a:r>
              <a:rPr sz="1350" b="0">
                <a:solidFill>
                  <a:srgbClr val="5D7180"/>
                </a:solidFill>
                <a:latin typeface="Aptos"/>
                <a:ea typeface="Aptos"/>
                <a:cs typeface="Aptos"/>
              </a:rPr>
              <a:t>Maria works at a desk most days and is gradually building more consistent movement and nutrition habits.</a:t>
            </a:r>
          </a:p>
        </p:txBody>
      </p:sp>
      <p:sp>
        <p:nvSpPr>
          <p:cNvPr id="8" name="Rectangle: Rounded Corners 7">
            <a:extLst xmlns:a="http://schemas.openxmlformats.org/drawingml/2006/main">
              <a:ext uri="{FF2B5EF4-FFF2-40B4-BE49-F238E27FC236}">
                <a16:creationId xmlns:a16="http://schemas.microsoft.com/office/drawing/2014/main" id="{765F6414-EAEF-4884-9889-934702CC2CD4}"/>
              </a:ext>
            </a:extLst>
          </p:cNvPr>
          <p:cNvSpPr>
            <a:spLocks xmlns:a="http://schemas.openxmlformats.org/drawingml/2006/main" noGrp="1"/>
          </p:cNvSpPr>
          <p:nvPr/>
        </p:nvSpPr>
        <p:spPr>
          <a:xfrm xmlns:a="http://schemas.openxmlformats.org/drawingml/2006/main">
            <a:off x="4229100" y="1733550"/>
            <a:ext cx="3124200" cy="3048000"/>
          </a:xfrm>
          <a:prstGeom xmlns:a="http://schemas.openxmlformats.org/drawingml/2006/main" prst="roundRect">
            <a:avLst>
              <a:gd name="adj" fmla="val 7500"/>
            </a:avLst>
          </a:prstGeom>
          <a:solidFill xmlns:a="http://schemas.openxmlformats.org/drawingml/2006/main">
            <a:srgbClr val="EAF3FA"/>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FD1C25B4-D014-46EE-B245-854DD66438BC}"/>
              </a:ext>
            </a:extLst>
          </p:cNvPr>
          <p:cNvSpPr>
            <a:spLocks xmlns:a="http://schemas.openxmlformats.org/drawingml/2006/main" noGrp="1"/>
          </p:cNvSpPr>
          <p:nvPr/>
        </p:nvSpPr>
        <p:spPr>
          <a:xfrm xmlns:a="http://schemas.openxmlformats.org/drawingml/2006/main">
            <a:off x="44958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02</a:t>
            </a:r>
          </a:p>
        </p:txBody>
      </p:sp>
      <p:sp>
        <p:nvSpPr>
          <p:cNvPr id="10" name="Rectangle 9">
            <a:extLst xmlns:a="http://schemas.openxmlformats.org/drawingml/2006/main">
              <a:ext uri="{FF2B5EF4-FFF2-40B4-BE49-F238E27FC236}">
                <a16:creationId xmlns:a16="http://schemas.microsoft.com/office/drawing/2014/main" id="{E95D30B3-9B53-4815-B97C-E9887E59CF59}"/>
              </a:ext>
            </a:extLst>
          </p:cNvPr>
          <p:cNvSpPr>
            <a:spLocks xmlns:a="http://schemas.openxmlformats.org/drawingml/2006/main" noGrp="1"/>
          </p:cNvSpPr>
          <p:nvPr/>
        </p:nvSpPr>
        <p:spPr>
          <a:xfrm xmlns:a="http://schemas.openxmlformats.org/drawingml/2006/main">
            <a:off x="44958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0283D"/>
                </a:solidFill>
                <a:latin typeface="Aptos"/>
                <a:ea typeface="Aptos"/>
                <a:cs typeface="Aptos"/>
              </a:defRPr>
            </a:pPr>
            <a:r>
              <a:rPr sz="1350" b="1">
                <a:solidFill>
                  <a:srgbClr val="10283D"/>
                </a:solidFill>
                <a:latin typeface="Aptos"/>
                <a:ea typeface="Aptos"/>
                <a:cs typeface="Aptos"/>
              </a:rPr>
              <a:t>HEALTH SNAPSHOT</a:t>
            </a:r>
          </a:p>
        </p:txBody>
      </p:sp>
      <p:sp>
        <p:nvSpPr>
          <p:cNvPr id="11" name="Rectangle 10">
            <a:extLst xmlns:a="http://schemas.openxmlformats.org/drawingml/2006/main">
              <a:ext uri="{FF2B5EF4-FFF2-40B4-BE49-F238E27FC236}">
                <a16:creationId xmlns:a16="http://schemas.microsoft.com/office/drawing/2014/main" id="{812CEDE3-9B3B-42F3-B263-4AC22431A096}"/>
              </a:ext>
            </a:extLst>
          </p:cNvPr>
          <p:cNvSpPr>
            <a:spLocks xmlns:a="http://schemas.openxmlformats.org/drawingml/2006/main" noGrp="1"/>
          </p:cNvSpPr>
          <p:nvPr/>
        </p:nvSpPr>
        <p:spPr>
          <a:xfrm xmlns:a="http://schemas.openxmlformats.org/drawingml/2006/main">
            <a:off x="44958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800" b="1">
                <a:solidFill>
                  <a:srgbClr val="10283D"/>
                </a:solidFill>
                <a:latin typeface="Aptos"/>
                <a:ea typeface="Aptos"/>
                <a:cs typeface="Aptos"/>
              </a:defRPr>
            </a:pPr>
            <a:r>
              <a:rPr sz="1800" b="1">
                <a:solidFill>
                  <a:srgbClr val="10283D"/>
                </a:solidFill>
                <a:latin typeface="Aptos"/>
                <a:ea typeface="Aptos"/>
                <a:cs typeface="Aptos"/>
              </a:rPr>
              <a:t>Age 27 · 5 ft 4 in</a:t>
            </a:r>
          </a:p>
          <a:p xmlns:a="http://schemas.openxmlformats.org/drawingml/2006/main">
            <a:pPr algn="l">
              <a:lnSpc>
                <a:spcPct val="125000"/>
              </a:lnSpc>
              <a:buNone/>
              <a:defRPr sz="1800" b="1">
                <a:solidFill>
                  <a:srgbClr val="10283D"/>
                </a:solidFill>
                <a:latin typeface="Aptos"/>
                <a:ea typeface="Aptos"/>
                <a:cs typeface="Aptos"/>
              </a:defRPr>
            </a:pPr>
            <a:r>
              <a:rPr sz="1800" b="1">
                <a:solidFill>
                  <a:srgbClr val="10283D"/>
                </a:solidFill>
                <a:latin typeface="Aptos"/>
                <a:ea typeface="Aptos"/>
                <a:cs typeface="Aptos"/>
              </a:rPr>
              <a:t>184 lb · 3,800 steps</a:t>
            </a:r>
          </a:p>
        </p:txBody>
      </p:sp>
      <p:sp>
        <p:nvSpPr>
          <p:cNvPr id="12" name="Rectangle: Rounded Corners 11">
            <a:extLst xmlns:a="http://schemas.openxmlformats.org/drawingml/2006/main">
              <a:ext uri="{FF2B5EF4-FFF2-40B4-BE49-F238E27FC236}">
                <a16:creationId xmlns:a16="http://schemas.microsoft.com/office/drawing/2014/main" id="{C223E486-8C2E-4436-B0C7-704BECB4329B}"/>
              </a:ext>
            </a:extLst>
          </p:cNvPr>
          <p:cNvSpPr>
            <a:spLocks xmlns:a="http://schemas.openxmlformats.org/drawingml/2006/main" noGrp="1"/>
          </p:cNvSpPr>
          <p:nvPr/>
        </p:nvSpPr>
        <p:spPr>
          <a:xfrm xmlns:a="http://schemas.openxmlformats.org/drawingml/2006/main">
            <a:off x="7772400" y="1733550"/>
            <a:ext cx="312420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4E0E6"/>
            </a:solidFill>
            <a:prstDash val="solid"/>
          </a:ln>
        </p:spPr>
        <p:txBody>
          <a:bodyPr xmlns:a="http://schemas.openxmlformats.org/drawingml/2006/main"/>
          <a:lstStyle xmlns:a="http://schemas.openxmlformats.org/drawingml/2006/main"/>
          <a:p xmlns:a="http://schemas.openxmlformats.org/drawingml/2006/main"/>
        </p:txBody>
      </p:sp>
      <p:sp>
        <p:nvSpPr>
          <p:cNvPr id="13" name="Rectangle 12">
            <a:extLst xmlns:a="http://schemas.openxmlformats.org/drawingml/2006/main">
              <a:ext uri="{FF2B5EF4-FFF2-40B4-BE49-F238E27FC236}">
                <a16:creationId xmlns:a16="http://schemas.microsoft.com/office/drawing/2014/main" id="{D29F3CD6-DF49-4D19-B135-BA490025EC24}"/>
              </a:ext>
            </a:extLst>
          </p:cNvPr>
          <p:cNvSpPr>
            <a:spLocks xmlns:a="http://schemas.openxmlformats.org/drawingml/2006/main" noGrp="1"/>
          </p:cNvSpPr>
          <p:nvPr/>
        </p:nvSpPr>
        <p:spPr>
          <a:xfrm xmlns:a="http://schemas.openxmlformats.org/drawingml/2006/main">
            <a:off x="8039100" y="2019300"/>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13A6A2"/>
                </a:solidFill>
                <a:latin typeface="Aptos"/>
                <a:ea typeface="Aptos"/>
                <a:cs typeface="Aptos"/>
              </a:defRPr>
            </a:pPr>
            <a:r>
              <a:rPr sz="1125" b="1">
                <a:solidFill>
                  <a:srgbClr val="13A6A2"/>
                </a:solidFill>
                <a:latin typeface="Aptos"/>
                <a:ea typeface="Aptos"/>
                <a:cs typeface="Aptos"/>
              </a:rPr>
              <a:t>03</a:t>
            </a:r>
          </a:p>
        </p:txBody>
      </p:sp>
      <p:sp>
        <p:nvSpPr>
          <p:cNvPr id="14" name="Rectangle 13">
            <a:extLst xmlns:a="http://schemas.openxmlformats.org/drawingml/2006/main">
              <a:ext uri="{FF2B5EF4-FFF2-40B4-BE49-F238E27FC236}">
                <a16:creationId xmlns:a16="http://schemas.microsoft.com/office/drawing/2014/main" id="{0F6E9EF1-4802-4969-8576-E3F84AA1274F}"/>
              </a:ext>
            </a:extLst>
          </p:cNvPr>
          <p:cNvSpPr>
            <a:spLocks xmlns:a="http://schemas.openxmlformats.org/drawingml/2006/main" noGrp="1"/>
          </p:cNvSpPr>
          <p:nvPr/>
        </p:nvSpPr>
        <p:spPr>
          <a:xfrm xmlns:a="http://schemas.openxmlformats.org/drawingml/2006/main">
            <a:off x="8039100" y="24765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1">
                <a:solidFill>
                  <a:srgbClr val="10283D"/>
                </a:solidFill>
                <a:latin typeface="Aptos"/>
                <a:ea typeface="Aptos"/>
                <a:cs typeface="Aptos"/>
              </a:defRPr>
            </a:pPr>
            <a:r>
              <a:rPr sz="1350" b="1">
                <a:solidFill>
                  <a:srgbClr val="10283D"/>
                </a:solidFill>
                <a:latin typeface="Aptos"/>
                <a:ea typeface="Aptos"/>
                <a:cs typeface="Aptos"/>
              </a:rPr>
              <a:t>EXERCISE HABITS</a:t>
            </a:r>
          </a:p>
        </p:txBody>
      </p:sp>
      <p:sp>
        <p:nvSpPr>
          <p:cNvPr id="15" name="Rectangle 14">
            <a:extLst xmlns:a="http://schemas.openxmlformats.org/drawingml/2006/main">
              <a:ext uri="{FF2B5EF4-FFF2-40B4-BE49-F238E27FC236}">
                <a16:creationId xmlns:a16="http://schemas.microsoft.com/office/drawing/2014/main" id="{32709C3D-7EB6-48E8-A13C-8788D30112E1}"/>
              </a:ext>
            </a:extLst>
          </p:cNvPr>
          <p:cNvSpPr>
            <a:spLocks xmlns:a="http://schemas.openxmlformats.org/drawingml/2006/main" noGrp="1"/>
          </p:cNvSpPr>
          <p:nvPr/>
        </p:nvSpPr>
        <p:spPr>
          <a:xfrm xmlns:a="http://schemas.openxmlformats.org/drawingml/2006/main">
            <a:off x="8039100" y="3352800"/>
            <a:ext cx="2571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18000"/>
              </a:lnSpc>
              <a:buNone/>
              <a:defRPr sz="1500" b="1">
                <a:solidFill>
                  <a:srgbClr val="10283D"/>
                </a:solidFill>
                <a:latin typeface="Aptos"/>
                <a:ea typeface="Aptos"/>
                <a:cs typeface="Aptos"/>
              </a:defRPr>
            </a:pPr>
            <a:r>
              <a:rPr sz="1500" b="1">
                <a:solidFill>
                  <a:srgbClr val="10283D"/>
                </a:solidFill>
                <a:latin typeface="Aptos"/>
                <a:ea typeface="Aptos"/>
                <a:cs typeface="Aptos"/>
              </a:rPr>
              <a:t>12 minutes per day</a:t>
            </a:r>
          </a:p>
          <a:p xmlns:a="http://schemas.openxmlformats.org/drawingml/2006/main">
            <a:pPr algn="l">
              <a:lnSpc>
                <a:spcPct val="118000"/>
              </a:lnSpc>
              <a:buNone/>
              <a:defRPr sz="1500" b="1">
                <a:solidFill>
                  <a:srgbClr val="10283D"/>
                </a:solidFill>
                <a:latin typeface="Aptos"/>
                <a:ea typeface="Aptos"/>
                <a:cs typeface="Aptos"/>
              </a:defRPr>
            </a:pPr>
            <a:r>
              <a:rPr sz="1500" b="1">
                <a:solidFill>
                  <a:srgbClr val="10283D"/>
                </a:solidFill>
                <a:latin typeface="Aptos"/>
                <a:ea typeface="Aptos"/>
                <a:cs typeface="Aptos"/>
              </a:rPr>
              <a:t>1 workout per week</a:t>
            </a:r>
          </a:p>
        </p:txBody>
      </p:sp>
      <p:sp>
        <p:nvSpPr>
          <p:cNvPr id="16" name="Rectangle 15">
            <a:extLst xmlns:a="http://schemas.openxmlformats.org/drawingml/2006/main">
              <a:ext uri="{FF2B5EF4-FFF2-40B4-BE49-F238E27FC236}">
                <a16:creationId xmlns:a16="http://schemas.microsoft.com/office/drawing/2014/main" id="{2BACF760-DE0C-49A2-AE84-127780F2DAAD}"/>
              </a:ext>
            </a:extLst>
          </p:cNvPr>
          <p:cNvSpPr>
            <a:spLocks xmlns:a="http://schemas.openxmlformats.org/drawingml/2006/main" noGrp="1"/>
          </p:cNvSpPr>
          <p:nvPr/>
        </p:nvSpPr>
        <p:spPr>
          <a:xfrm xmlns:a="http://schemas.openxmlformats.org/drawingml/2006/main">
            <a:off x="1504950" y="5238750"/>
            <a:ext cx="918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ctr">
              <a:lnSpc>
                <a:spcPct val="110000"/>
              </a:lnSpc>
              <a:buNone/>
              <a:defRPr sz="1500" b="1">
                <a:solidFill>
                  <a:srgbClr val="10283D"/>
                </a:solidFill>
                <a:latin typeface="Aptos"/>
                <a:ea typeface="Aptos"/>
                <a:cs typeface="Aptos"/>
              </a:defRPr>
            </a:pPr>
            <a:r>
              <a:rPr sz="1500" b="1">
                <a:solidFill>
                  <a:srgbClr val="10283D"/>
                </a:solidFill>
                <a:latin typeface="Aptos"/>
                <a:ea typeface="Aptos"/>
                <a:cs typeface="Aptos"/>
              </a:rPr>
              <a:t>Demo focus: how improving habits, cycle history, and model factors appear together.</a:t>
            </a:r>
          </a:p>
        </p:txBody>
      </p:sp>
      <p:sp>
        <p:nvSpPr>
          <p:cNvPr id="17" name="Rectangle 16">
            <a:extLst xmlns:a="http://schemas.openxmlformats.org/drawingml/2006/main">
              <a:ext uri="{FF2B5EF4-FFF2-40B4-BE49-F238E27FC236}">
                <a16:creationId xmlns:a16="http://schemas.microsoft.com/office/drawing/2014/main" id="{CE122983-1D82-4ABF-8260-63B227A111CF}"/>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718693"/>
                </a:solidFill>
                <a:latin typeface="Aptos"/>
                <a:ea typeface="Aptos"/>
                <a:cs typeface="Aptos"/>
              </a:defRPr>
            </a:pPr>
            <a:r>
              <a:rPr sz="825" b="1">
                <a:solidFill>
                  <a:srgbClr val="718693"/>
                </a:solidFill>
                <a:latin typeface="Aptos"/>
                <a:ea typeface="Aptos"/>
                <a:cs typeface="Aptos"/>
              </a:rPr>
              <a:t>WELLPATH  •  CONCEPT PROTOTYPE</a:t>
            </a:r>
          </a:p>
        </p:txBody>
      </p:sp>
      <p:sp>
        <p:nvSpPr>
          <p:cNvPr id="18" name="Rectangle 17">
            <a:extLst xmlns:a="http://schemas.openxmlformats.org/drawingml/2006/main">
              <a:ext uri="{FF2B5EF4-FFF2-40B4-BE49-F238E27FC236}">
                <a16:creationId xmlns:a16="http://schemas.microsoft.com/office/drawing/2014/main" id="{CFB2B590-2175-48D7-9191-84411074CC9B}"/>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16</a:t>
            </a:r>
          </a:p>
        </p:txBody>
      </p:sp>
    </p:spTree>
    <p:extLst>
      <p:ext uri="{BB962C8B-B14F-4D97-AF65-F5344CB8AC3E}">
        <p14:creationId xmlns:p14="http://schemas.microsoft.com/office/powerpoint/2010/main" val="1988428299"/>
      </p:ext>
    </p:extLst>
  </p:cSld>
</p:sld>
</file>

<file path=ppt/slides/slide17.xml><?xml version="1.0" encoding="utf-8"?>
<p:sld xmlns:p="http://schemas.openxmlformats.org/presentationml/2006/main">
  <p:cSld>
    <p:bg>
      <p:bgPr>
        <a:solidFill xmlns:a="http://schemas.openxmlformats.org/drawingml/2006/main">
          <a:srgbClr val="10283D"/>
        </a:solidFill>
      </p:bgPr>
    </p:bg>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BB7724AA-4D15-492C-B603-F944964142C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57D7D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Rectangle 1">
            <a:extLst xmlns:a="http://schemas.openxmlformats.org/drawingml/2006/main">
              <a:ext uri="{FF2B5EF4-FFF2-40B4-BE49-F238E27FC236}">
                <a16:creationId xmlns:a16="http://schemas.microsoft.com/office/drawing/2014/main" id="{EE53DBD5-16E7-4D6C-A71C-EF6C2933DFD6}"/>
              </a:ext>
            </a:extLst>
          </p:cNvPr>
          <p:cNvSpPr>
            <a:spLocks xmlns:a="http://schemas.openxmlformats.org/drawingml/2006/main" noGrp="1"/>
          </p:cNvSpPr>
          <p:nvPr/>
        </p:nvSpPr>
        <p:spPr>
          <a:xfrm xmlns:a="http://schemas.openxmlformats.org/drawingml/2006/main">
            <a:off x="685800" y="51435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850" b="1">
                <a:solidFill>
                  <a:srgbClr val="F7F9F8"/>
                </a:solidFill>
                <a:latin typeface="Aptos"/>
                <a:ea typeface="Aptos"/>
                <a:cs typeface="Aptos"/>
              </a:defRPr>
            </a:pPr>
            <a:r>
              <a:rPr sz="2850" b="1">
                <a:solidFill>
                  <a:srgbClr val="F7F9F8"/>
                </a:solidFill>
                <a:latin typeface="Aptos"/>
                <a:ea typeface="Aptos"/>
                <a:cs typeface="Aptos"/>
              </a:rPr>
              <a:t>Live demonstration</a:t>
            </a:r>
          </a:p>
        </p:txBody>
      </p:sp>
      <p:sp>
        <p:nvSpPr>
          <p:cNvPr id="3" name="Rectangle 2">
            <a:extLst xmlns:a="http://schemas.openxmlformats.org/drawingml/2006/main">
              <a:ext uri="{FF2B5EF4-FFF2-40B4-BE49-F238E27FC236}">
                <a16:creationId xmlns:a16="http://schemas.microsoft.com/office/drawing/2014/main" id="{30ED73AF-6419-46D2-811A-9E7A8DEC0134}"/>
              </a:ext>
            </a:extLst>
          </p:cNvPr>
          <p:cNvSpPr>
            <a:spLocks xmlns:a="http://schemas.openxmlformats.org/drawingml/2006/main" noGrp="1"/>
          </p:cNvSpPr>
          <p:nvPr/>
        </p:nvSpPr>
        <p:spPr>
          <a:xfrm xmlns:a="http://schemas.openxmlformats.org/drawingml/2006/main">
            <a:off x="685800" y="120015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350" b="0">
                <a:solidFill>
                  <a:srgbClr val="C7D6DE"/>
                </a:solidFill>
                <a:latin typeface="Aptos"/>
                <a:ea typeface="Aptos"/>
                <a:cs typeface="Aptos"/>
              </a:defRPr>
            </a:pPr>
            <a:r>
              <a:rPr sz="1350" b="0">
                <a:solidFill>
                  <a:srgbClr val="C7D6DE"/>
                </a:solidFill>
                <a:latin typeface="Aptos"/>
                <a:ea typeface="Aptos"/>
                <a:cs typeface="Aptos"/>
              </a:rPr>
              <a:t>Two fictional profiles show how the experience responds to different patterns.</a:t>
            </a:r>
          </a:p>
        </p:txBody>
      </p:sp>
      <p:sp>
        <p:nvSpPr>
          <p:cNvPr id="4" name="Rectangle: Rounded Corners 3">
            <a:extLst xmlns:a="http://schemas.openxmlformats.org/drawingml/2006/main">
              <a:ext uri="{FF2B5EF4-FFF2-40B4-BE49-F238E27FC236}">
                <a16:creationId xmlns:a16="http://schemas.microsoft.com/office/drawing/2014/main" id="{E95ED70A-0530-4394-8366-5A74C0C68227}"/>
              </a:ext>
            </a:extLst>
          </p:cNvPr>
          <p:cNvSpPr>
            <a:spLocks xmlns:a="http://schemas.openxmlformats.org/drawingml/2006/main" noGrp="1"/>
          </p:cNvSpPr>
          <p:nvPr/>
        </p:nvSpPr>
        <p:spPr>
          <a:xfrm xmlns:a="http://schemas.openxmlformats.org/drawingml/2006/main">
            <a:off x="685800" y="1790700"/>
            <a:ext cx="5905500" cy="4095750"/>
          </a:xfrm>
          <a:prstGeom xmlns:a="http://schemas.openxmlformats.org/drawingml/2006/main" prst="roundRect">
            <a:avLst>
              <a:gd name="adj" fmla="val 6047"/>
            </a:avLst>
          </a:prstGeom>
          <a:solidFill xmlns:a="http://schemas.openxmlformats.org/drawingml/2006/main">
            <a:srgbClr val="EAF2F4"/>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pic>
        <p:nvPicPr>
          <p:cNvPr id="28" name="Picture 27"/>
          <p:cNvPicPr>
            <a:picLocks xmlns:a="http://schemas.openxmlformats.org/drawingml/2006/main" noChangeAspect="1"/>
          </p:cNvPicPr>
          <p:nvPr/>
        </p:nvPicPr>
        <p:blipFill>
          <a:blip xmlns:r="http://schemas.openxmlformats.org/officeDocument/2006/relationships" xmlns:a="http://schemas.openxmlformats.org/drawingml/2006/main" r:embed="R6230873e0a9a4133"/>
          <a:srcRect xmlns:a="http://schemas.openxmlformats.org/drawingml/2006/main" l="31000" t="36000" r="31000" b="16000"/>
          <a:stretch xmlns:a="http://schemas.openxmlformats.org/drawingml/2006/main"/>
        </p:blipFill>
        <p:spPr>
          <a:xfrm xmlns:a="http://schemas.openxmlformats.org/drawingml/2006/main">
            <a:off x="914400" y="1981200"/>
            <a:ext cx="5448300" cy="3714750"/>
          </a:xfrm>
          <a:prstGeom xmlns:a="http://schemas.openxmlformats.org/drawingml/2006/main" prst="roundRect">
            <a:avLst>
              <a:gd name="adj" fmla="val 4615"/>
            </a:avLst>
          </a:prstGeom>
        </p:spPr>
      </p:pic>
      <p:sp>
        <p:nvSpPr>
          <p:cNvPr id="6" name="Rectangle 5">
            <a:extLst xmlns:a="http://schemas.openxmlformats.org/drawingml/2006/main">
              <a:ext uri="{FF2B5EF4-FFF2-40B4-BE49-F238E27FC236}">
                <a16:creationId xmlns:a16="http://schemas.microsoft.com/office/drawing/2014/main" id="{67AE7DCE-7095-4044-975C-AD45164C4EB7}"/>
              </a:ext>
            </a:extLst>
          </p:cNvPr>
          <p:cNvSpPr>
            <a:spLocks xmlns:a="http://schemas.openxmlformats.org/drawingml/2006/main" noGrp="1"/>
          </p:cNvSpPr>
          <p:nvPr/>
        </p:nvSpPr>
        <p:spPr>
          <a:xfrm xmlns:a="http://schemas.openxmlformats.org/drawingml/2006/main">
            <a:off x="7239000" y="19240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57D7D2"/>
                </a:solidFill>
                <a:latin typeface="Aptos"/>
                <a:ea typeface="Aptos"/>
                <a:cs typeface="Aptos"/>
              </a:defRPr>
            </a:pPr>
            <a:r>
              <a:rPr sz="1125" b="1">
                <a:solidFill>
                  <a:srgbClr val="57D7D2"/>
                </a:solidFill>
                <a:latin typeface="Aptos"/>
                <a:ea typeface="Aptos"/>
                <a:cs typeface="Aptos"/>
              </a:rPr>
              <a:t>01</a:t>
            </a:r>
          </a:p>
        </p:txBody>
      </p:sp>
      <p:sp>
        <p:nvSpPr>
          <p:cNvPr id="7" name="Rectangle 6">
            <a:extLst xmlns:a="http://schemas.openxmlformats.org/drawingml/2006/main">
              <a:ext uri="{FF2B5EF4-FFF2-40B4-BE49-F238E27FC236}">
                <a16:creationId xmlns:a16="http://schemas.microsoft.com/office/drawing/2014/main" id="{EB8D67E2-54ED-4EA1-9390-313417D6F3DF}"/>
              </a:ext>
            </a:extLst>
          </p:cNvPr>
          <p:cNvSpPr>
            <a:spLocks xmlns:a="http://schemas.openxmlformats.org/drawingml/2006/main" noGrp="1"/>
          </p:cNvSpPr>
          <p:nvPr/>
        </p:nvSpPr>
        <p:spPr>
          <a:xfrm xmlns:a="http://schemas.openxmlformats.org/drawingml/2006/main">
            <a:off x="7905750" y="189547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F7F9F8"/>
                </a:solidFill>
                <a:latin typeface="Aptos"/>
                <a:ea typeface="Aptos"/>
                <a:cs typeface="Aptos"/>
              </a:defRPr>
            </a:pPr>
            <a:r>
              <a:rPr sz="1500" b="1">
                <a:solidFill>
                  <a:srgbClr val="F7F9F8"/>
                </a:solidFill>
                <a:latin typeface="Aptos"/>
                <a:ea typeface="Aptos"/>
                <a:cs typeface="Aptos"/>
              </a:rPr>
              <a:t>Start with Alex</a:t>
            </a:r>
          </a:p>
        </p:txBody>
      </p:sp>
      <p:sp>
        <p:nvSpPr>
          <p:cNvPr id="8" name="Rectangle 7">
            <a:extLst xmlns:a="http://schemas.openxmlformats.org/drawingml/2006/main">
              <a:ext uri="{FF2B5EF4-FFF2-40B4-BE49-F238E27FC236}">
                <a16:creationId xmlns:a16="http://schemas.microsoft.com/office/drawing/2014/main" id="{95D131EE-9E03-4104-BC7A-6C81E0419B5A}"/>
              </a:ext>
            </a:extLst>
          </p:cNvPr>
          <p:cNvSpPr>
            <a:spLocks xmlns:a="http://schemas.openxmlformats.org/drawingml/2006/main" noGrp="1"/>
          </p:cNvSpPr>
          <p:nvPr/>
        </p:nvSpPr>
        <p:spPr>
          <a:xfrm xmlns:a="http://schemas.openxmlformats.org/drawingml/2006/main">
            <a:off x="7239000" y="2457450"/>
            <a:ext cx="3905250" cy="9525"/>
          </a:xfrm>
          <a:prstGeom xmlns:a="http://schemas.openxmlformats.org/drawingml/2006/main" prst="rect">
            <a:avLst/>
          </a:prstGeom>
          <a:solidFill xmlns:a="http://schemas.openxmlformats.org/drawingml/2006/main">
            <a:srgbClr val="31506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546D1C88-32DC-4F6C-B5BD-172D9A1F24F1}"/>
              </a:ext>
            </a:extLst>
          </p:cNvPr>
          <p:cNvSpPr>
            <a:spLocks xmlns:a="http://schemas.openxmlformats.org/drawingml/2006/main" noGrp="1"/>
          </p:cNvSpPr>
          <p:nvPr/>
        </p:nvSpPr>
        <p:spPr>
          <a:xfrm xmlns:a="http://schemas.openxmlformats.org/drawingml/2006/main">
            <a:off x="7239000" y="26670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57D7D2"/>
                </a:solidFill>
                <a:latin typeface="Aptos"/>
                <a:ea typeface="Aptos"/>
                <a:cs typeface="Aptos"/>
              </a:defRPr>
            </a:pPr>
            <a:r>
              <a:rPr sz="1125" b="1">
                <a:solidFill>
                  <a:srgbClr val="57D7D2"/>
                </a:solidFill>
                <a:latin typeface="Aptos"/>
                <a:ea typeface="Aptos"/>
                <a:cs typeface="Aptos"/>
              </a:rPr>
              <a:t>02</a:t>
            </a:r>
          </a:p>
        </p:txBody>
      </p:sp>
      <p:sp>
        <p:nvSpPr>
          <p:cNvPr id="10" name="Rectangle 9">
            <a:extLst xmlns:a="http://schemas.openxmlformats.org/drawingml/2006/main">
              <a:ext uri="{FF2B5EF4-FFF2-40B4-BE49-F238E27FC236}">
                <a16:creationId xmlns:a16="http://schemas.microsoft.com/office/drawing/2014/main" id="{46CC4214-7185-4F41-9F53-8E9928C40101}"/>
              </a:ext>
            </a:extLst>
          </p:cNvPr>
          <p:cNvSpPr>
            <a:spLocks xmlns:a="http://schemas.openxmlformats.org/drawingml/2006/main" noGrp="1"/>
          </p:cNvSpPr>
          <p:nvPr/>
        </p:nvSpPr>
        <p:spPr>
          <a:xfrm xmlns:a="http://schemas.openxmlformats.org/drawingml/2006/main">
            <a:off x="7905750" y="263842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F7F9F8"/>
                </a:solidFill>
                <a:latin typeface="Aptos"/>
                <a:ea typeface="Aptos"/>
                <a:cs typeface="Aptos"/>
              </a:defRPr>
            </a:pPr>
            <a:r>
              <a:rPr sz="1500" b="1">
                <a:solidFill>
                  <a:srgbClr val="F7F9F8"/>
                </a:solidFill>
                <a:latin typeface="Aptos"/>
                <a:ea typeface="Aptos"/>
                <a:cs typeface="Aptos"/>
              </a:rPr>
              <a:t>Review daily guidance</a:t>
            </a:r>
          </a:p>
        </p:txBody>
      </p:sp>
      <p:sp>
        <p:nvSpPr>
          <p:cNvPr id="11" name="Rectangle 10">
            <a:extLst xmlns:a="http://schemas.openxmlformats.org/drawingml/2006/main">
              <a:ext uri="{FF2B5EF4-FFF2-40B4-BE49-F238E27FC236}">
                <a16:creationId xmlns:a16="http://schemas.microsoft.com/office/drawing/2014/main" id="{49F726DB-2A57-4428-BC94-416755F0E3CC}"/>
              </a:ext>
            </a:extLst>
          </p:cNvPr>
          <p:cNvSpPr>
            <a:spLocks xmlns:a="http://schemas.openxmlformats.org/drawingml/2006/main" noGrp="1"/>
          </p:cNvSpPr>
          <p:nvPr/>
        </p:nvSpPr>
        <p:spPr>
          <a:xfrm xmlns:a="http://schemas.openxmlformats.org/drawingml/2006/main">
            <a:off x="7239000" y="3200400"/>
            <a:ext cx="3905250" cy="9525"/>
          </a:xfrm>
          <a:prstGeom xmlns:a="http://schemas.openxmlformats.org/drawingml/2006/main" prst="rect">
            <a:avLst/>
          </a:prstGeom>
          <a:solidFill xmlns:a="http://schemas.openxmlformats.org/drawingml/2006/main">
            <a:srgbClr val="31506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11838F71-E40D-4171-8E0A-824E5CCABA63}"/>
              </a:ext>
            </a:extLst>
          </p:cNvPr>
          <p:cNvSpPr>
            <a:spLocks xmlns:a="http://schemas.openxmlformats.org/drawingml/2006/main" noGrp="1"/>
          </p:cNvSpPr>
          <p:nvPr/>
        </p:nvSpPr>
        <p:spPr>
          <a:xfrm xmlns:a="http://schemas.openxmlformats.org/drawingml/2006/main">
            <a:off x="7239000" y="34099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57D7D2"/>
                </a:solidFill>
                <a:latin typeface="Aptos"/>
                <a:ea typeface="Aptos"/>
                <a:cs typeface="Aptos"/>
              </a:defRPr>
            </a:pPr>
            <a:r>
              <a:rPr sz="1125" b="1">
                <a:solidFill>
                  <a:srgbClr val="57D7D2"/>
                </a:solidFill>
                <a:latin typeface="Aptos"/>
                <a:ea typeface="Aptos"/>
                <a:cs typeface="Aptos"/>
              </a:rPr>
              <a:t>03</a:t>
            </a:r>
          </a:p>
        </p:txBody>
      </p:sp>
      <p:sp>
        <p:nvSpPr>
          <p:cNvPr id="13" name="Rectangle 12">
            <a:extLst xmlns:a="http://schemas.openxmlformats.org/drawingml/2006/main">
              <a:ext uri="{FF2B5EF4-FFF2-40B4-BE49-F238E27FC236}">
                <a16:creationId xmlns:a16="http://schemas.microsoft.com/office/drawing/2014/main" id="{2CF2420A-197C-415F-9D8A-F3960F47A27F}"/>
              </a:ext>
            </a:extLst>
          </p:cNvPr>
          <p:cNvSpPr>
            <a:spLocks xmlns:a="http://schemas.openxmlformats.org/drawingml/2006/main" noGrp="1"/>
          </p:cNvSpPr>
          <p:nvPr/>
        </p:nvSpPr>
        <p:spPr>
          <a:xfrm xmlns:a="http://schemas.openxmlformats.org/drawingml/2006/main">
            <a:off x="7905750" y="338137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F7F9F8"/>
                </a:solidFill>
                <a:latin typeface="Aptos"/>
                <a:ea typeface="Aptos"/>
                <a:cs typeface="Aptos"/>
              </a:defRPr>
            </a:pPr>
            <a:r>
              <a:rPr sz="1500" b="1">
                <a:solidFill>
                  <a:srgbClr val="F7F9F8"/>
                </a:solidFill>
                <a:latin typeface="Aptos"/>
                <a:ea typeface="Aptos"/>
                <a:cs typeface="Aptos"/>
              </a:rPr>
              <a:t>Switch to Maria</a:t>
            </a:r>
          </a:p>
        </p:txBody>
      </p:sp>
      <p:sp>
        <p:nvSpPr>
          <p:cNvPr id="14" name="Rectangle 13">
            <a:extLst xmlns:a="http://schemas.openxmlformats.org/drawingml/2006/main">
              <a:ext uri="{FF2B5EF4-FFF2-40B4-BE49-F238E27FC236}">
                <a16:creationId xmlns:a16="http://schemas.microsoft.com/office/drawing/2014/main" id="{84778B7E-784D-4C73-BC28-3A1AAB70C28B}"/>
              </a:ext>
            </a:extLst>
          </p:cNvPr>
          <p:cNvSpPr>
            <a:spLocks xmlns:a="http://schemas.openxmlformats.org/drawingml/2006/main" noGrp="1"/>
          </p:cNvSpPr>
          <p:nvPr/>
        </p:nvSpPr>
        <p:spPr>
          <a:xfrm xmlns:a="http://schemas.openxmlformats.org/drawingml/2006/main">
            <a:off x="7239000" y="3943350"/>
            <a:ext cx="3905250" cy="9525"/>
          </a:xfrm>
          <a:prstGeom xmlns:a="http://schemas.openxmlformats.org/drawingml/2006/main" prst="rect">
            <a:avLst/>
          </a:prstGeom>
          <a:solidFill xmlns:a="http://schemas.openxmlformats.org/drawingml/2006/main">
            <a:srgbClr val="31506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87FF3778-A324-4748-83EC-EE3A5A4C5C19}"/>
              </a:ext>
            </a:extLst>
          </p:cNvPr>
          <p:cNvSpPr>
            <a:spLocks xmlns:a="http://schemas.openxmlformats.org/drawingml/2006/main" noGrp="1"/>
          </p:cNvSpPr>
          <p:nvPr/>
        </p:nvSpPr>
        <p:spPr>
          <a:xfrm xmlns:a="http://schemas.openxmlformats.org/drawingml/2006/main">
            <a:off x="7239000" y="415290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57D7D2"/>
                </a:solidFill>
                <a:latin typeface="Aptos"/>
                <a:ea typeface="Aptos"/>
                <a:cs typeface="Aptos"/>
              </a:defRPr>
            </a:pPr>
            <a:r>
              <a:rPr sz="1125" b="1">
                <a:solidFill>
                  <a:srgbClr val="57D7D2"/>
                </a:solidFill>
                <a:latin typeface="Aptos"/>
                <a:ea typeface="Aptos"/>
                <a:cs typeface="Aptos"/>
              </a:rPr>
              <a:t>04</a:t>
            </a:r>
          </a:p>
        </p:txBody>
      </p:sp>
      <p:sp>
        <p:nvSpPr>
          <p:cNvPr id="16" name="Rectangle 15">
            <a:extLst xmlns:a="http://schemas.openxmlformats.org/drawingml/2006/main">
              <a:ext uri="{FF2B5EF4-FFF2-40B4-BE49-F238E27FC236}">
                <a16:creationId xmlns:a16="http://schemas.microsoft.com/office/drawing/2014/main" id="{2C3448FC-28AD-4CC3-8E2B-F14AFF87D26E}"/>
              </a:ext>
            </a:extLst>
          </p:cNvPr>
          <p:cNvSpPr>
            <a:spLocks xmlns:a="http://schemas.openxmlformats.org/drawingml/2006/main" noGrp="1"/>
          </p:cNvSpPr>
          <p:nvPr/>
        </p:nvSpPr>
        <p:spPr>
          <a:xfrm xmlns:a="http://schemas.openxmlformats.org/drawingml/2006/main">
            <a:off x="7905750" y="412432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F7F9F8"/>
                </a:solidFill>
                <a:latin typeface="Aptos"/>
                <a:ea typeface="Aptos"/>
                <a:cs typeface="Aptos"/>
              </a:defRPr>
            </a:pPr>
            <a:r>
              <a:rPr sz="1500" b="1">
                <a:solidFill>
                  <a:srgbClr val="F7F9F8"/>
                </a:solidFill>
                <a:latin typeface="Aptos"/>
                <a:ea typeface="Aptos"/>
                <a:cs typeface="Aptos"/>
              </a:rPr>
              <a:t>Explore cycle estimate</a:t>
            </a:r>
          </a:p>
        </p:txBody>
      </p:sp>
      <p:sp>
        <p:nvSpPr>
          <p:cNvPr id="17" name="Rectangle 16">
            <a:extLst xmlns:a="http://schemas.openxmlformats.org/drawingml/2006/main">
              <a:ext uri="{FF2B5EF4-FFF2-40B4-BE49-F238E27FC236}">
                <a16:creationId xmlns:a16="http://schemas.microsoft.com/office/drawing/2014/main" id="{09226D3A-E700-4E8B-B525-703736FE4C4D}"/>
              </a:ext>
            </a:extLst>
          </p:cNvPr>
          <p:cNvSpPr>
            <a:spLocks xmlns:a="http://schemas.openxmlformats.org/drawingml/2006/main" noGrp="1"/>
          </p:cNvSpPr>
          <p:nvPr/>
        </p:nvSpPr>
        <p:spPr>
          <a:xfrm xmlns:a="http://schemas.openxmlformats.org/drawingml/2006/main">
            <a:off x="7239000" y="4686300"/>
            <a:ext cx="3905250" cy="9525"/>
          </a:xfrm>
          <a:prstGeom xmlns:a="http://schemas.openxmlformats.org/drawingml/2006/main" prst="rect">
            <a:avLst/>
          </a:prstGeom>
          <a:solidFill xmlns:a="http://schemas.openxmlformats.org/drawingml/2006/main">
            <a:srgbClr val="315069"/>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8" name="Rectangle 17">
            <a:extLst xmlns:a="http://schemas.openxmlformats.org/drawingml/2006/main">
              <a:ext uri="{FF2B5EF4-FFF2-40B4-BE49-F238E27FC236}">
                <a16:creationId xmlns:a16="http://schemas.microsoft.com/office/drawing/2014/main" id="{48EC058C-9C90-4AC4-9E38-CAB91018A260}"/>
              </a:ext>
            </a:extLst>
          </p:cNvPr>
          <p:cNvSpPr>
            <a:spLocks xmlns:a="http://schemas.openxmlformats.org/drawingml/2006/main" noGrp="1"/>
          </p:cNvSpPr>
          <p:nvPr/>
        </p:nvSpPr>
        <p:spPr>
          <a:xfrm xmlns:a="http://schemas.openxmlformats.org/drawingml/2006/main">
            <a:off x="7239000" y="4895850"/>
            <a:ext cx="49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57D7D2"/>
                </a:solidFill>
                <a:latin typeface="Aptos"/>
                <a:ea typeface="Aptos"/>
                <a:cs typeface="Aptos"/>
              </a:defRPr>
            </a:pPr>
            <a:r>
              <a:rPr sz="1125" b="1">
                <a:solidFill>
                  <a:srgbClr val="57D7D2"/>
                </a:solidFill>
                <a:latin typeface="Aptos"/>
                <a:ea typeface="Aptos"/>
                <a:cs typeface="Aptos"/>
              </a:rPr>
              <a:t>05</a:t>
            </a:r>
          </a:p>
        </p:txBody>
      </p:sp>
      <p:sp>
        <p:nvSpPr>
          <p:cNvPr id="19" name="Rectangle 18">
            <a:extLst xmlns:a="http://schemas.openxmlformats.org/drawingml/2006/main">
              <a:ext uri="{FF2B5EF4-FFF2-40B4-BE49-F238E27FC236}">
                <a16:creationId xmlns:a16="http://schemas.microsoft.com/office/drawing/2014/main" id="{5D2B48E1-22CD-44A0-8300-4A3FED5B6C88}"/>
              </a:ext>
            </a:extLst>
          </p:cNvPr>
          <p:cNvSpPr>
            <a:spLocks xmlns:a="http://schemas.openxmlformats.org/drawingml/2006/main" noGrp="1"/>
          </p:cNvSpPr>
          <p:nvPr/>
        </p:nvSpPr>
        <p:spPr>
          <a:xfrm xmlns:a="http://schemas.openxmlformats.org/drawingml/2006/main">
            <a:off x="7905750" y="486727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00" b="1">
                <a:solidFill>
                  <a:srgbClr val="F7F9F8"/>
                </a:solidFill>
                <a:latin typeface="Aptos"/>
                <a:ea typeface="Aptos"/>
                <a:cs typeface="Aptos"/>
              </a:defRPr>
            </a:pPr>
            <a:r>
              <a:rPr sz="1500" b="1">
                <a:solidFill>
                  <a:srgbClr val="F7F9F8"/>
                </a:solidFill>
                <a:latin typeface="Aptos"/>
                <a:ea typeface="Aptos"/>
                <a:cs typeface="Aptos"/>
              </a:rPr>
              <a:t>Inspect model and AI insight</a:t>
            </a:r>
          </a:p>
        </p:txBody>
      </p:sp>
      <p:sp>
        <p:nvSpPr>
          <p:cNvPr id="20" name="Rectangle 19">
            <a:extLst xmlns:a="http://schemas.openxmlformats.org/drawingml/2006/main">
              <a:ext uri="{FF2B5EF4-FFF2-40B4-BE49-F238E27FC236}">
                <a16:creationId xmlns:a16="http://schemas.microsoft.com/office/drawing/2014/main" id="{C7D671EE-68C2-461C-B5F9-3DFCD574A9F3}"/>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BFD5E2"/>
                </a:solidFill>
                <a:latin typeface="Aptos"/>
                <a:ea typeface="Aptos"/>
                <a:cs typeface="Aptos"/>
              </a:defRPr>
            </a:pPr>
            <a:r>
              <a:rPr sz="825" b="1">
                <a:solidFill>
                  <a:srgbClr val="BFD5E2"/>
                </a:solidFill>
                <a:latin typeface="Aptos"/>
                <a:ea typeface="Aptos"/>
                <a:cs typeface="Aptos"/>
              </a:rPr>
              <a:t>WELLPATH  •  CONCEPT PROTOTYPE</a:t>
            </a:r>
          </a:p>
        </p:txBody>
      </p:sp>
      <p:sp>
        <p:nvSpPr>
          <p:cNvPr id="21" name="Rectangle 20">
            <a:extLst xmlns:a="http://schemas.openxmlformats.org/drawingml/2006/main">
              <a:ext uri="{FF2B5EF4-FFF2-40B4-BE49-F238E27FC236}">
                <a16:creationId xmlns:a16="http://schemas.microsoft.com/office/drawing/2014/main" id="{FD640E3E-7324-4A80-9D6F-EBD687A16227}"/>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17</a:t>
            </a:r>
          </a:p>
        </p:txBody>
      </p:sp>
    </p:spTree>
    <p:extLst>
      <p:ext uri="{BB962C8B-B14F-4D97-AF65-F5344CB8AC3E}">
        <p14:creationId xmlns:p14="http://schemas.microsoft.com/office/powerpoint/2010/main" val="1346097761"/>
      </p:ext>
    </p:extLst>
  </p:cSld>
</p:sld>
</file>

<file path=ppt/slides/slide18.xml><?xml version="1.0" encoding="utf-8"?>
<p:sld xmlns:p="http://schemas.openxmlformats.org/presentationml/2006/main">
  <p:cSld>
    <p:bg>
      <p:bgPr>
        <a:solidFill xmlns:a="http://schemas.openxmlformats.org/drawingml/2006/main">
          <a:srgbClr val="10283D"/>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4C3447DD-9D9C-47E2-AFAD-A4A2C3CA906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57D7D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Rectangle 1">
            <a:extLst xmlns:a="http://schemas.openxmlformats.org/drawingml/2006/main">
              <a:ext uri="{FF2B5EF4-FFF2-40B4-BE49-F238E27FC236}">
                <a16:creationId xmlns:a16="http://schemas.microsoft.com/office/drawing/2014/main" id="{D065F77E-BEBA-402D-B54A-9DD95114D60C}"/>
              </a:ext>
            </a:extLst>
          </p:cNvPr>
          <p:cNvSpPr>
            <a:spLocks xmlns:a="http://schemas.openxmlformats.org/drawingml/2006/main" noGrp="1"/>
          </p:cNvSpPr>
          <p:nvPr/>
        </p:nvSpPr>
        <p:spPr>
          <a:xfrm xmlns:a="http://schemas.openxmlformats.org/drawingml/2006/main">
            <a:off x="685800" y="552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125" b="1">
                <a:solidFill>
                  <a:srgbClr val="57D7D2"/>
                </a:solidFill>
                <a:latin typeface="Aptos"/>
                <a:ea typeface="Aptos"/>
                <a:cs typeface="Aptos"/>
              </a:defRPr>
            </a:pPr>
            <a:r>
              <a:rPr sz="1125" b="1">
                <a:solidFill>
                  <a:srgbClr val="57D7D2"/>
                </a:solidFill>
                <a:latin typeface="Aptos"/>
                <a:ea typeface="Aptos"/>
                <a:cs typeface="Aptos"/>
              </a:rPr>
              <a:t>WELLPATH</a:t>
            </a:r>
          </a:p>
        </p:txBody>
      </p:sp>
      <p:sp>
        <p:nvSpPr>
          <p:cNvPr id="3" name="Rectangle 2">
            <a:extLst xmlns:a="http://schemas.openxmlformats.org/drawingml/2006/main">
              <a:ext uri="{FF2B5EF4-FFF2-40B4-BE49-F238E27FC236}">
                <a16:creationId xmlns:a16="http://schemas.microsoft.com/office/drawing/2014/main" id="{B281401B-41A7-4242-999C-948FE74B82AA}"/>
              </a:ext>
            </a:extLst>
          </p:cNvPr>
          <p:cNvSpPr>
            <a:spLocks xmlns:a="http://schemas.openxmlformats.org/drawingml/2006/main" noGrp="1"/>
          </p:cNvSpPr>
          <p:nvPr/>
        </p:nvSpPr>
        <p:spPr>
          <a:xfrm xmlns:a="http://schemas.openxmlformats.org/drawingml/2006/main">
            <a:off x="685800" y="1181100"/>
            <a:ext cx="9810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98000"/>
              </a:lnSpc>
              <a:buNone/>
              <a:defRPr sz="3750" b="1">
                <a:solidFill>
                  <a:srgbClr val="FFFFFF"/>
                </a:solidFill>
                <a:latin typeface="Aptos"/>
                <a:ea typeface="Aptos"/>
                <a:cs typeface="Aptos"/>
              </a:defRPr>
            </a:pPr>
            <a:r>
              <a:rPr sz="3750" b="1">
                <a:solidFill>
                  <a:srgbClr val="FFFFFF"/>
                </a:solidFill>
                <a:latin typeface="Aptos"/>
                <a:ea typeface="Aptos"/>
                <a:cs typeface="Aptos"/>
              </a:rPr>
              <a:t>A health app could help people explore, not just track.</a:t>
            </a:r>
          </a:p>
        </p:txBody>
      </p:sp>
      <p:sp>
        <p:nvSpPr>
          <p:cNvPr id="4" name="Rectangle 3">
            <a:extLst xmlns:a="http://schemas.openxmlformats.org/drawingml/2006/main">
              <a:ext uri="{FF2B5EF4-FFF2-40B4-BE49-F238E27FC236}">
                <a16:creationId xmlns:a16="http://schemas.microsoft.com/office/drawing/2014/main" id="{BA5237EE-73A8-44F7-A7E8-E80F475555D0}"/>
              </a:ext>
            </a:extLst>
          </p:cNvPr>
          <p:cNvSpPr>
            <a:spLocks xmlns:a="http://schemas.openxmlformats.org/drawingml/2006/main" noGrp="1"/>
          </p:cNvSpPr>
          <p:nvPr/>
        </p:nvSpPr>
        <p:spPr>
          <a:xfrm xmlns:a="http://schemas.openxmlformats.org/drawingml/2006/main">
            <a:off x="685800" y="2905125"/>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575" b="0">
                <a:solidFill>
                  <a:srgbClr val="C9DCE7"/>
                </a:solidFill>
                <a:latin typeface="Aptos"/>
                <a:ea typeface="Aptos"/>
                <a:cs typeface="Aptos"/>
              </a:defRPr>
            </a:pPr>
            <a:r>
              <a:rPr sz="1575" b="0">
                <a:solidFill>
                  <a:srgbClr val="C9DCE7"/>
                </a:solidFill>
                <a:latin typeface="Aptos"/>
                <a:ea typeface="Aptos"/>
                <a:cs typeface="Aptos"/>
              </a:rPr>
              <a:t>The prototype demonstrates three connected ideas</a:t>
            </a:r>
          </a:p>
        </p:txBody>
      </p:sp>
      <p:sp>
        <p:nvSpPr>
          <p:cNvPr id="5" name="Rectangle 4">
            <a:extLst xmlns:a="http://schemas.openxmlformats.org/drawingml/2006/main">
              <a:ext uri="{FF2B5EF4-FFF2-40B4-BE49-F238E27FC236}">
                <a16:creationId xmlns:a16="http://schemas.microsoft.com/office/drawing/2014/main" id="{0653C953-7E7E-4A5A-8C19-6A4F6E29BB15}"/>
              </a:ext>
            </a:extLst>
          </p:cNvPr>
          <p:cNvSpPr>
            <a:spLocks xmlns:a="http://schemas.openxmlformats.org/drawingml/2006/main" noGrp="1"/>
          </p:cNvSpPr>
          <p:nvPr/>
        </p:nvSpPr>
        <p:spPr>
          <a:xfrm xmlns:a="http://schemas.openxmlformats.org/drawingml/2006/main">
            <a:off x="685800" y="35433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57D7D2"/>
                </a:solidFill>
                <a:latin typeface="Aptos"/>
                <a:ea typeface="Aptos"/>
                <a:cs typeface="Aptos"/>
              </a:defRPr>
            </a:pPr>
            <a:r>
              <a:rPr sz="1050" b="1">
                <a:solidFill>
                  <a:srgbClr val="57D7D2"/>
                </a:solidFill>
                <a:latin typeface="Aptos"/>
                <a:ea typeface="Aptos"/>
                <a:cs typeface="Aptos"/>
              </a:rPr>
              <a:t>01</a:t>
            </a:r>
          </a:p>
        </p:txBody>
      </p:sp>
      <p:sp>
        <p:nvSpPr>
          <p:cNvPr id="6" name="Rectangle 5">
            <a:extLst xmlns:a="http://schemas.openxmlformats.org/drawingml/2006/main">
              <a:ext uri="{FF2B5EF4-FFF2-40B4-BE49-F238E27FC236}">
                <a16:creationId xmlns:a16="http://schemas.microsoft.com/office/drawing/2014/main" id="{5E37C966-DCDA-4AC7-8174-1296C137E641}"/>
              </a:ext>
            </a:extLst>
          </p:cNvPr>
          <p:cNvSpPr>
            <a:spLocks xmlns:a="http://schemas.openxmlformats.org/drawingml/2006/main" noGrp="1"/>
          </p:cNvSpPr>
          <p:nvPr/>
        </p:nvSpPr>
        <p:spPr>
          <a:xfrm xmlns:a="http://schemas.openxmlformats.org/drawingml/2006/main">
            <a:off x="1333500" y="351472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Public data can test an experimental model</a:t>
            </a:r>
          </a:p>
        </p:txBody>
      </p:sp>
      <p:sp>
        <p:nvSpPr>
          <p:cNvPr id="7" name="Rectangle 6">
            <a:extLst xmlns:a="http://schemas.openxmlformats.org/drawingml/2006/main">
              <a:ext uri="{FF2B5EF4-FFF2-40B4-BE49-F238E27FC236}">
                <a16:creationId xmlns:a16="http://schemas.microsoft.com/office/drawing/2014/main" id="{F6F94FF9-1C43-4A33-A8DC-3613386371BB}"/>
              </a:ext>
            </a:extLst>
          </p:cNvPr>
          <p:cNvSpPr>
            <a:spLocks xmlns:a="http://schemas.openxmlformats.org/drawingml/2006/main" noGrp="1"/>
          </p:cNvSpPr>
          <p:nvPr/>
        </p:nvSpPr>
        <p:spPr>
          <a:xfrm xmlns:a="http://schemas.openxmlformats.org/drawingml/2006/main">
            <a:off x="685800" y="41719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57D7D2"/>
                </a:solidFill>
                <a:latin typeface="Aptos"/>
                <a:ea typeface="Aptos"/>
                <a:cs typeface="Aptos"/>
              </a:defRPr>
            </a:pPr>
            <a:r>
              <a:rPr sz="1050" b="1">
                <a:solidFill>
                  <a:srgbClr val="57D7D2"/>
                </a:solidFill>
                <a:latin typeface="Aptos"/>
                <a:ea typeface="Aptos"/>
                <a:cs typeface="Aptos"/>
              </a:rPr>
              <a:t>02</a:t>
            </a:r>
          </a:p>
        </p:txBody>
      </p:sp>
      <p:sp>
        <p:nvSpPr>
          <p:cNvPr id="8" name="Rectangle 7">
            <a:extLst xmlns:a="http://schemas.openxmlformats.org/drawingml/2006/main">
              <a:ext uri="{FF2B5EF4-FFF2-40B4-BE49-F238E27FC236}">
                <a16:creationId xmlns:a16="http://schemas.microsoft.com/office/drawing/2014/main" id="{52EE3791-E200-4392-B4E8-A78C10D60532}"/>
              </a:ext>
            </a:extLst>
          </p:cNvPr>
          <p:cNvSpPr>
            <a:spLocks xmlns:a="http://schemas.openxmlformats.org/drawingml/2006/main" noGrp="1"/>
          </p:cNvSpPr>
          <p:nvPr/>
        </p:nvSpPr>
        <p:spPr>
          <a:xfrm xmlns:a="http://schemas.openxmlformats.org/drawingml/2006/main">
            <a:off x="1333500" y="414337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Sample profiles can safely demonstrate an interface</a:t>
            </a:r>
          </a:p>
        </p:txBody>
      </p:sp>
      <p:sp>
        <p:nvSpPr>
          <p:cNvPr id="9" name="Rectangle 8">
            <a:extLst xmlns:a="http://schemas.openxmlformats.org/drawingml/2006/main">
              <a:ext uri="{FF2B5EF4-FFF2-40B4-BE49-F238E27FC236}">
                <a16:creationId xmlns:a16="http://schemas.microsoft.com/office/drawing/2014/main" id="{FC2AC08B-4803-4BE8-93AB-FEF6E5371DD9}"/>
              </a:ext>
            </a:extLst>
          </p:cNvPr>
          <p:cNvSpPr>
            <a:spLocks xmlns:a="http://schemas.openxmlformats.org/drawingml/2006/main" noGrp="1"/>
          </p:cNvSpPr>
          <p:nvPr/>
        </p:nvSpPr>
        <p:spPr>
          <a:xfrm xmlns:a="http://schemas.openxmlformats.org/drawingml/2006/main">
            <a:off x="685800" y="48006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050" b="1">
                <a:solidFill>
                  <a:srgbClr val="57D7D2"/>
                </a:solidFill>
                <a:latin typeface="Aptos"/>
                <a:ea typeface="Aptos"/>
                <a:cs typeface="Aptos"/>
              </a:defRPr>
            </a:pPr>
            <a:r>
              <a:rPr sz="1050" b="1">
                <a:solidFill>
                  <a:srgbClr val="57D7D2"/>
                </a:solidFill>
                <a:latin typeface="Aptos"/>
                <a:ea typeface="Aptos"/>
                <a:cs typeface="Aptos"/>
              </a:rPr>
              <a:t>03</a:t>
            </a:r>
          </a:p>
        </p:txBody>
      </p:sp>
      <p:sp>
        <p:nvSpPr>
          <p:cNvPr id="10" name="Rectangle 9">
            <a:extLst xmlns:a="http://schemas.openxmlformats.org/drawingml/2006/main">
              <a:ext uri="{FF2B5EF4-FFF2-40B4-BE49-F238E27FC236}">
                <a16:creationId xmlns:a16="http://schemas.microsoft.com/office/drawing/2014/main" id="{8223C92E-3C1E-4156-A72C-F58F150E1FA8}"/>
              </a:ext>
            </a:extLst>
          </p:cNvPr>
          <p:cNvSpPr>
            <a:spLocks xmlns:a="http://schemas.openxmlformats.org/drawingml/2006/main" noGrp="1"/>
          </p:cNvSpPr>
          <p:nvPr/>
        </p:nvSpPr>
        <p:spPr>
          <a:xfrm xmlns:a="http://schemas.openxmlformats.org/drawingml/2006/main">
            <a:off x="1333500" y="477202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1800" b="1">
                <a:solidFill>
                  <a:srgbClr val="FFFFFF"/>
                </a:solidFill>
                <a:latin typeface="Aptos"/>
                <a:ea typeface="Aptos"/>
                <a:cs typeface="Aptos"/>
              </a:defRPr>
            </a:pPr>
            <a:r>
              <a:rPr sz="1800" b="1">
                <a:solidFill>
                  <a:srgbClr val="FFFFFF"/>
                </a:solidFill>
                <a:latin typeface="Aptos"/>
                <a:ea typeface="Aptos"/>
                <a:cs typeface="Aptos"/>
              </a:rPr>
              <a:t>AI can explore clearer explanations of calculated results</a:t>
            </a:r>
          </a:p>
        </p:txBody>
      </p:sp>
      <p:sp>
        <p:nvSpPr>
          <p:cNvPr id="11" name="Rectangle 10">
            <a:extLst xmlns:a="http://schemas.openxmlformats.org/drawingml/2006/main">
              <a:ext uri="{FF2B5EF4-FFF2-40B4-BE49-F238E27FC236}">
                <a16:creationId xmlns:a16="http://schemas.microsoft.com/office/drawing/2014/main" id="{D44657CD-5516-4A14-9376-873F50F8EA54}"/>
              </a:ext>
            </a:extLst>
          </p:cNvPr>
          <p:cNvSpPr>
            <a:spLocks xmlns:a="http://schemas.openxmlformats.org/drawingml/2006/main" noGrp="1"/>
          </p:cNvSpPr>
          <p:nvPr/>
        </p:nvSpPr>
        <p:spPr>
          <a:xfrm xmlns:a="http://schemas.openxmlformats.org/drawingml/2006/main">
            <a:off x="685800" y="58293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250" b="1">
                <a:solidFill>
                  <a:srgbClr val="57D7D2"/>
                </a:solidFill>
                <a:latin typeface="Aptos"/>
                <a:ea typeface="Aptos"/>
                <a:cs typeface="Aptos"/>
              </a:defRPr>
            </a:pPr>
          </a:p>
        </p:txBody>
      </p:sp>
      <p:sp>
        <p:nvSpPr>
          <p:cNvPr id="12" name="Rectangle 11">
            <a:extLst xmlns:a="http://schemas.openxmlformats.org/drawingml/2006/main">
              <a:ext uri="{FF2B5EF4-FFF2-40B4-BE49-F238E27FC236}">
                <a16:creationId xmlns:a16="http://schemas.microsoft.com/office/drawing/2014/main" id="{C88EBC11-70A1-4D0D-BE91-6C34D36D6207}"/>
              </a:ext>
            </a:extLst>
          </p:cNvPr>
          <p:cNvSpPr>
            <a:spLocks xmlns:a="http://schemas.openxmlformats.org/drawingml/2006/main" noGrp="1"/>
          </p:cNvSpPr>
          <p:nvPr/>
        </p:nvSpPr>
        <p:spPr>
          <a:xfrm xmlns:a="http://schemas.openxmlformats.org/drawingml/2006/main">
            <a:off x="685800" y="6524625"/>
            <a:ext cx="419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825" b="1">
                <a:solidFill>
                  <a:srgbClr val="BFD5E2"/>
                </a:solidFill>
                <a:latin typeface="Aptos"/>
                <a:ea typeface="Aptos"/>
                <a:cs typeface="Aptos"/>
              </a:defRPr>
            </a:pPr>
            <a:r>
              <a:rPr sz="825" b="1">
                <a:solidFill>
                  <a:srgbClr val="BFD5E2"/>
                </a:solidFill>
                <a:latin typeface="Aptos"/>
                <a:ea typeface="Aptos"/>
                <a:cs typeface="Aptos"/>
              </a:rPr>
              <a:t>WELLPATH  •  CONCEPT PROTOTYPE</a:t>
            </a:r>
          </a:p>
        </p:txBody>
      </p:sp>
      <p:sp>
        <p:nvSpPr>
          <p:cNvPr id="13" name="Rectangle 12">
            <a:extLst xmlns:a="http://schemas.openxmlformats.org/drawingml/2006/main">
              <a:ext uri="{FF2B5EF4-FFF2-40B4-BE49-F238E27FC236}">
                <a16:creationId xmlns:a16="http://schemas.microsoft.com/office/drawing/2014/main" id="{6B0163BF-3A6F-4729-9E10-A7D84628738C}"/>
              </a:ext>
            </a:extLst>
          </p:cNvPr>
          <p:cNvSpPr>
            <a:spLocks xmlns:a="http://schemas.openxmlformats.org/drawingml/2006/main" noGrp="1"/>
          </p:cNvSpPr>
          <p:nvPr/>
        </p:nvSpPr>
        <p:spPr>
          <a:xfrm xmlns:a="http://schemas.openxmlformats.org/drawingml/2006/main">
            <a:off x="11096625" y="64960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a:bodyPr>
          <a:lstStyle xmlns:a="http://schemas.openxmlformats.org/drawingml/2006/main"/>
          <a:p xmlns:a="http://schemas.openxmlformats.org/drawingml/2006/main">
            <a:pPr algn="r">
              <a:lnSpc>
                <a:spcPct val="100000"/>
              </a:lnSpc>
              <a:buNone/>
              <a:defRPr sz="900" b="1">
                <a:solidFill>
                  <a:srgbClr val="718693"/>
                </a:solidFill>
                <a:latin typeface="Aptos"/>
                <a:ea typeface="Aptos"/>
                <a:cs typeface="Aptos"/>
              </a:defRPr>
            </a:pPr>
            <a:r>
              <a:rPr sz="900" b="1">
                <a:solidFill>
                  <a:srgbClr val="718693"/>
                </a:solidFill>
                <a:latin typeface="Aptos"/>
                <a:ea typeface="Aptos"/>
                <a:cs typeface="Aptos"/>
              </a:rPr>
              <a:t>18</a:t>
            </a:r>
          </a:p>
        </p:txBody>
      </p:sp>
    </p:spTree>
    <p:extLst>
      <p:ext uri="{BB962C8B-B14F-4D97-AF65-F5344CB8AC3E}">
        <p14:creationId xmlns:p14="http://schemas.microsoft.com/office/powerpoint/2010/main" val="1173076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2026-08-04T17:44:05.8530000Z</dcterms:created>
  <dcterms:modified xsi:type="dcterms:W3CDTF">2026-08-04T17:44:05.8530000Z</dcterms:modified>
</coreProperties>
</file>